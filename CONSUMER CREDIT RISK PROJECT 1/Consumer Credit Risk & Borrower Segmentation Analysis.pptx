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handoutMasterIdLst>
    <p:handoutMasterId r:id="rId18"/>
  </p:handoutMasterIdLst>
  <p:sldIdLst>
    <p:sldId id="289" r:id="rId5"/>
    <p:sldId id="286" r:id="rId6"/>
    <p:sldId id="280" r:id="rId7"/>
    <p:sldId id="300" r:id="rId8"/>
    <p:sldId id="291" r:id="rId9"/>
    <p:sldId id="273" r:id="rId10"/>
    <p:sldId id="296" r:id="rId11"/>
    <p:sldId id="264" r:id="rId12"/>
    <p:sldId id="301" r:id="rId13"/>
    <p:sldId id="293" r:id="rId14"/>
    <p:sldId id="281"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A2"/>
    <a:srgbClr val="404040"/>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70"/>
  </p:normalViewPr>
  <p:slideViewPr>
    <p:cSldViewPr snapToGrid="0">
      <p:cViewPr varScale="1">
        <p:scale>
          <a:sx n="79" d="100"/>
          <a:sy n="79" d="100"/>
        </p:scale>
        <p:origin x="420" y="78"/>
      </p:cViewPr>
      <p:guideLst>
        <p:guide pos="3840"/>
        <p:guide orient="horz" pos="2160"/>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120AE1-5DBC-4417-A73B-5F29B67C532C}" type="datetimeFigureOut">
              <a:rPr lang="en-US" smtClean="0"/>
              <a:t>1/7/2026</a:t>
            </a:fld>
            <a:endParaRPr lang="en-US" dirty="0"/>
          </a:p>
        </p:txBody>
      </p:sp>
      <p:sp>
        <p:nvSpPr>
          <p:cNvPr id="4" name="Footer Placeholder 3">
            <a:extLst>
              <a:ext uri="{FF2B5EF4-FFF2-40B4-BE49-F238E27FC236}">
                <a16:creationId xmlns:a16="http://schemas.microsoft.com/office/drawing/2014/main"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822411-A9A9-4A09-A341-69C657AB42A1}" type="slidenum">
              <a:rPr lang="en-US" smtClean="0"/>
              <a:t>‹#›</a:t>
            </a:fld>
            <a:endParaRPr lang="en-U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6A9CD-5E57-4C86-B862-09CA519924BA}" type="datetimeFigureOut">
              <a:rPr lang="en-US" smtClean="0"/>
              <a:t>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004F4-F240-48F9-8AE1-486585C7F00D}" type="slidenum">
              <a:rPr lang="en-US" smtClean="0"/>
              <a:t>‹#›</a:t>
            </a:fld>
            <a:endParaRPr lang="en-U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a:t>
            </a:fld>
            <a:endParaRPr lang="en-U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2</a:t>
            </a:fld>
            <a:endParaRPr lang="en-US" dirty="0"/>
          </a:p>
        </p:txBody>
      </p:sp>
    </p:spTree>
    <p:extLst>
      <p:ext uri="{BB962C8B-B14F-4D97-AF65-F5344CB8AC3E}">
        <p14:creationId xmlns:p14="http://schemas.microsoft.com/office/powerpoint/2010/main" val="5284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3</a:t>
            </a:fld>
            <a:endParaRPr lang="en-US" dirty="0"/>
          </a:p>
        </p:txBody>
      </p:sp>
    </p:spTree>
    <p:extLst>
      <p:ext uri="{BB962C8B-B14F-4D97-AF65-F5344CB8AC3E}">
        <p14:creationId xmlns:p14="http://schemas.microsoft.com/office/powerpoint/2010/main" val="3762868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F3E32-8DE8-5D33-9B57-1D173F3C4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B5017-CB0F-01AA-545D-660854E31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FF8FE-14B9-B489-F33C-0D124F0EEE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068D6-D264-A5FA-953E-1F8C8B158BB9}"/>
              </a:ext>
            </a:extLst>
          </p:cNvPr>
          <p:cNvSpPr>
            <a:spLocks noGrp="1"/>
          </p:cNvSpPr>
          <p:nvPr>
            <p:ph type="sldNum" sz="quarter" idx="5"/>
          </p:nvPr>
        </p:nvSpPr>
        <p:spPr/>
        <p:txBody>
          <a:bodyPr/>
          <a:lstStyle/>
          <a:p>
            <a:fld id="{9CA004F4-F240-48F9-8AE1-486585C7F00D}" type="slidenum">
              <a:rPr lang="en-US" smtClean="0"/>
              <a:t>4</a:t>
            </a:fld>
            <a:endParaRPr lang="en-US" dirty="0"/>
          </a:p>
        </p:txBody>
      </p:sp>
    </p:spTree>
    <p:extLst>
      <p:ext uri="{BB962C8B-B14F-4D97-AF65-F5344CB8AC3E}">
        <p14:creationId xmlns:p14="http://schemas.microsoft.com/office/powerpoint/2010/main" val="1695623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5</a:t>
            </a:fld>
            <a:endParaRPr lang="en-US" dirty="0"/>
          </a:p>
        </p:txBody>
      </p:sp>
    </p:spTree>
    <p:extLst>
      <p:ext uri="{BB962C8B-B14F-4D97-AF65-F5344CB8AC3E}">
        <p14:creationId xmlns:p14="http://schemas.microsoft.com/office/powerpoint/2010/main" val="1889561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6</a:t>
            </a:fld>
            <a:endParaRPr lang="en-US" dirty="0"/>
          </a:p>
        </p:txBody>
      </p:sp>
    </p:spTree>
    <p:extLst>
      <p:ext uri="{BB962C8B-B14F-4D97-AF65-F5344CB8AC3E}">
        <p14:creationId xmlns:p14="http://schemas.microsoft.com/office/powerpoint/2010/main" val="2744192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F0EC-D082-9AFC-104E-476663FBE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E15D2-7CA5-A00E-4FAA-7132F9D3B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E5524-BED6-48E5-A858-22C7499F41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5AF4D9-ADB2-3A57-113B-8FB1EE229494}"/>
              </a:ext>
            </a:extLst>
          </p:cNvPr>
          <p:cNvSpPr>
            <a:spLocks noGrp="1"/>
          </p:cNvSpPr>
          <p:nvPr>
            <p:ph type="sldNum" sz="quarter" idx="5"/>
          </p:nvPr>
        </p:nvSpPr>
        <p:spPr/>
        <p:txBody>
          <a:bodyPr/>
          <a:lstStyle/>
          <a:p>
            <a:fld id="{9CA004F4-F240-48F9-8AE1-486585C7F00D}" type="slidenum">
              <a:rPr lang="en-US" smtClean="0"/>
              <a:t>7</a:t>
            </a:fld>
            <a:endParaRPr lang="en-US" dirty="0"/>
          </a:p>
        </p:txBody>
      </p:sp>
    </p:spTree>
    <p:extLst>
      <p:ext uri="{BB962C8B-B14F-4D97-AF65-F5344CB8AC3E}">
        <p14:creationId xmlns:p14="http://schemas.microsoft.com/office/powerpoint/2010/main" val="698927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8</a:t>
            </a:fld>
            <a:endParaRPr lang="en-US" dirty="0"/>
          </a:p>
        </p:txBody>
      </p:sp>
    </p:spTree>
    <p:extLst>
      <p:ext uri="{BB962C8B-B14F-4D97-AF65-F5344CB8AC3E}">
        <p14:creationId xmlns:p14="http://schemas.microsoft.com/office/powerpoint/2010/main" val="452645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10</a:t>
            </a:fld>
            <a:endParaRPr lang="en-US" dirty="0"/>
          </a:p>
        </p:txBody>
      </p:sp>
    </p:spTree>
    <p:extLst>
      <p:ext uri="{BB962C8B-B14F-4D97-AF65-F5344CB8AC3E}">
        <p14:creationId xmlns:p14="http://schemas.microsoft.com/office/powerpoint/2010/main" val="257481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11</a:t>
            </a:fld>
            <a:endParaRPr lang="en-US" dirty="0"/>
          </a:p>
        </p:txBody>
      </p:sp>
    </p:spTree>
    <p:extLst>
      <p:ext uri="{BB962C8B-B14F-4D97-AF65-F5344CB8AC3E}">
        <p14:creationId xmlns:p14="http://schemas.microsoft.com/office/powerpoint/2010/main" val="2261939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12</a:t>
            </a:fld>
            <a:endParaRPr lang="en-US" dirty="0"/>
          </a:p>
        </p:txBody>
      </p:sp>
    </p:spTree>
    <p:extLst>
      <p:ext uri="{BB962C8B-B14F-4D97-AF65-F5344CB8AC3E}">
        <p14:creationId xmlns:p14="http://schemas.microsoft.com/office/powerpoint/2010/main" val="2089699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anchor="b"/>
          <a:lstStyle>
            <a:lvl1pPr algn="ctr">
              <a:lnSpc>
                <a:spcPct val="125000"/>
              </a:lnSpc>
              <a:defRPr sz="600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8B91F7B-C4AF-4FC6-A6BE-657DEF6D5358}"/>
              </a:ext>
            </a:extLst>
          </p:cNvPr>
          <p:cNvSpPr>
            <a:spLocks noGrp="1"/>
          </p:cNvSpPr>
          <p:nvPr>
            <p:ph type="dt" sz="half" idx="10"/>
          </p:nvPr>
        </p:nvSpPr>
        <p:spPr/>
        <p:txBody>
          <a:bodyPr/>
          <a:lstStyle/>
          <a:p>
            <a:fld id="{8DA08ED5-AEFE-4443-9040-726EF6690995}" type="datetime1">
              <a:rPr lang="en-US" smtClean="0"/>
              <a:t>1/4/2026</a:t>
            </a:fld>
            <a:endParaRPr lang="en-US" dirty="0"/>
          </a:p>
        </p:txBody>
      </p:sp>
      <p:sp>
        <p:nvSpPr>
          <p:cNvPr id="5" name="Footer Placeholder 4">
            <a:extLst>
              <a:ext uri="{FF2B5EF4-FFF2-40B4-BE49-F238E27FC236}">
                <a16:creationId xmlns:a16="http://schemas.microsoft.com/office/drawing/2014/main" id="{5BED32F8-B0C7-4332-B0A5-BC19DD8C4C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0030946-D0C7-4F78-94B0-427DAA6D5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11141-A77D-4E0E-8CAF-4CD3B279937B}"/>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017EFDE0-5A54-402A-B0C3-6BC0BB739C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2825AD-4585-4E37-A076-3D0070C9300C}"/>
              </a:ext>
            </a:extLst>
          </p:cNvPr>
          <p:cNvSpPr>
            <a:spLocks noGrp="1"/>
          </p:cNvSpPr>
          <p:nvPr>
            <p:ph type="dt" sz="half" idx="10"/>
          </p:nvPr>
        </p:nvSpPr>
        <p:spPr/>
        <p:txBody>
          <a:bodyPr/>
          <a:lstStyle/>
          <a:p>
            <a:fld id="{0312561F-7E45-400C-8758-912CDFE9410A}" type="datetime1">
              <a:rPr lang="en-US" smtClean="0"/>
              <a:t>1/4/2026</a:t>
            </a:fld>
            <a:endParaRPr lang="en-US" dirty="0"/>
          </a:p>
        </p:txBody>
      </p:sp>
      <p:sp>
        <p:nvSpPr>
          <p:cNvPr id="5" name="Footer Placeholder 4">
            <a:extLst>
              <a:ext uri="{FF2B5EF4-FFF2-40B4-BE49-F238E27FC236}">
                <a16:creationId xmlns:a16="http://schemas.microsoft.com/office/drawing/2014/main" id="{512064AD-EDC3-4B13-8CD6-49EB60099ED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90FD1E-16F6-49B1-A938-8CE601ED7AFC}"/>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4D83DC-20E7-4B71-9794-36FC33B1BA03}"/>
              </a:ext>
            </a:extLst>
          </p:cNvPr>
          <p:cNvSpPr>
            <a:spLocks noGrp="1"/>
          </p:cNvSpPr>
          <p:nvPr>
            <p:ph type="dt" sz="half" idx="10"/>
          </p:nvPr>
        </p:nvSpPr>
        <p:spPr/>
        <p:txBody>
          <a:bodyPr/>
          <a:lstStyle/>
          <a:p>
            <a:fld id="{85E24BC7-4CDB-41D7-81AF-9CE8473FF4B8}" type="datetime1">
              <a:rPr lang="en-US" smtClean="0"/>
              <a:t>1/4/2026</a:t>
            </a:fld>
            <a:endParaRPr lang="en-US" dirty="0"/>
          </a:p>
        </p:txBody>
      </p:sp>
      <p:sp>
        <p:nvSpPr>
          <p:cNvPr id="5" name="Footer Placeholder 4">
            <a:extLst>
              <a:ext uri="{FF2B5EF4-FFF2-40B4-BE49-F238E27FC236}">
                <a16:creationId xmlns:a16="http://schemas.microsoft.com/office/drawing/2014/main" id="{44E7D103-1290-4592-B37C-19C9C9DBEA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5955B1B-4A5C-42C7-99A5-B8217736F178}"/>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smtClean="0"/>
              <a:t>1/4/2026</a:t>
            </a:fld>
            <a:endParaRPr lang="en-US"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smtClean="0"/>
              <a:t>1/4/2026</a:t>
            </a:fld>
            <a:endParaRPr lang="en-US"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89EF5-3FD9-4423-A9E8-B67B4E902E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0D7191-31B4-440E-A4E9-F412FA55824C}"/>
              </a:ext>
            </a:extLst>
          </p:cNvPr>
          <p:cNvSpPr>
            <a:spLocks noGrp="1"/>
          </p:cNvSpPr>
          <p:nvPr>
            <p:ph type="dt" sz="half" idx="10"/>
          </p:nvPr>
        </p:nvSpPr>
        <p:spPr/>
        <p:txBody>
          <a:bodyPr/>
          <a:lstStyle/>
          <a:p>
            <a:fld id="{4BE4379E-9B58-41EA-B928-5B1C8436A60E}" type="datetime1">
              <a:rPr lang="en-US" smtClean="0"/>
              <a:t>1/4/2026</a:t>
            </a:fld>
            <a:endParaRPr lang="en-US" dirty="0"/>
          </a:p>
        </p:txBody>
      </p:sp>
      <p:sp>
        <p:nvSpPr>
          <p:cNvPr id="4" name="Footer Placeholder 3">
            <a:extLst>
              <a:ext uri="{FF2B5EF4-FFF2-40B4-BE49-F238E27FC236}">
                <a16:creationId xmlns:a16="http://schemas.microsoft.com/office/drawing/2014/main" id="{8EC85CB6-0880-4BF0-8E98-291E70C71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E4A5E74-F26F-4C7A-BED1-6EE66C0B3A5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5C546-684A-45B9-8890-66DC55DF7D06}"/>
              </a:ext>
            </a:extLst>
          </p:cNvPr>
          <p:cNvSpPr>
            <a:spLocks noGrp="1"/>
          </p:cNvSpPr>
          <p:nvPr>
            <p:ph type="dt" sz="half" idx="10"/>
          </p:nvPr>
        </p:nvSpPr>
        <p:spPr/>
        <p:txBody>
          <a:bodyPr/>
          <a:lstStyle/>
          <a:p>
            <a:fld id="{40B0A371-51FE-4D99-BD87-6A650FCE519D}" type="datetime1">
              <a:rPr lang="en-US" smtClean="0"/>
              <a:t>1/4/2026</a:t>
            </a:fld>
            <a:endParaRPr lang="en-US" dirty="0"/>
          </a:p>
        </p:txBody>
      </p:sp>
      <p:sp>
        <p:nvSpPr>
          <p:cNvPr id="3" name="Footer Placeholder 2">
            <a:extLst>
              <a:ext uri="{FF2B5EF4-FFF2-40B4-BE49-F238E27FC236}">
                <a16:creationId xmlns:a16="http://schemas.microsoft.com/office/drawing/2014/main" id="{4543EBDF-D696-42F7-B962-56F5FEE120C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789D77E-1675-4F9D-9113-B274CB0E87FA}"/>
              </a:ext>
            </a:extLst>
          </p:cNvPr>
          <p:cNvSpPr>
            <a:spLocks noGrp="1"/>
          </p:cNvSpPr>
          <p:nvPr>
            <p:ph type="sldNum" sz="quarter" idx="12"/>
          </p:nvPr>
        </p:nvSpPr>
        <p:spPr/>
        <p:txBody>
          <a:bodyPr/>
          <a:lstStyle/>
          <a:p>
            <a:fld id="{82EE24B5-652C-4DB5-B7C3-B5BBEC1280B1}" type="slidenum">
              <a:rPr lang="en-US" noProof="0" smtClean="0"/>
              <a:t>‹#›</a:t>
            </a:fld>
            <a:endParaRPr lang="en-US" noProof="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9DE91-7A80-4682-9D32-2CD41DEFB7B2}"/>
              </a:ext>
            </a:extLst>
          </p:cNvPr>
          <p:cNvSpPr>
            <a:spLocks noGrp="1"/>
          </p:cNvSpPr>
          <p:nvPr>
            <p:ph type="dt" sz="half" idx="10"/>
          </p:nvPr>
        </p:nvSpPr>
        <p:spPr/>
        <p:txBody>
          <a:bodyPr/>
          <a:lstStyle/>
          <a:p>
            <a:fld id="{5FCF8CFF-A1C0-4B6C-AA8D-BE72CB14468D}" type="datetime1">
              <a:rPr lang="en-US" smtClean="0"/>
              <a:t>1/4/2026</a:t>
            </a:fld>
            <a:endParaRPr lang="en-US" dirty="0"/>
          </a:p>
        </p:txBody>
      </p:sp>
      <p:sp>
        <p:nvSpPr>
          <p:cNvPr id="6" name="Footer Placeholder 5">
            <a:extLst>
              <a:ext uri="{FF2B5EF4-FFF2-40B4-BE49-F238E27FC236}">
                <a16:creationId xmlns:a16="http://schemas.microsoft.com/office/drawing/2014/main" id="{7B9E2482-2E7D-4868-95A7-4A55B40FEC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F4E84CF-C3E5-4475-84C7-21CBAC064B7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1/4/2026</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367443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Pictures with caption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0" y="0"/>
            <a:ext cx="12192000" cy="6857999"/>
          </a:xfrm>
        </p:spPr>
        <p:txBody>
          <a:bodyPr>
            <a:normAutofit/>
          </a:bodyPr>
          <a:lstStyle>
            <a:lvl1pPr marL="0" indent="0" algn="ctr">
              <a:buNone/>
              <a:defRPr sz="2000">
                <a:solidFill>
                  <a:schemeClr val="bg2">
                    <a:lumMod val="20000"/>
                    <a:lumOff val="8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11" name="Oval 10">
            <a:extLst>
              <a:ext uri="{FF2B5EF4-FFF2-40B4-BE49-F238E27FC236}">
                <a16:creationId xmlns:a16="http://schemas.microsoft.com/office/drawing/2014/main" id="{98AB8B54-69CD-4C57-8DBB-02A0E09851DD}"/>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17362"/>
            <a:ext cx="3932237" cy="1302111"/>
          </a:xfrm>
        </p:spPr>
        <p:txBody>
          <a:bodyPr anchor="t" anchorCtr="0"/>
          <a:lstStyle>
            <a:lvl1pPr>
              <a:defRPr sz="3200"/>
            </a:lvl1pPr>
          </a:lstStyle>
          <a:p>
            <a:r>
              <a:rPr lang="en-US" noProof="0"/>
              <a:t>Click to edit Master title style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1552419" y="1887801"/>
            <a:ext cx="4057961" cy="1431234"/>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1/4/2026</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12" name="Picture Placeholder 28">
            <a:extLst>
              <a:ext uri="{FF2B5EF4-FFF2-40B4-BE49-F238E27FC236}">
                <a16:creationId xmlns:a16="http://schemas.microsoft.com/office/drawing/2014/main" id="{2EB2F967-97B6-4CA8-B3E7-5FF7CA2BDD8C}"/>
              </a:ext>
            </a:extLst>
          </p:cNvPr>
          <p:cNvSpPr>
            <a:spLocks noGrp="1"/>
          </p:cNvSpPr>
          <p:nvPr>
            <p:ph type="pic" sz="quarter" idx="19"/>
          </p:nvPr>
        </p:nvSpPr>
        <p:spPr>
          <a:xfrm>
            <a:off x="844273" y="1883115"/>
            <a:ext cx="576000" cy="576000"/>
          </a:xfrm>
        </p:spPr>
        <p:txBody>
          <a:bodyPr>
            <a:normAutofit/>
          </a:bodyPr>
          <a:lstStyle>
            <a:lvl1pPr marL="0" indent="0" algn="ctr">
              <a:buNone/>
              <a:defRPr sz="400"/>
            </a:lvl1pPr>
          </a:lstStyle>
          <a:p>
            <a:r>
              <a:rPr lang="en-US"/>
              <a:t>Click icon to add picture</a:t>
            </a:r>
            <a:endParaRPr lang="en-US" dirty="0"/>
          </a:p>
        </p:txBody>
      </p:sp>
      <p:sp>
        <p:nvSpPr>
          <p:cNvPr id="13" name="Picture Placeholder 28">
            <a:extLst>
              <a:ext uri="{FF2B5EF4-FFF2-40B4-BE49-F238E27FC236}">
                <a16:creationId xmlns:a16="http://schemas.microsoft.com/office/drawing/2014/main" id="{5E78E133-FE09-456A-8463-9EFAC6ADE26B}"/>
              </a:ext>
            </a:extLst>
          </p:cNvPr>
          <p:cNvSpPr>
            <a:spLocks noGrp="1"/>
          </p:cNvSpPr>
          <p:nvPr>
            <p:ph type="pic" sz="quarter" idx="22"/>
          </p:nvPr>
        </p:nvSpPr>
        <p:spPr>
          <a:xfrm>
            <a:off x="844273" y="3573118"/>
            <a:ext cx="576000" cy="576000"/>
          </a:xfrm>
        </p:spPr>
        <p:txBody>
          <a:bodyPr>
            <a:normAutofit/>
          </a:bodyPr>
          <a:lstStyle>
            <a:lvl1pPr marL="0" indent="0" algn="ctr">
              <a:buNone/>
              <a:defRPr sz="400"/>
            </a:lvl1pPr>
          </a:lstStyle>
          <a:p>
            <a:r>
              <a:rPr lang="en-US"/>
              <a:t>Click icon to add picture</a:t>
            </a:r>
            <a:endParaRPr lang="en-US" dirty="0"/>
          </a:p>
        </p:txBody>
      </p:sp>
      <p:sp>
        <p:nvSpPr>
          <p:cNvPr id="14" name="Text Placeholder 3">
            <a:extLst>
              <a:ext uri="{FF2B5EF4-FFF2-40B4-BE49-F238E27FC236}">
                <a16:creationId xmlns:a16="http://schemas.microsoft.com/office/drawing/2014/main" id="{7F0C3496-EA4B-43E5-9704-968F80A8552C}"/>
              </a:ext>
            </a:extLst>
          </p:cNvPr>
          <p:cNvSpPr>
            <a:spLocks noGrp="1"/>
          </p:cNvSpPr>
          <p:nvPr>
            <p:ph type="body" sz="half" idx="23"/>
          </p:nvPr>
        </p:nvSpPr>
        <p:spPr>
          <a:xfrm>
            <a:off x="1552418" y="3575461"/>
            <a:ext cx="4057961" cy="1431234"/>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Picture Placeholder 28">
            <a:extLst>
              <a:ext uri="{FF2B5EF4-FFF2-40B4-BE49-F238E27FC236}">
                <a16:creationId xmlns:a16="http://schemas.microsoft.com/office/drawing/2014/main" id="{13414E14-9FEB-40F8-AE6E-319637A8F1CB}"/>
              </a:ext>
            </a:extLst>
          </p:cNvPr>
          <p:cNvSpPr>
            <a:spLocks noGrp="1"/>
          </p:cNvSpPr>
          <p:nvPr>
            <p:ph type="pic" sz="quarter" idx="24"/>
          </p:nvPr>
        </p:nvSpPr>
        <p:spPr>
          <a:xfrm>
            <a:off x="844273" y="5263121"/>
            <a:ext cx="576000" cy="576000"/>
          </a:xfrm>
        </p:spPr>
        <p:txBody>
          <a:bodyPr>
            <a:normAutofit/>
          </a:bodyPr>
          <a:lstStyle>
            <a:lvl1pPr marL="0" indent="0" algn="ctr">
              <a:buNone/>
              <a:defRPr sz="400"/>
            </a:lvl1pPr>
          </a:lstStyle>
          <a:p>
            <a:r>
              <a:rPr lang="en-US"/>
              <a:t>Click icon to add picture</a:t>
            </a:r>
            <a:endParaRPr lang="en-US" dirty="0"/>
          </a:p>
        </p:txBody>
      </p:sp>
      <p:sp>
        <p:nvSpPr>
          <p:cNvPr id="16" name="Text Placeholder 3">
            <a:extLst>
              <a:ext uri="{FF2B5EF4-FFF2-40B4-BE49-F238E27FC236}">
                <a16:creationId xmlns:a16="http://schemas.microsoft.com/office/drawing/2014/main" id="{8EC97C88-8B4C-4665-845B-95CE8F237779}"/>
              </a:ext>
            </a:extLst>
          </p:cNvPr>
          <p:cNvSpPr>
            <a:spLocks noGrp="1"/>
          </p:cNvSpPr>
          <p:nvPr>
            <p:ph type="body" sz="half" idx="25"/>
          </p:nvPr>
        </p:nvSpPr>
        <p:spPr>
          <a:xfrm>
            <a:off x="1552418" y="5263122"/>
            <a:ext cx="4057961" cy="775728"/>
          </a:xfrm>
        </p:spPr>
        <p:txBody>
          <a:bodyPr>
            <a:normAutofit/>
          </a:bodyPr>
          <a:lstStyle>
            <a:lvl1pPr marL="0" indent="0">
              <a:buNone/>
              <a:defRPr sz="2000">
                <a:solidFill>
                  <a:schemeClr val="bg2">
                    <a:lumMod val="20000"/>
                    <a:lumOff val="8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48061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mparison with picture">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B74348DE-EC54-4C62-948C-0B2BF9045578}"/>
              </a:ext>
            </a:extLst>
          </p:cNvPr>
          <p:cNvSpPr>
            <a:spLocks noGrp="1"/>
          </p:cNvSpPr>
          <p:nvPr>
            <p:ph type="pic" sz="quarter" idx="13"/>
          </p:nvPr>
        </p:nvSpPr>
        <p:spPr>
          <a:xfrm>
            <a:off x="0" y="3115389"/>
            <a:ext cx="12188825" cy="3742611"/>
          </a:xfrm>
        </p:spPr>
        <p:txBody>
          <a:bodyPr/>
          <a:lstStyle>
            <a:lvl1pPr marL="0" indent="0" algn="ctr">
              <a:buNone/>
              <a:defRPr/>
            </a:lvl1pPr>
          </a:lstStyle>
          <a:p>
            <a:r>
              <a:rPr lang="en-US"/>
              <a:t>Click icon to add picture</a:t>
            </a:r>
            <a:endParaRPr lang="en-US" dirty="0"/>
          </a:p>
        </p:txBody>
      </p:sp>
      <p:sp>
        <p:nvSpPr>
          <p:cNvPr id="10" name="object 3">
            <a:extLst>
              <a:ext uri="{FF2B5EF4-FFF2-40B4-BE49-F238E27FC236}">
                <a16:creationId xmlns:a16="http://schemas.microsoft.com/office/drawing/2014/main" id="{2A53E879-94A1-4659-9069-ED0D6F03014D}"/>
              </a:ext>
            </a:extLst>
          </p:cNvPr>
          <p:cNvSpPr/>
          <p:nvPr userDrawn="1"/>
        </p:nvSpPr>
        <p:spPr>
          <a:xfrm>
            <a:off x="2400" y="1999821"/>
            <a:ext cx="12189600" cy="111556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9859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3434047"/>
            <a:ext cx="5157787" cy="27556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985963"/>
            <a:ext cx="5183188"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3434047"/>
            <a:ext cx="5183188" cy="275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smtClean="0"/>
              <a:t>1/4/2026</a:t>
            </a:fld>
            <a:endParaRPr lang="en-US"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030576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with Three Sections">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29F16048-FF4E-41B1-B3D4-0FB210A70DF2}"/>
              </a:ext>
            </a:extLst>
          </p:cNvPr>
          <p:cNvSpPr/>
          <p:nvPr userDrawn="1"/>
        </p:nvSpPr>
        <p:spPr>
          <a:xfrm>
            <a:off x="5294630" y="0"/>
            <a:ext cx="6897370" cy="6858000"/>
          </a:xfrm>
          <a:custGeom>
            <a:avLst/>
            <a:gdLst/>
            <a:ahLst/>
            <a:cxnLst/>
            <a:rect l="l" t="t" r="r" b="b"/>
            <a:pathLst>
              <a:path w="6897370" h="6858000">
                <a:moveTo>
                  <a:pt x="0" y="6858000"/>
                </a:moveTo>
                <a:lnTo>
                  <a:pt x="6896900" y="6858000"/>
                </a:lnTo>
                <a:lnTo>
                  <a:pt x="6896900"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11" name="Oval 10">
            <a:extLst>
              <a:ext uri="{FF2B5EF4-FFF2-40B4-BE49-F238E27FC236}">
                <a16:creationId xmlns:a16="http://schemas.microsoft.com/office/drawing/2014/main" id="{98AB8B54-69CD-4C57-8DBB-02A0E09851DD}"/>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17362"/>
            <a:ext cx="3932237" cy="1302111"/>
          </a:xfrm>
        </p:spPr>
        <p:txBody>
          <a:bodyPr anchor="b"/>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7294251" y="119269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1/4/2026</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9" name="object 2">
            <a:extLst>
              <a:ext uri="{FF2B5EF4-FFF2-40B4-BE49-F238E27FC236}">
                <a16:creationId xmlns:a16="http://schemas.microsoft.com/office/drawing/2014/main" id="{9337951D-6DB6-4713-9200-E8513CDEB6B3}"/>
              </a:ext>
            </a:extLst>
          </p:cNvPr>
          <p:cNvSpPr/>
          <p:nvPr userDrawn="1"/>
        </p:nvSpPr>
        <p:spPr>
          <a:xfrm>
            <a:off x="0" y="2430411"/>
            <a:ext cx="3625850" cy="3438525"/>
          </a:xfrm>
          <a:custGeom>
            <a:avLst/>
            <a:gdLst/>
            <a:ahLst/>
            <a:cxnLst/>
            <a:rect l="l" t="t" r="r" b="b"/>
            <a:pathLst>
              <a:path w="3625850" h="3438525">
                <a:moveTo>
                  <a:pt x="0" y="3438486"/>
                </a:moveTo>
                <a:lnTo>
                  <a:pt x="3625596" y="3438486"/>
                </a:lnTo>
                <a:lnTo>
                  <a:pt x="3625596" y="0"/>
                </a:lnTo>
                <a:lnTo>
                  <a:pt x="0" y="0"/>
                </a:lnTo>
                <a:lnTo>
                  <a:pt x="0" y="3438486"/>
                </a:lnTo>
                <a:close/>
              </a:path>
            </a:pathLst>
          </a:custGeom>
          <a:solidFill>
            <a:schemeClr val="accent1"/>
          </a:solidFill>
        </p:spPr>
        <p:txBody>
          <a:bodyPr wrap="square" lIns="0" tIns="0" rIns="0" bIns="0" rtlCol="0"/>
          <a:lstStyle/>
          <a:p>
            <a:endParaRPr lang="en-US" noProof="0" dirty="0"/>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0" y="2781223"/>
            <a:ext cx="6040800" cy="2736901"/>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Picture Placeholder 28">
            <a:extLst>
              <a:ext uri="{FF2B5EF4-FFF2-40B4-BE49-F238E27FC236}">
                <a16:creationId xmlns:a16="http://schemas.microsoft.com/office/drawing/2014/main" id="{2EB2F967-97B6-4CA8-B3E7-5FF7CA2BDD8C}"/>
              </a:ext>
            </a:extLst>
          </p:cNvPr>
          <p:cNvSpPr>
            <a:spLocks noGrp="1"/>
          </p:cNvSpPr>
          <p:nvPr>
            <p:ph type="pic" sz="quarter" idx="19"/>
          </p:nvPr>
        </p:nvSpPr>
        <p:spPr>
          <a:xfrm>
            <a:off x="6586106" y="1188012"/>
            <a:ext cx="376237" cy="376237"/>
          </a:xfrm>
        </p:spPr>
        <p:txBody>
          <a:bodyPr>
            <a:normAutofit/>
          </a:bodyPr>
          <a:lstStyle>
            <a:lvl1pPr marL="0" indent="0" algn="ctr">
              <a:buNone/>
              <a:defRPr sz="400"/>
            </a:lvl1pPr>
          </a:lstStyle>
          <a:p>
            <a:r>
              <a:rPr lang="en-US"/>
              <a:t>Click icon to add picture</a:t>
            </a:r>
            <a:endParaRPr lang="en-US" dirty="0"/>
          </a:p>
        </p:txBody>
      </p:sp>
      <p:sp>
        <p:nvSpPr>
          <p:cNvPr id="13" name="Picture Placeholder 28">
            <a:extLst>
              <a:ext uri="{FF2B5EF4-FFF2-40B4-BE49-F238E27FC236}">
                <a16:creationId xmlns:a16="http://schemas.microsoft.com/office/drawing/2014/main" id="{5E78E133-FE09-456A-8463-9EFAC6ADE26B}"/>
              </a:ext>
            </a:extLst>
          </p:cNvPr>
          <p:cNvSpPr>
            <a:spLocks noGrp="1"/>
          </p:cNvSpPr>
          <p:nvPr>
            <p:ph type="pic" sz="quarter" idx="22"/>
          </p:nvPr>
        </p:nvSpPr>
        <p:spPr>
          <a:xfrm>
            <a:off x="6586106" y="2878015"/>
            <a:ext cx="376237" cy="376237"/>
          </a:xfrm>
        </p:spPr>
        <p:txBody>
          <a:bodyPr>
            <a:normAutofit/>
          </a:bodyPr>
          <a:lstStyle>
            <a:lvl1pPr marL="0" indent="0" algn="ctr">
              <a:buNone/>
              <a:defRPr sz="400"/>
            </a:lvl1pPr>
          </a:lstStyle>
          <a:p>
            <a:r>
              <a:rPr lang="en-US"/>
              <a:t>Click icon to add picture</a:t>
            </a:r>
            <a:endParaRPr lang="en-US" dirty="0"/>
          </a:p>
        </p:txBody>
      </p:sp>
      <p:sp>
        <p:nvSpPr>
          <p:cNvPr id="14" name="Text Placeholder 3">
            <a:extLst>
              <a:ext uri="{FF2B5EF4-FFF2-40B4-BE49-F238E27FC236}">
                <a16:creationId xmlns:a16="http://schemas.microsoft.com/office/drawing/2014/main" id="{7F0C3496-EA4B-43E5-9704-968F80A8552C}"/>
              </a:ext>
            </a:extLst>
          </p:cNvPr>
          <p:cNvSpPr>
            <a:spLocks noGrp="1"/>
          </p:cNvSpPr>
          <p:nvPr>
            <p:ph type="body" sz="half" idx="23"/>
          </p:nvPr>
        </p:nvSpPr>
        <p:spPr>
          <a:xfrm>
            <a:off x="7294250" y="288035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Picture Placeholder 28">
            <a:extLst>
              <a:ext uri="{FF2B5EF4-FFF2-40B4-BE49-F238E27FC236}">
                <a16:creationId xmlns:a16="http://schemas.microsoft.com/office/drawing/2014/main" id="{13414E14-9FEB-40F8-AE6E-319637A8F1CB}"/>
              </a:ext>
            </a:extLst>
          </p:cNvPr>
          <p:cNvSpPr>
            <a:spLocks noGrp="1"/>
          </p:cNvSpPr>
          <p:nvPr>
            <p:ph type="pic" sz="quarter" idx="24"/>
          </p:nvPr>
        </p:nvSpPr>
        <p:spPr>
          <a:xfrm>
            <a:off x="6586106" y="4568018"/>
            <a:ext cx="376237" cy="376237"/>
          </a:xfrm>
        </p:spPr>
        <p:txBody>
          <a:bodyPr>
            <a:normAutofit/>
          </a:bodyPr>
          <a:lstStyle>
            <a:lvl1pPr marL="0" indent="0" algn="ctr">
              <a:buNone/>
              <a:defRPr sz="400"/>
            </a:lvl1pPr>
          </a:lstStyle>
          <a:p>
            <a:r>
              <a:rPr lang="en-US"/>
              <a:t>Click icon to add picture</a:t>
            </a:r>
            <a:endParaRPr lang="en-US" dirty="0"/>
          </a:p>
        </p:txBody>
      </p:sp>
      <p:sp>
        <p:nvSpPr>
          <p:cNvPr id="16" name="Text Placeholder 3">
            <a:extLst>
              <a:ext uri="{FF2B5EF4-FFF2-40B4-BE49-F238E27FC236}">
                <a16:creationId xmlns:a16="http://schemas.microsoft.com/office/drawing/2014/main" id="{8EC97C88-8B4C-4665-845B-95CE8F237779}"/>
              </a:ext>
            </a:extLst>
          </p:cNvPr>
          <p:cNvSpPr>
            <a:spLocks noGrp="1"/>
          </p:cNvSpPr>
          <p:nvPr>
            <p:ph type="body" sz="half" idx="25"/>
          </p:nvPr>
        </p:nvSpPr>
        <p:spPr>
          <a:xfrm>
            <a:off x="7294250" y="4568018"/>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856490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2591E0-5367-4F2F-9C30-2087D79A846D}" type="datetime1">
              <a:rPr lang="en-US" noProof="0" smtClean="0"/>
              <a:t>1/4/2026</a:t>
            </a:fld>
            <a:endParaRPr lang="en-US" noProof="0" dirty="0"/>
          </a:p>
        </p:txBody>
      </p:sp>
      <p:sp>
        <p:nvSpPr>
          <p:cNvPr id="5" name="Footer Placeholder 4">
            <a:extLst>
              <a:ext uri="{FF2B5EF4-FFF2-40B4-BE49-F238E27FC236}">
                <a16:creationId xmlns:a16="http://schemas.microsoft.com/office/drawing/2014/main"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10" name="Oval 9">
            <a:extLst>
              <a:ext uri="{FF2B5EF4-FFF2-40B4-BE49-F238E27FC236}">
                <a16:creationId xmlns:a16="http://schemas.microsoft.com/office/drawing/2014/main"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D15DEFFD-817B-43EC-86F0-34DEA2BA5EEB}"/>
              </a:ext>
            </a:extLst>
          </p:cNvPr>
          <p:cNvSpPr>
            <a:spLocks noGrp="1"/>
          </p:cNvSpPr>
          <p:nvPr>
            <p:ph type="sldNum" sz="quarter" idx="4"/>
          </p:nvPr>
        </p:nvSpPr>
        <p:spPr>
          <a:xfrm>
            <a:off x="11468844"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 id="2147483662" r:id="rId12"/>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ww.kaggle.com/datasets/wordsforthewise/lending-club?resource=download&amp;select=rejected_2007_to_2018Q4.csv.gz" TargetMode="External"/><Relationship Id="rId4" Type="http://schemas.openxmlformats.org/officeDocument/2006/relationships/hyperlink" Target="https://www.kaggle.com/datasets/wordsforthewise/lending-club?resource=download&amp;select=accepted_2007_to_2018Q4.csv.gz"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descr="Blue rectangle">
            <a:extLst>
              <a:ext uri="{FF2B5EF4-FFF2-40B4-BE49-F238E27FC236}">
                <a16:creationId xmlns:a16="http://schemas.microsoft.com/office/drawing/2014/main" id="{482BBC39-5D4C-4E24-ADB1-5FFFBA7198DC}"/>
              </a:ext>
            </a:extLst>
          </p:cNvPr>
          <p:cNvSpPr/>
          <p:nvPr/>
        </p:nvSpPr>
        <p:spPr>
          <a:xfrm>
            <a:off x="0" y="0"/>
            <a:ext cx="12188952" cy="6858000"/>
          </a:xfrm>
          <a:prstGeom prst="rect">
            <a:avLst/>
          </a:prstGeom>
          <a:blipFill>
            <a:blip r:embed="rId3"/>
            <a:srcRect/>
            <a:stretch>
              <a:fillRect l="-12" r="-12"/>
            </a:stretch>
          </a:blipFill>
        </p:spPr>
        <p:txBody>
          <a:bodyPr wrap="square" lIns="0" tIns="0" rIns="0" bIns="0" rtlCol="0"/>
          <a:lstStyle/>
          <a:p>
            <a:endParaRPr lang="en-US" dirty="0"/>
          </a:p>
        </p:txBody>
      </p:sp>
      <p:sp>
        <p:nvSpPr>
          <p:cNvPr id="4" name="object 3" descr="People with documents">
            <a:extLst>
              <a:ext uri="{FF2B5EF4-FFF2-40B4-BE49-F238E27FC236}">
                <a16:creationId xmlns:a16="http://schemas.microsoft.com/office/drawing/2014/main" id="{0CA2E80D-F3EC-4A5F-8E65-56FEA206EE0F}"/>
              </a:ext>
            </a:extLst>
          </p:cNvPr>
          <p:cNvSpPr/>
          <p:nvPr/>
        </p:nvSpPr>
        <p:spPr>
          <a:xfrm>
            <a:off x="2540"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AFB6C91D-4B22-49F1-9A0B-ABEB9E1F5A26}"/>
              </a:ext>
            </a:extLst>
          </p:cNvPr>
          <p:cNvSpPr>
            <a:spLocks noGrp="1"/>
          </p:cNvSpPr>
          <p:nvPr>
            <p:ph type="ctrTitle"/>
          </p:nvPr>
        </p:nvSpPr>
        <p:spPr>
          <a:xfrm>
            <a:off x="1524000" y="2008518"/>
            <a:ext cx="9144000" cy="2128049"/>
          </a:xfrm>
        </p:spPr>
        <p:txBody>
          <a:bodyPr>
            <a:normAutofit fontScale="90000"/>
          </a:bodyPr>
          <a:lstStyle/>
          <a:p>
            <a:r>
              <a:rPr lang="en-US" sz="5400" dirty="0"/>
              <a:t>Consumer Credit Risk &amp; Borrower Segmentation Analysis</a:t>
            </a:r>
            <a:br>
              <a:rPr lang="en-US" sz="5000" dirty="0">
                <a:solidFill>
                  <a:schemeClr val="bg1"/>
                </a:solidFill>
                <a:latin typeface="Gill Sans MT" panose="020B0502020104020203" pitchFamily="34" charset="0"/>
              </a:rPr>
            </a:br>
            <a:endParaRPr lang="en-US" sz="2000" dirty="0">
              <a:solidFill>
                <a:schemeClr val="bg1"/>
              </a:solidFill>
              <a:latin typeface="Gill Sans MT" panose="020B0502020104020203" pitchFamily="34" charset="0"/>
            </a:endParaRPr>
          </a:p>
        </p:txBody>
      </p:sp>
      <p:sp>
        <p:nvSpPr>
          <p:cNvPr id="3" name="Subtitle 2">
            <a:extLst>
              <a:ext uri="{FF2B5EF4-FFF2-40B4-BE49-F238E27FC236}">
                <a16:creationId xmlns:a16="http://schemas.microsoft.com/office/drawing/2014/main" id="{2F8CF06A-B594-4BA2-8B1E-D649096D742F}"/>
              </a:ext>
            </a:extLst>
          </p:cNvPr>
          <p:cNvSpPr>
            <a:spLocks noGrp="1"/>
          </p:cNvSpPr>
          <p:nvPr>
            <p:ph type="subTitle" idx="1"/>
          </p:nvPr>
        </p:nvSpPr>
        <p:spPr>
          <a:xfrm>
            <a:off x="346916" y="5691578"/>
            <a:ext cx="2128060" cy="453507"/>
          </a:xfrm>
          <a:solidFill>
            <a:schemeClr val="accent2">
              <a:alpha val="90000"/>
            </a:schemeClr>
          </a:solidFill>
        </p:spPr>
        <p:txBody>
          <a:bodyPr anchor="ctr" anchorCtr="0">
            <a:normAutofit fontScale="62500" lnSpcReduction="20000"/>
          </a:bodyPr>
          <a:lstStyle/>
          <a:p>
            <a:r>
              <a:rPr lang="en-US" sz="1600" b="1" i="1" spc="65" dirty="0">
                <a:solidFill>
                  <a:schemeClr val="accent1"/>
                </a:solidFill>
                <a:latin typeface="Arial"/>
                <a:cs typeface="Arial"/>
              </a:rPr>
              <a:t>Presented By:</a:t>
            </a:r>
          </a:p>
          <a:p>
            <a:r>
              <a:rPr lang="en-US" sz="1600" dirty="0"/>
              <a:t>Bukola Aina</a:t>
            </a:r>
            <a:endParaRPr lang="en-US" sz="1600" b="1" i="1" spc="65" dirty="0">
              <a:solidFill>
                <a:schemeClr val="accent1"/>
              </a:solidFill>
              <a:latin typeface="Arial"/>
              <a:cs typeface="Arial"/>
            </a:endParaRPr>
          </a:p>
        </p:txBody>
      </p:sp>
      <p:sp>
        <p:nvSpPr>
          <p:cNvPr id="7" name="TextBox 6">
            <a:extLst>
              <a:ext uri="{FF2B5EF4-FFF2-40B4-BE49-F238E27FC236}">
                <a16:creationId xmlns:a16="http://schemas.microsoft.com/office/drawing/2014/main" id="{C9DD8997-0969-0A04-D29B-EE21D6133661}"/>
              </a:ext>
            </a:extLst>
          </p:cNvPr>
          <p:cNvSpPr txBox="1"/>
          <p:nvPr/>
        </p:nvSpPr>
        <p:spPr>
          <a:xfrm>
            <a:off x="10047044" y="5691578"/>
            <a:ext cx="1902542" cy="584775"/>
          </a:xfrm>
          <a:prstGeom prst="rect">
            <a:avLst/>
          </a:prstGeom>
          <a:noFill/>
        </p:spPr>
        <p:txBody>
          <a:bodyPr wrap="square" rtlCol="0">
            <a:spAutoFit/>
          </a:bodyPr>
          <a:lstStyle/>
          <a:p>
            <a:r>
              <a:rPr lang="en-CA" sz="1600" dirty="0">
                <a:solidFill>
                  <a:schemeClr val="bg1"/>
                </a:solidFill>
              </a:rPr>
              <a:t>Date:</a:t>
            </a:r>
          </a:p>
          <a:p>
            <a:r>
              <a:rPr lang="en-CA" sz="1600" dirty="0">
                <a:solidFill>
                  <a:schemeClr val="bg1"/>
                </a:solidFill>
              </a:rPr>
              <a:t>December 2025</a:t>
            </a:r>
          </a:p>
        </p:txBody>
      </p:sp>
    </p:spTree>
    <p:extLst>
      <p:ext uri="{BB962C8B-B14F-4D97-AF65-F5344CB8AC3E}">
        <p14:creationId xmlns:p14="http://schemas.microsoft.com/office/powerpoint/2010/main" val="109355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descr="Man talks by phone">
            <a:extLst>
              <a:ext uri="{FF2B5EF4-FFF2-40B4-BE49-F238E27FC236}">
                <a16:creationId xmlns:a16="http://schemas.microsoft.com/office/drawing/2014/main" id="{2894B736-0F24-454E-8A9D-717EB78697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2" y="4665"/>
            <a:ext cx="6991350" cy="6848669"/>
          </a:xfrm>
          <a:prstGeom prst="rect">
            <a:avLst/>
          </a:prstGeom>
        </p:spPr>
      </p:pic>
      <p:sp>
        <p:nvSpPr>
          <p:cNvPr id="5" name="object 3" descr="Beige rectangle">
            <a:extLst>
              <a:ext uri="{FF2B5EF4-FFF2-40B4-BE49-F238E27FC236}">
                <a16:creationId xmlns:a16="http://schemas.microsoft.com/office/drawing/2014/main" id="{DCF29767-6635-4A46-AB77-672CC90C6FBE}"/>
              </a:ext>
            </a:extLst>
          </p:cNvPr>
          <p:cNvSpPr/>
          <p:nvPr/>
        </p:nvSpPr>
        <p:spPr>
          <a:xfrm>
            <a:off x="8181340" y="1359001"/>
            <a:ext cx="4010660" cy="4194074"/>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a:extLst>
              <a:ext uri="{FF2B5EF4-FFF2-40B4-BE49-F238E27FC236}">
                <a16:creationId xmlns:a16="http://schemas.microsoft.com/office/drawing/2014/main" id="{9FABC344-E043-45BE-8588-06C658DBCE70}"/>
              </a:ext>
            </a:extLst>
          </p:cNvPr>
          <p:cNvSpPr/>
          <p:nvPr/>
        </p:nvSpPr>
        <p:spPr>
          <a:xfrm>
            <a:off x="5502275" y="1692008"/>
            <a:ext cx="6689725" cy="3528060"/>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345C5720-51D4-4632-91CD-936B8AB96750}"/>
              </a:ext>
            </a:extLst>
          </p:cNvPr>
          <p:cNvSpPr>
            <a:spLocks noGrp="1"/>
          </p:cNvSpPr>
          <p:nvPr>
            <p:ph type="title"/>
          </p:nvPr>
        </p:nvSpPr>
        <p:spPr>
          <a:xfrm>
            <a:off x="6207698" y="2331086"/>
            <a:ext cx="5165558" cy="833856"/>
          </a:xfrm>
        </p:spPr>
        <p:txBody>
          <a:bodyPr/>
          <a:lstStyle/>
          <a:p>
            <a:r>
              <a:rPr lang="en-US" dirty="0">
                <a:solidFill>
                  <a:schemeClr val="bg1"/>
                </a:solidFill>
              </a:rPr>
              <a:t>INTRODUCTION</a:t>
            </a:r>
            <a:endParaRPr lang="en-US" dirty="0">
              <a:latin typeface="Gill Sans MT" panose="020B0502020104020203" pitchFamily="34" charset="0"/>
            </a:endParaRPr>
          </a:p>
        </p:txBody>
      </p:sp>
      <p:sp>
        <p:nvSpPr>
          <p:cNvPr id="3" name="Slide Number Placeholder 2">
            <a:extLst>
              <a:ext uri="{FF2B5EF4-FFF2-40B4-BE49-F238E27FC236}">
                <a16:creationId xmlns:a16="http://schemas.microsoft.com/office/drawing/2014/main" id="{24D506CC-0185-443E-82C7-1600C21D6E91}"/>
              </a:ext>
            </a:extLst>
          </p:cNvPr>
          <p:cNvSpPr>
            <a:spLocks noGrp="1"/>
          </p:cNvSpPr>
          <p:nvPr>
            <p:ph type="sldNum" sz="quarter" idx="12"/>
          </p:nvPr>
        </p:nvSpPr>
        <p:spPr/>
        <p:txBody>
          <a:bodyPr/>
          <a:lstStyle/>
          <a:p>
            <a:fld id="{82EE24B5-652C-4DB5-B7C3-B5BBEC1280B1}" type="slidenum">
              <a:rPr lang="en-US" smtClean="0"/>
              <a:t>2</a:t>
            </a:fld>
            <a:endParaRPr lang="en-US" dirty="0"/>
          </a:p>
        </p:txBody>
      </p:sp>
      <p:sp>
        <p:nvSpPr>
          <p:cNvPr id="7" name="object 9" descr="Beige rectangle">
            <a:extLst>
              <a:ext uri="{FF2B5EF4-FFF2-40B4-BE49-F238E27FC236}">
                <a16:creationId xmlns:a16="http://schemas.microsoft.com/office/drawing/2014/main" id="{02C6628C-972C-4717-AAF3-D882B30F6658}"/>
              </a:ext>
            </a:extLst>
          </p:cNvPr>
          <p:cNvSpPr/>
          <p:nvPr/>
        </p:nvSpPr>
        <p:spPr>
          <a:xfrm>
            <a:off x="6313932" y="3035554"/>
            <a:ext cx="2988000" cy="0"/>
          </a:xfrm>
          <a:custGeom>
            <a:avLst/>
            <a:gdLst/>
            <a:ahLst/>
            <a:cxnLst/>
            <a:rect l="l" t="t" r="r" b="b"/>
            <a:pathLst>
              <a:path w="2642870">
                <a:moveTo>
                  <a:pt x="0" y="0"/>
                </a:moveTo>
                <a:lnTo>
                  <a:pt x="2642616" y="0"/>
                </a:lnTo>
              </a:path>
            </a:pathLst>
          </a:custGeom>
          <a:ln w="54863">
            <a:solidFill>
              <a:schemeClr val="accent1"/>
            </a:solidFill>
          </a:ln>
        </p:spPr>
        <p:txBody>
          <a:bodyPr wrap="square" lIns="0" tIns="0" rIns="0" bIns="0" rtlCol="0"/>
          <a:lstStyle/>
          <a:p>
            <a:endParaRPr lang="en-US" dirty="0"/>
          </a:p>
        </p:txBody>
      </p:sp>
      <p:sp>
        <p:nvSpPr>
          <p:cNvPr id="9" name="Content Placeholder 3">
            <a:extLst>
              <a:ext uri="{FF2B5EF4-FFF2-40B4-BE49-F238E27FC236}">
                <a16:creationId xmlns:a16="http://schemas.microsoft.com/office/drawing/2014/main" id="{E7A818AB-B120-41D5-88A6-933AB9CAAE68}"/>
              </a:ext>
            </a:extLst>
          </p:cNvPr>
          <p:cNvSpPr txBox="1">
            <a:spLocks/>
          </p:cNvSpPr>
          <p:nvPr/>
        </p:nvSpPr>
        <p:spPr>
          <a:xfrm>
            <a:off x="5810865" y="3217631"/>
            <a:ext cx="5558977" cy="1767324"/>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bg1"/>
                </a:solidFill>
              </a:rPr>
              <a:t>Consumer loan portfolios include borrowers with very different levels of risk, which makes it important for financial institutions to clearly understand where potential losses are coming from and why they occur. This analysis provides a high-level view of portfolio risk by showing which borrower groups contribute most to defaults, how pricing relates to risk, and which borrower characteristics are most closely associated with negative outcomes. The goal is to support effective portfolio oversight, informed pricing decisions, and sound underwriting by presenting insights in a clear and actionable way.</a:t>
            </a:r>
          </a:p>
        </p:txBody>
      </p:sp>
    </p:spTree>
    <p:extLst>
      <p:ext uri="{BB962C8B-B14F-4D97-AF65-F5344CB8AC3E}">
        <p14:creationId xmlns:p14="http://schemas.microsoft.com/office/powerpoint/2010/main" val="179394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7D87B918-371C-4B31-9C7A-1D9A08C8A3BB}"/>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A277388B-76FD-44C4-B506-F8A157E57C65}"/>
              </a:ext>
            </a:extLst>
          </p:cNvPr>
          <p:cNvSpPr/>
          <p:nvPr/>
        </p:nvSpPr>
        <p:spPr>
          <a:xfrm>
            <a:off x="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1191A09B-8CB4-416A-B1F9-ABC3B476DE1F}"/>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D00B79-44BB-4D5F-B51D-2270A854D77A}"/>
              </a:ext>
            </a:extLst>
          </p:cNvPr>
          <p:cNvSpPr>
            <a:spLocks noGrp="1"/>
          </p:cNvSpPr>
          <p:nvPr>
            <p:ph type="title"/>
          </p:nvPr>
        </p:nvSpPr>
        <p:spPr>
          <a:xfrm>
            <a:off x="806116" y="329956"/>
            <a:ext cx="10515600" cy="1325563"/>
          </a:xfrm>
        </p:spPr>
        <p:txBody>
          <a:bodyPr/>
          <a:lstStyle/>
          <a:p>
            <a:r>
              <a:rPr lang="en-CA" dirty="0">
                <a:solidFill>
                  <a:schemeClr val="bg1"/>
                </a:solidFill>
              </a:rPr>
              <a:t>Business Context (5W1H )</a:t>
            </a:r>
            <a:endParaRPr lang="en-US" dirty="0">
              <a:solidFill>
                <a:schemeClr val="bg1"/>
              </a:solidFill>
            </a:endParaRPr>
          </a:p>
        </p:txBody>
      </p:sp>
      <p:sp>
        <p:nvSpPr>
          <p:cNvPr id="5" name="Slide Number Placeholder 4">
            <a:extLst>
              <a:ext uri="{FF2B5EF4-FFF2-40B4-BE49-F238E27FC236}">
                <a16:creationId xmlns:a16="http://schemas.microsoft.com/office/drawing/2014/main" id="{CDF3C1EE-D9A0-406A-9A3A-75C82527E0DC}"/>
              </a:ext>
            </a:extLst>
          </p:cNvPr>
          <p:cNvSpPr>
            <a:spLocks noGrp="1"/>
          </p:cNvSpPr>
          <p:nvPr>
            <p:ph type="sldNum" sz="quarter" idx="12"/>
          </p:nvPr>
        </p:nvSpPr>
        <p:spPr/>
        <p:txBody>
          <a:bodyPr/>
          <a:lstStyle/>
          <a:p>
            <a:fld id="{82EE24B5-652C-4DB5-B7C3-B5BBEC1280B1}" type="slidenum">
              <a:rPr lang="en-US" smtClean="0"/>
              <a:t>3</a:t>
            </a:fld>
            <a:endParaRPr lang="en-US" dirty="0"/>
          </a:p>
        </p:txBody>
      </p:sp>
      <p:sp>
        <p:nvSpPr>
          <p:cNvPr id="11" name="object 5" descr="Beige rectangle">
            <a:extLst>
              <a:ext uri="{FF2B5EF4-FFF2-40B4-BE49-F238E27FC236}">
                <a16:creationId xmlns:a16="http://schemas.microsoft.com/office/drawing/2014/main" id="{B07BA1F9-2C19-4C07-B29B-18B9FBCC4755}"/>
              </a:ext>
            </a:extLst>
          </p:cNvPr>
          <p:cNvSpPr/>
          <p:nvPr/>
        </p:nvSpPr>
        <p:spPr>
          <a:xfrm>
            <a:off x="915637" y="1309144"/>
            <a:ext cx="4608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cxnSp>
        <p:nvCxnSpPr>
          <p:cNvPr id="10" name="Straight Connector 9" descr="Line">
            <a:extLst>
              <a:ext uri="{FF2B5EF4-FFF2-40B4-BE49-F238E27FC236}">
                <a16:creationId xmlns:a16="http://schemas.microsoft.com/office/drawing/2014/main" id="{4C3F4FC5-0C01-4592-9483-D476EA2BDF93}"/>
              </a:ext>
            </a:extLst>
          </p:cNvPr>
          <p:cNvCxnSpPr/>
          <p:nvPr/>
        </p:nvCxnSpPr>
        <p:spPr>
          <a:xfrm>
            <a:off x="6096000" y="4124378"/>
            <a:ext cx="0" cy="396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5EED52-CF10-FD16-1F70-E842B59289CA}"/>
              </a:ext>
            </a:extLst>
          </p:cNvPr>
          <p:cNvSpPr txBox="1"/>
          <p:nvPr/>
        </p:nvSpPr>
        <p:spPr>
          <a:xfrm>
            <a:off x="806116" y="1985475"/>
            <a:ext cx="8301308" cy="4401205"/>
          </a:xfrm>
          <a:prstGeom prst="rect">
            <a:avLst/>
          </a:prstGeom>
          <a:noFill/>
        </p:spPr>
        <p:txBody>
          <a:bodyPr wrap="square" rtlCol="0">
            <a:spAutoFit/>
          </a:bodyPr>
          <a:lstStyle/>
          <a:p>
            <a:r>
              <a:rPr lang="en-US" sz="1400" b="1" dirty="0">
                <a:solidFill>
                  <a:schemeClr val="bg1"/>
                </a:solidFill>
              </a:rPr>
              <a:t>Who</a:t>
            </a:r>
            <a:br>
              <a:rPr lang="en-US" sz="1400" dirty="0">
                <a:solidFill>
                  <a:schemeClr val="bg1"/>
                </a:solidFill>
              </a:rPr>
            </a:br>
            <a:r>
              <a:rPr lang="en-US" sz="1400" dirty="0">
                <a:solidFill>
                  <a:schemeClr val="bg1"/>
                </a:solidFill>
              </a:rPr>
              <a:t>Credit Risk, Portfolio Management, and Underwriting Leadership</a:t>
            </a:r>
          </a:p>
          <a:p>
            <a:endParaRPr lang="en-US" sz="1400" dirty="0">
              <a:solidFill>
                <a:schemeClr val="bg1"/>
              </a:solidFill>
            </a:endParaRPr>
          </a:p>
          <a:p>
            <a:r>
              <a:rPr lang="en-US" sz="1400" b="1" dirty="0">
                <a:solidFill>
                  <a:schemeClr val="bg1"/>
                </a:solidFill>
              </a:rPr>
              <a:t>What</a:t>
            </a:r>
            <a:br>
              <a:rPr lang="en-US" sz="1400" dirty="0">
                <a:solidFill>
                  <a:schemeClr val="bg1"/>
                </a:solidFill>
              </a:rPr>
            </a:br>
            <a:r>
              <a:rPr lang="en-US" sz="1400" dirty="0">
                <a:solidFill>
                  <a:schemeClr val="bg1"/>
                </a:solidFill>
              </a:rPr>
              <a:t>Provide a clear view of portfolio-level default exposure, identify where risk is concentrated, and highlight the key factors influencing borrower outcomes.</a:t>
            </a:r>
          </a:p>
          <a:p>
            <a:endParaRPr lang="en-US" sz="1400" dirty="0">
              <a:solidFill>
                <a:schemeClr val="bg1"/>
              </a:solidFill>
            </a:endParaRPr>
          </a:p>
          <a:p>
            <a:r>
              <a:rPr lang="en-US" sz="1400" b="1" dirty="0">
                <a:solidFill>
                  <a:schemeClr val="bg1"/>
                </a:solidFill>
              </a:rPr>
              <a:t>Why</a:t>
            </a:r>
            <a:br>
              <a:rPr lang="en-US" sz="1400" dirty="0">
                <a:solidFill>
                  <a:schemeClr val="bg1"/>
                </a:solidFill>
              </a:rPr>
            </a:br>
            <a:r>
              <a:rPr lang="en-US" sz="1400" dirty="0">
                <a:solidFill>
                  <a:schemeClr val="bg1"/>
                </a:solidFill>
              </a:rPr>
              <a:t>To strengthen risk-based pricing, enhance ongoing portfolio oversight, and confirm that underwriting decisions are aligned with observed risk behavior.</a:t>
            </a:r>
          </a:p>
          <a:p>
            <a:endParaRPr lang="en-US" sz="1400" dirty="0">
              <a:solidFill>
                <a:schemeClr val="bg1"/>
              </a:solidFill>
            </a:endParaRPr>
          </a:p>
          <a:p>
            <a:r>
              <a:rPr lang="en-US" sz="1400" b="1" dirty="0">
                <a:solidFill>
                  <a:schemeClr val="bg1"/>
                </a:solidFill>
              </a:rPr>
              <a:t>Where</a:t>
            </a:r>
            <a:br>
              <a:rPr lang="en-US" sz="1400" dirty="0">
                <a:solidFill>
                  <a:schemeClr val="bg1"/>
                </a:solidFill>
              </a:rPr>
            </a:br>
            <a:r>
              <a:rPr lang="en-US" sz="1400" dirty="0">
                <a:solidFill>
                  <a:schemeClr val="bg1"/>
                </a:solidFill>
              </a:rPr>
              <a:t>Consumer installment loan portfolio</a:t>
            </a:r>
          </a:p>
          <a:p>
            <a:endParaRPr lang="en-US" sz="1400" dirty="0">
              <a:solidFill>
                <a:schemeClr val="bg1"/>
              </a:solidFill>
            </a:endParaRPr>
          </a:p>
          <a:p>
            <a:r>
              <a:rPr lang="en-US" sz="1400" b="1" dirty="0">
                <a:solidFill>
                  <a:schemeClr val="bg1"/>
                </a:solidFill>
              </a:rPr>
              <a:t>When</a:t>
            </a:r>
            <a:br>
              <a:rPr lang="en-US" sz="1400" dirty="0">
                <a:solidFill>
                  <a:schemeClr val="bg1"/>
                </a:solidFill>
              </a:rPr>
            </a:br>
            <a:r>
              <a:rPr lang="en-US" sz="1400" dirty="0">
                <a:solidFill>
                  <a:schemeClr val="bg1"/>
                </a:solidFill>
              </a:rPr>
              <a:t>Across the observed loan lifecycle, from origination through repayment and default</a:t>
            </a:r>
          </a:p>
          <a:p>
            <a:endParaRPr lang="en-US" sz="1400" dirty="0">
              <a:solidFill>
                <a:schemeClr val="bg1"/>
              </a:solidFill>
            </a:endParaRPr>
          </a:p>
          <a:p>
            <a:r>
              <a:rPr lang="en-US" sz="1400" b="1" dirty="0">
                <a:solidFill>
                  <a:schemeClr val="bg1"/>
                </a:solidFill>
              </a:rPr>
              <a:t>How</a:t>
            </a:r>
            <a:br>
              <a:rPr lang="en-US" sz="1400" dirty="0">
                <a:solidFill>
                  <a:schemeClr val="bg1"/>
                </a:solidFill>
              </a:rPr>
            </a:br>
            <a:r>
              <a:rPr lang="en-US" sz="1400" dirty="0">
                <a:solidFill>
                  <a:schemeClr val="bg1"/>
                </a:solidFill>
              </a:rPr>
              <a:t>By combining advanced data analysis and machine learning with financial ratio analysis and executive-level dashboard reporting to surface clear, actionable insights.</a:t>
            </a:r>
            <a:endParaRPr lang="en-CA" dirty="0">
              <a:solidFill>
                <a:schemeClr val="bg1"/>
              </a:solidFill>
            </a:endParaRPr>
          </a:p>
        </p:txBody>
      </p:sp>
    </p:spTree>
    <p:extLst>
      <p:ext uri="{BB962C8B-B14F-4D97-AF65-F5344CB8AC3E}">
        <p14:creationId xmlns:p14="http://schemas.microsoft.com/office/powerpoint/2010/main" val="2263215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5AF0B-059A-2D74-4672-5DAFFA6789A2}"/>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E10284AC-33D4-FEAE-0646-26628FF7CB19}"/>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0" y="1350"/>
            <a:ext cx="12189600" cy="6856650"/>
          </a:xfrm>
        </p:spPr>
      </p:pic>
      <p:sp>
        <p:nvSpPr>
          <p:cNvPr id="8" name="object 3" descr="Blue rectangle">
            <a:extLst>
              <a:ext uri="{FF2B5EF4-FFF2-40B4-BE49-F238E27FC236}">
                <a16:creationId xmlns:a16="http://schemas.microsoft.com/office/drawing/2014/main" id="{68B224C3-8976-BD38-185A-92195E273C44}"/>
              </a:ext>
            </a:extLst>
          </p:cNvPr>
          <p:cNvSpPr/>
          <p:nvPr/>
        </p:nvSpPr>
        <p:spPr>
          <a:xfrm>
            <a:off x="0" y="1449884"/>
            <a:ext cx="12189600" cy="504394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pPr lvl="0" eaLnBrk="0" fontAlgn="base" hangingPunct="0">
              <a:spcBef>
                <a:spcPct val="0"/>
              </a:spcBef>
              <a:spcAft>
                <a:spcPct val="0"/>
              </a:spcAft>
              <a:buFontTx/>
              <a:buChar char="•"/>
            </a:pPr>
            <a:endParaRPr lang="en-US" altLang="en-US" sz="2000" b="1"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2000" b="1" dirty="0">
                <a:solidFill>
                  <a:schemeClr val="bg1"/>
                </a:solidFill>
                <a:latin typeface="Arial" panose="020B0604020202020204" pitchFamily="34" charset="0"/>
              </a:rPr>
              <a:t>Where is default risk concentrated within the portfolio?</a:t>
            </a:r>
          </a:p>
          <a:p>
            <a:pPr lvl="0" eaLnBrk="0" fontAlgn="base" hangingPunct="0">
              <a:spcBef>
                <a:spcPct val="0"/>
              </a:spcBef>
              <a:spcAft>
                <a:spcPct val="0"/>
              </a:spcAft>
              <a:buFontTx/>
              <a:buChar char="•"/>
            </a:pPr>
            <a:endParaRPr lang="en-US" altLang="en-US" sz="20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2000" b="1" dirty="0">
                <a:solidFill>
                  <a:schemeClr val="bg1"/>
                </a:solidFill>
                <a:latin typeface="Arial" panose="020B0604020202020204" pitchFamily="34" charset="0"/>
              </a:rPr>
              <a:t>How do leverage and pricing relate to observed default behavior?</a:t>
            </a:r>
          </a:p>
          <a:p>
            <a:pPr lvl="0" eaLnBrk="0" fontAlgn="base" hangingPunct="0">
              <a:spcBef>
                <a:spcPct val="0"/>
              </a:spcBef>
              <a:spcAft>
                <a:spcPct val="0"/>
              </a:spcAft>
              <a:buFontTx/>
              <a:buChar char="•"/>
            </a:pPr>
            <a:endParaRPr lang="en-US" altLang="en-US" sz="20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2000" b="1" dirty="0">
                <a:solidFill>
                  <a:schemeClr val="bg1"/>
                </a:solidFill>
                <a:latin typeface="Arial" panose="020B0604020202020204" pitchFamily="34" charset="0"/>
              </a:rPr>
              <a:t>Which borrower and loan characteristics drive elevated default risk?</a:t>
            </a:r>
          </a:p>
          <a:p>
            <a:pPr lvl="0" eaLnBrk="0" fontAlgn="base" hangingPunct="0">
              <a:spcBef>
                <a:spcPct val="0"/>
              </a:spcBef>
              <a:spcAft>
                <a:spcPct val="0"/>
              </a:spcAft>
              <a:buFontTx/>
              <a:buChar char="•"/>
            </a:pPr>
            <a:endParaRPr lang="en-US" altLang="en-US" sz="20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2000" b="1" dirty="0">
                <a:solidFill>
                  <a:schemeClr val="bg1"/>
                </a:solidFill>
                <a:latin typeface="Arial" panose="020B0604020202020204" pitchFamily="34" charset="0"/>
              </a:rPr>
              <a:t>Do observed outcomes support current underwriting decisions?</a:t>
            </a:r>
            <a:endParaRPr lang="en-US" altLang="en-US" sz="2000" dirty="0">
              <a:solidFill>
                <a:schemeClr val="bg1"/>
              </a:solidFill>
              <a:latin typeface="Arial" panose="020B0604020202020204" pitchFamily="34" charset="0"/>
            </a:endParaRPr>
          </a:p>
        </p:txBody>
      </p:sp>
      <p:sp>
        <p:nvSpPr>
          <p:cNvPr id="9" name="Oval 8" descr="Beige oval">
            <a:extLst>
              <a:ext uri="{FF2B5EF4-FFF2-40B4-BE49-F238E27FC236}">
                <a16:creationId xmlns:a16="http://schemas.microsoft.com/office/drawing/2014/main" id="{CA15E15C-3013-F822-6BD5-7D5FA73D64D9}"/>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C65BFB-4643-7C04-F7B6-0332CFC94666}"/>
              </a:ext>
            </a:extLst>
          </p:cNvPr>
          <p:cNvSpPr>
            <a:spLocks noGrp="1"/>
          </p:cNvSpPr>
          <p:nvPr>
            <p:ph type="title"/>
          </p:nvPr>
        </p:nvSpPr>
        <p:spPr>
          <a:xfrm>
            <a:off x="806116" y="329956"/>
            <a:ext cx="10515600" cy="1325563"/>
          </a:xfrm>
        </p:spPr>
        <p:txBody>
          <a:bodyPr/>
          <a:lstStyle/>
          <a:p>
            <a:r>
              <a:rPr lang="en-CA" dirty="0">
                <a:solidFill>
                  <a:schemeClr val="tx1"/>
                </a:solidFill>
              </a:rPr>
              <a:t>Business Questions</a:t>
            </a:r>
            <a:endParaRPr lang="en-US" dirty="0">
              <a:solidFill>
                <a:schemeClr val="tx1"/>
              </a:solidFill>
            </a:endParaRPr>
          </a:p>
        </p:txBody>
      </p:sp>
      <p:sp>
        <p:nvSpPr>
          <p:cNvPr id="5" name="Slide Number Placeholder 4">
            <a:extLst>
              <a:ext uri="{FF2B5EF4-FFF2-40B4-BE49-F238E27FC236}">
                <a16:creationId xmlns:a16="http://schemas.microsoft.com/office/drawing/2014/main" id="{894693B4-F70B-5E78-1CB8-BE77AC71C8B6}"/>
              </a:ext>
            </a:extLst>
          </p:cNvPr>
          <p:cNvSpPr>
            <a:spLocks noGrp="1"/>
          </p:cNvSpPr>
          <p:nvPr>
            <p:ph type="sldNum" sz="quarter" idx="12"/>
          </p:nvPr>
        </p:nvSpPr>
        <p:spPr/>
        <p:txBody>
          <a:bodyPr/>
          <a:lstStyle/>
          <a:p>
            <a:fld id="{82EE24B5-652C-4DB5-B7C3-B5BBEC1280B1}" type="slidenum">
              <a:rPr lang="en-US" smtClean="0"/>
              <a:t>4</a:t>
            </a:fld>
            <a:endParaRPr lang="en-US" dirty="0"/>
          </a:p>
        </p:txBody>
      </p:sp>
      <p:sp>
        <p:nvSpPr>
          <p:cNvPr id="11" name="object 5" descr="Beige rectangle">
            <a:extLst>
              <a:ext uri="{FF2B5EF4-FFF2-40B4-BE49-F238E27FC236}">
                <a16:creationId xmlns:a16="http://schemas.microsoft.com/office/drawing/2014/main" id="{4FF2BA11-213D-C3DA-D4A8-0DD3E658A1B6}"/>
              </a:ext>
            </a:extLst>
          </p:cNvPr>
          <p:cNvSpPr/>
          <p:nvPr/>
        </p:nvSpPr>
        <p:spPr>
          <a:xfrm>
            <a:off x="915637" y="1309144"/>
            <a:ext cx="4608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cxnSp>
        <p:nvCxnSpPr>
          <p:cNvPr id="10" name="Straight Connector 9" descr="Line">
            <a:extLst>
              <a:ext uri="{FF2B5EF4-FFF2-40B4-BE49-F238E27FC236}">
                <a16:creationId xmlns:a16="http://schemas.microsoft.com/office/drawing/2014/main" id="{024777E4-AFE8-9D2D-897A-C2D018F17D32}"/>
              </a:ext>
            </a:extLst>
          </p:cNvPr>
          <p:cNvCxnSpPr/>
          <p:nvPr/>
        </p:nvCxnSpPr>
        <p:spPr>
          <a:xfrm>
            <a:off x="6096000" y="4124378"/>
            <a:ext cx="0" cy="396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277AA5C-B914-804B-B5A6-ABE08BEFC7BA}"/>
              </a:ext>
            </a:extLst>
          </p:cNvPr>
          <p:cNvSpPr txBox="1"/>
          <p:nvPr/>
        </p:nvSpPr>
        <p:spPr>
          <a:xfrm>
            <a:off x="5766619" y="5810865"/>
            <a:ext cx="5337385" cy="461665"/>
          </a:xfrm>
          <a:prstGeom prst="rect">
            <a:avLst/>
          </a:prstGeom>
          <a:noFill/>
        </p:spPr>
        <p:txBody>
          <a:bodyPr wrap="square" rtlCol="0">
            <a:spAutoFit/>
          </a:bodyPr>
          <a:lstStyle/>
          <a:p>
            <a:r>
              <a:rPr lang="en-US" sz="1200" i="1" dirty="0">
                <a:solidFill>
                  <a:schemeClr val="bg1"/>
                </a:solidFill>
              </a:rPr>
              <a:t>Analysis reflects historical data and directional stress assumptions rather than full macroeconomic simulation.</a:t>
            </a:r>
            <a:endParaRPr lang="en-CA" sz="1200" i="1" dirty="0">
              <a:solidFill>
                <a:schemeClr val="bg1"/>
              </a:solidFill>
            </a:endParaRPr>
          </a:p>
        </p:txBody>
      </p:sp>
    </p:spTree>
    <p:extLst>
      <p:ext uri="{BB962C8B-B14F-4D97-AF65-F5344CB8AC3E}">
        <p14:creationId xmlns:p14="http://schemas.microsoft.com/office/powerpoint/2010/main" val="4160588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140CF4-2DAA-4239-BB77-274BDD82AB49}"/>
              </a:ext>
            </a:extLst>
          </p:cNvPr>
          <p:cNvSpPr>
            <a:spLocks noGrp="1"/>
          </p:cNvSpPr>
          <p:nvPr>
            <p:ph type="sldNum" sz="quarter" idx="12"/>
          </p:nvPr>
        </p:nvSpPr>
        <p:spPr/>
        <p:txBody>
          <a:bodyPr/>
          <a:lstStyle/>
          <a:p>
            <a:fld id="{82EE24B5-652C-4DB5-B7C3-B5BBEC1280B1}" type="slidenum">
              <a:rPr lang="en-US" smtClean="0"/>
              <a:t>5</a:t>
            </a:fld>
            <a:endParaRPr lang="en-US" dirty="0"/>
          </a:p>
        </p:txBody>
      </p:sp>
      <p:pic>
        <p:nvPicPr>
          <p:cNvPr id="4" name="Picture Placeholder 11" descr="Two men near laptop ">
            <a:extLst>
              <a:ext uri="{FF2B5EF4-FFF2-40B4-BE49-F238E27FC236}">
                <a16:creationId xmlns:a16="http://schemas.microsoft.com/office/drawing/2014/main" id="{509FA566-1699-4388-B44C-C3EE5EC0516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flipH="1">
            <a:off x="0" y="2"/>
            <a:ext cx="6256751" cy="6857998"/>
          </a:xfrm>
          <a:prstGeom prst="rect">
            <a:avLst/>
          </a:prstGeom>
        </p:spPr>
      </p:pic>
      <p:sp>
        <p:nvSpPr>
          <p:cNvPr id="5" name="object 3" descr="Beige rectangle">
            <a:extLst>
              <a:ext uri="{FF2B5EF4-FFF2-40B4-BE49-F238E27FC236}">
                <a16:creationId xmlns:a16="http://schemas.microsoft.com/office/drawing/2014/main" id="{857A0168-DBD5-47D4-A751-3B39262D8254}"/>
              </a:ext>
            </a:extLst>
          </p:cNvPr>
          <p:cNvSpPr/>
          <p:nvPr/>
        </p:nvSpPr>
        <p:spPr>
          <a:xfrm>
            <a:off x="8355283" y="836613"/>
            <a:ext cx="3307960" cy="5184775"/>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6" name="object 6" descr="Blue rectangle">
            <a:extLst>
              <a:ext uri="{FF2B5EF4-FFF2-40B4-BE49-F238E27FC236}">
                <a16:creationId xmlns:a16="http://schemas.microsoft.com/office/drawing/2014/main" id="{7F009843-AFA3-44E8-B7D5-3F39B363C92E}"/>
              </a:ext>
            </a:extLst>
          </p:cNvPr>
          <p:cNvSpPr/>
          <p:nvPr/>
        </p:nvSpPr>
        <p:spPr>
          <a:xfrm>
            <a:off x="6607038" y="1"/>
            <a:ext cx="5056205" cy="6857999"/>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8" name="Text Placeholder 3">
            <a:extLst>
              <a:ext uri="{FF2B5EF4-FFF2-40B4-BE49-F238E27FC236}">
                <a16:creationId xmlns:a16="http://schemas.microsoft.com/office/drawing/2014/main" id="{FC6730AE-386B-426F-9F29-221DCC5F714D}"/>
              </a:ext>
            </a:extLst>
          </p:cNvPr>
          <p:cNvSpPr txBox="1">
            <a:spLocks/>
          </p:cNvSpPr>
          <p:nvPr/>
        </p:nvSpPr>
        <p:spPr>
          <a:xfrm>
            <a:off x="7472818" y="2860146"/>
            <a:ext cx="2981822" cy="7497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b="1" dirty="0">
              <a:solidFill>
                <a:schemeClr val="bg2">
                  <a:lumMod val="20000"/>
                  <a:lumOff val="80000"/>
                </a:schemeClr>
              </a:solidFill>
            </a:endParaRPr>
          </a:p>
        </p:txBody>
      </p:sp>
      <p:sp>
        <p:nvSpPr>
          <p:cNvPr id="11" name="Text Placeholder 17">
            <a:extLst>
              <a:ext uri="{FF2B5EF4-FFF2-40B4-BE49-F238E27FC236}">
                <a16:creationId xmlns:a16="http://schemas.microsoft.com/office/drawing/2014/main" id="{186A1D66-9F36-434B-9677-0FE61760AB97}"/>
              </a:ext>
            </a:extLst>
          </p:cNvPr>
          <p:cNvSpPr txBox="1">
            <a:spLocks/>
          </p:cNvSpPr>
          <p:nvPr/>
        </p:nvSpPr>
        <p:spPr>
          <a:xfrm>
            <a:off x="7472817" y="3794464"/>
            <a:ext cx="3307960" cy="7401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b="1" dirty="0">
              <a:solidFill>
                <a:schemeClr val="bg2">
                  <a:lumMod val="20000"/>
                  <a:lumOff val="80000"/>
                </a:schemeClr>
              </a:solidFill>
            </a:endParaRPr>
          </a:p>
        </p:txBody>
      </p:sp>
      <p:sp>
        <p:nvSpPr>
          <p:cNvPr id="13" name="Text Placeholder 19">
            <a:extLst>
              <a:ext uri="{FF2B5EF4-FFF2-40B4-BE49-F238E27FC236}">
                <a16:creationId xmlns:a16="http://schemas.microsoft.com/office/drawing/2014/main" id="{8744334E-DF9D-4600-8180-292072510183}"/>
              </a:ext>
            </a:extLst>
          </p:cNvPr>
          <p:cNvSpPr txBox="1">
            <a:spLocks/>
          </p:cNvSpPr>
          <p:nvPr/>
        </p:nvSpPr>
        <p:spPr>
          <a:xfrm>
            <a:off x="7472816" y="4704536"/>
            <a:ext cx="3098931" cy="109296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b="1" dirty="0">
              <a:solidFill>
                <a:schemeClr val="bg2">
                  <a:lumMod val="20000"/>
                  <a:lumOff val="80000"/>
                </a:schemeClr>
              </a:solidFill>
            </a:endParaRPr>
          </a:p>
        </p:txBody>
      </p:sp>
      <p:sp>
        <p:nvSpPr>
          <p:cNvPr id="2" name="Title 1">
            <a:extLst>
              <a:ext uri="{FF2B5EF4-FFF2-40B4-BE49-F238E27FC236}">
                <a16:creationId xmlns:a16="http://schemas.microsoft.com/office/drawing/2014/main" id="{95668119-9603-4701-8EEC-F2E48B808491}"/>
              </a:ext>
            </a:extLst>
          </p:cNvPr>
          <p:cNvSpPr>
            <a:spLocks noGrp="1"/>
          </p:cNvSpPr>
          <p:nvPr>
            <p:ph type="title"/>
          </p:nvPr>
        </p:nvSpPr>
        <p:spPr>
          <a:xfrm>
            <a:off x="6753114" y="511546"/>
            <a:ext cx="4421229" cy="1325563"/>
          </a:xfrm>
        </p:spPr>
        <p:txBody>
          <a:bodyPr/>
          <a:lstStyle/>
          <a:p>
            <a:r>
              <a:rPr lang="en-US" dirty="0">
                <a:solidFill>
                  <a:schemeClr val="bg1"/>
                </a:solidFill>
              </a:rPr>
              <a:t>CONCEPTUAL MODEL</a:t>
            </a:r>
            <a:endParaRPr lang="en-US" dirty="0"/>
          </a:p>
        </p:txBody>
      </p:sp>
      <p:sp>
        <p:nvSpPr>
          <p:cNvPr id="7" name="TextBox 6">
            <a:extLst>
              <a:ext uri="{FF2B5EF4-FFF2-40B4-BE49-F238E27FC236}">
                <a16:creationId xmlns:a16="http://schemas.microsoft.com/office/drawing/2014/main" id="{4EED8F56-24F8-59F4-4676-B78612022AC0}"/>
              </a:ext>
            </a:extLst>
          </p:cNvPr>
          <p:cNvSpPr txBox="1"/>
          <p:nvPr/>
        </p:nvSpPr>
        <p:spPr>
          <a:xfrm>
            <a:off x="6686450" y="1846793"/>
            <a:ext cx="3372101" cy="3693319"/>
          </a:xfrm>
          <a:prstGeom prst="rect">
            <a:avLst/>
          </a:prstGeom>
          <a:noFill/>
        </p:spPr>
        <p:txBody>
          <a:bodyPr wrap="square" rtlCol="0">
            <a:spAutoFit/>
          </a:bodyPr>
          <a:lstStyle/>
          <a:p>
            <a:r>
              <a:rPr lang="en-CA" dirty="0">
                <a:solidFill>
                  <a:schemeClr val="bg1"/>
                </a:solidFill>
              </a:rPr>
              <a:t>Borrower Attributes</a:t>
            </a:r>
            <a:br>
              <a:rPr lang="en-CA" dirty="0">
                <a:solidFill>
                  <a:schemeClr val="bg1"/>
                </a:solidFill>
              </a:rPr>
            </a:br>
            <a:r>
              <a:rPr lang="en-CA" dirty="0">
                <a:solidFill>
                  <a:schemeClr val="bg1"/>
                </a:solidFill>
              </a:rPr>
              <a:t>↓</a:t>
            </a:r>
            <a:br>
              <a:rPr lang="en-CA" dirty="0">
                <a:solidFill>
                  <a:schemeClr val="bg1"/>
                </a:solidFill>
              </a:rPr>
            </a:br>
            <a:r>
              <a:rPr lang="en-CA" dirty="0">
                <a:solidFill>
                  <a:schemeClr val="bg1"/>
                </a:solidFill>
              </a:rPr>
              <a:t>Risk Feature Engineering</a:t>
            </a:r>
            <a:br>
              <a:rPr lang="en-CA" dirty="0">
                <a:solidFill>
                  <a:schemeClr val="bg1"/>
                </a:solidFill>
              </a:rPr>
            </a:br>
            <a:r>
              <a:rPr lang="en-CA" dirty="0">
                <a:solidFill>
                  <a:schemeClr val="bg1"/>
                </a:solidFill>
              </a:rPr>
              <a:t>↓</a:t>
            </a:r>
            <a:br>
              <a:rPr lang="en-CA" dirty="0">
                <a:solidFill>
                  <a:schemeClr val="bg1"/>
                </a:solidFill>
              </a:rPr>
            </a:br>
            <a:r>
              <a:rPr lang="en-CA" dirty="0">
                <a:solidFill>
                  <a:schemeClr val="bg1"/>
                </a:solidFill>
              </a:rPr>
              <a:t>Borrower Risk Segmentation</a:t>
            </a:r>
            <a:br>
              <a:rPr lang="en-CA" dirty="0">
                <a:solidFill>
                  <a:schemeClr val="bg1"/>
                </a:solidFill>
              </a:rPr>
            </a:br>
            <a:r>
              <a:rPr lang="en-CA" dirty="0">
                <a:solidFill>
                  <a:schemeClr val="bg1"/>
                </a:solidFill>
              </a:rPr>
              <a:t>↓</a:t>
            </a:r>
            <a:br>
              <a:rPr lang="en-CA" dirty="0">
                <a:solidFill>
                  <a:schemeClr val="bg1"/>
                </a:solidFill>
              </a:rPr>
            </a:br>
            <a:r>
              <a:rPr lang="en-CA" dirty="0">
                <a:solidFill>
                  <a:schemeClr val="bg1"/>
                </a:solidFill>
              </a:rPr>
              <a:t>Portfolio Risk &amp; Pricing Assessment</a:t>
            </a:r>
            <a:br>
              <a:rPr lang="en-CA" dirty="0">
                <a:solidFill>
                  <a:schemeClr val="bg1"/>
                </a:solidFill>
              </a:rPr>
            </a:br>
            <a:r>
              <a:rPr lang="en-CA" dirty="0">
                <a:solidFill>
                  <a:schemeClr val="bg1"/>
                </a:solidFill>
              </a:rPr>
              <a:t>↓</a:t>
            </a:r>
            <a:br>
              <a:rPr lang="en-CA" dirty="0">
                <a:solidFill>
                  <a:schemeClr val="bg1"/>
                </a:solidFill>
              </a:rPr>
            </a:br>
            <a:r>
              <a:rPr lang="en-CA" dirty="0">
                <a:solidFill>
                  <a:schemeClr val="bg1"/>
                </a:solidFill>
              </a:rPr>
              <a:t>Underwriting Validation</a:t>
            </a:r>
            <a:br>
              <a:rPr lang="en-CA" dirty="0">
                <a:solidFill>
                  <a:schemeClr val="bg1"/>
                </a:solidFill>
              </a:rPr>
            </a:br>
            <a:r>
              <a:rPr lang="en-CA" dirty="0">
                <a:solidFill>
                  <a:schemeClr val="bg1"/>
                </a:solidFill>
              </a:rPr>
              <a:t>↓</a:t>
            </a:r>
            <a:br>
              <a:rPr lang="en-CA" dirty="0">
                <a:solidFill>
                  <a:schemeClr val="bg1"/>
                </a:solidFill>
              </a:rPr>
            </a:br>
            <a:r>
              <a:rPr lang="en-CA" b="1" dirty="0">
                <a:solidFill>
                  <a:schemeClr val="bg1"/>
                </a:solidFill>
              </a:rPr>
              <a:t>Executive Risk Monitoring &amp; Decision Support</a:t>
            </a:r>
            <a:endParaRPr lang="en-CA" dirty="0">
              <a:solidFill>
                <a:schemeClr val="bg1"/>
              </a:solidFill>
            </a:endParaRPr>
          </a:p>
        </p:txBody>
      </p:sp>
      <p:sp>
        <p:nvSpPr>
          <p:cNvPr id="15" name="TextBox 14">
            <a:extLst>
              <a:ext uri="{FF2B5EF4-FFF2-40B4-BE49-F238E27FC236}">
                <a16:creationId xmlns:a16="http://schemas.microsoft.com/office/drawing/2014/main" id="{0510CE93-4DAB-4C01-2523-9C4F445554AC}"/>
              </a:ext>
            </a:extLst>
          </p:cNvPr>
          <p:cNvSpPr txBox="1"/>
          <p:nvPr/>
        </p:nvSpPr>
        <p:spPr>
          <a:xfrm>
            <a:off x="6574406" y="5764000"/>
            <a:ext cx="4544151" cy="738664"/>
          </a:xfrm>
          <a:prstGeom prst="rect">
            <a:avLst/>
          </a:prstGeom>
          <a:noFill/>
        </p:spPr>
        <p:txBody>
          <a:bodyPr wrap="square" rtlCol="0">
            <a:spAutoFit/>
          </a:bodyPr>
          <a:lstStyle/>
          <a:p>
            <a:r>
              <a:rPr lang="en-US" sz="1400" dirty="0">
                <a:solidFill>
                  <a:schemeClr val="bg1"/>
                </a:solidFill>
              </a:rPr>
              <a:t>This framework illustrates how raw borrower data is transformed into actionable risk insights for decision-makers.</a:t>
            </a:r>
            <a:endParaRPr lang="en-CA" sz="1400" dirty="0">
              <a:solidFill>
                <a:schemeClr val="bg1"/>
              </a:solidFill>
            </a:endParaRPr>
          </a:p>
        </p:txBody>
      </p:sp>
    </p:spTree>
    <p:extLst>
      <p:ext uri="{BB962C8B-B14F-4D97-AF65-F5344CB8AC3E}">
        <p14:creationId xmlns:p14="http://schemas.microsoft.com/office/powerpoint/2010/main" val="329896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ADB42F-AE48-4323-897F-DB5A083BD103}"/>
              </a:ext>
            </a:extLst>
          </p:cNvPr>
          <p:cNvSpPr>
            <a:spLocks noGrp="1"/>
          </p:cNvSpPr>
          <p:nvPr>
            <p:ph type="title"/>
          </p:nvPr>
        </p:nvSpPr>
        <p:spPr/>
        <p:txBody>
          <a:bodyPr/>
          <a:lstStyle/>
          <a:p>
            <a:r>
              <a:rPr lang="en-CA" dirty="0"/>
              <a:t>Data Overview</a:t>
            </a:r>
            <a:endParaRPr lang="en-US" dirty="0"/>
          </a:p>
        </p:txBody>
      </p:sp>
      <p:pic>
        <p:nvPicPr>
          <p:cNvPr id="33" name="Picture Placeholder 32" descr="Handshake">
            <a:extLst>
              <a:ext uri="{FF2B5EF4-FFF2-40B4-BE49-F238E27FC236}">
                <a16:creationId xmlns:a16="http://schemas.microsoft.com/office/drawing/2014/main" id="{2F5DB649-A4D3-4E21-BA31-0C84C9B36031}"/>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838200" y="2386210"/>
            <a:ext cx="10515600" cy="3230167"/>
          </a:xfrm>
        </p:spPr>
      </p:pic>
      <p:sp>
        <p:nvSpPr>
          <p:cNvPr id="8" name="Slide Number Placeholder 7">
            <a:extLst>
              <a:ext uri="{FF2B5EF4-FFF2-40B4-BE49-F238E27FC236}">
                <a16:creationId xmlns:a16="http://schemas.microsoft.com/office/drawing/2014/main" id="{68F7FB6B-EAC9-40F7-9522-61A8D53EFAF9}"/>
              </a:ext>
            </a:extLst>
          </p:cNvPr>
          <p:cNvSpPr>
            <a:spLocks noGrp="1"/>
          </p:cNvSpPr>
          <p:nvPr>
            <p:ph type="sldNum" sz="quarter" idx="12"/>
          </p:nvPr>
        </p:nvSpPr>
        <p:spPr/>
        <p:txBody>
          <a:bodyPr/>
          <a:lstStyle/>
          <a:p>
            <a:fld id="{82EE24B5-652C-4DB5-B7C3-B5BBEC1280B1}" type="slidenum">
              <a:rPr lang="en-US" smtClean="0"/>
              <a:t>6</a:t>
            </a:fld>
            <a:endParaRPr lang="en-US" dirty="0"/>
          </a:p>
        </p:txBody>
      </p:sp>
      <p:sp>
        <p:nvSpPr>
          <p:cNvPr id="12" name="object 3" descr="Blue rectangle">
            <a:extLst>
              <a:ext uri="{FF2B5EF4-FFF2-40B4-BE49-F238E27FC236}">
                <a16:creationId xmlns:a16="http://schemas.microsoft.com/office/drawing/2014/main" id="{CDEEA71D-C3B3-45BB-A776-D17D92A58127}"/>
              </a:ext>
            </a:extLst>
          </p:cNvPr>
          <p:cNvSpPr/>
          <p:nvPr/>
        </p:nvSpPr>
        <p:spPr>
          <a:xfrm>
            <a:off x="559548" y="2381544"/>
            <a:ext cx="10968775" cy="344583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80000"/>
            </a:schemeClr>
          </a:solidFill>
        </p:spPr>
        <p:txBody>
          <a:bodyPr wrap="square" lIns="0" tIns="0" rIns="0" bIns="0" rtlCol="0"/>
          <a:lstStyle/>
          <a:p>
            <a:endParaRPr lang="en-US" dirty="0"/>
          </a:p>
        </p:txBody>
      </p:sp>
      <p:sp>
        <p:nvSpPr>
          <p:cNvPr id="13" name="Oval 12" descr="Beige oval">
            <a:extLst>
              <a:ext uri="{FF2B5EF4-FFF2-40B4-BE49-F238E27FC236}">
                <a16:creationId xmlns:a16="http://schemas.microsoft.com/office/drawing/2014/main" id="{F336552F-CA64-452F-9BD8-01334388BFF5}"/>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bject 5" descr="Beige rectangle">
            <a:extLst>
              <a:ext uri="{FF2B5EF4-FFF2-40B4-BE49-F238E27FC236}">
                <a16:creationId xmlns:a16="http://schemas.microsoft.com/office/drawing/2014/main" id="{890F7762-BD37-4D33-9F80-1DA07B5E172E}"/>
              </a:ext>
            </a:extLst>
          </p:cNvPr>
          <p:cNvSpPr/>
          <p:nvPr/>
        </p:nvSpPr>
        <p:spPr>
          <a:xfrm>
            <a:off x="915637" y="1337103"/>
            <a:ext cx="3744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14" name="Text Placeholder 5">
            <a:extLst>
              <a:ext uri="{FF2B5EF4-FFF2-40B4-BE49-F238E27FC236}">
                <a16:creationId xmlns:a16="http://schemas.microsoft.com/office/drawing/2014/main" id="{A93FB3A3-CCE4-43B1-B396-B8819D20B354}"/>
              </a:ext>
            </a:extLst>
          </p:cNvPr>
          <p:cNvSpPr txBox="1">
            <a:spLocks/>
          </p:cNvSpPr>
          <p:nvPr/>
        </p:nvSpPr>
        <p:spPr>
          <a:xfrm>
            <a:off x="8568793" y="2133184"/>
            <a:ext cx="3429699"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2000" dirty="0"/>
          </a:p>
        </p:txBody>
      </p:sp>
      <p:sp>
        <p:nvSpPr>
          <p:cNvPr id="15" name="Content Placeholder 6">
            <a:extLst>
              <a:ext uri="{FF2B5EF4-FFF2-40B4-BE49-F238E27FC236}">
                <a16:creationId xmlns:a16="http://schemas.microsoft.com/office/drawing/2014/main" id="{17423A2D-9BA5-4783-9D7D-85F493300696}"/>
              </a:ext>
            </a:extLst>
          </p:cNvPr>
          <p:cNvSpPr txBox="1">
            <a:spLocks/>
          </p:cNvSpPr>
          <p:nvPr/>
        </p:nvSpPr>
        <p:spPr>
          <a:xfrm>
            <a:off x="8552751" y="3436890"/>
            <a:ext cx="3132000" cy="27556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buClr>
                <a:schemeClr val="accent1"/>
              </a:buClr>
            </a:pPr>
            <a:endParaRPr lang="en-US" i="1" dirty="0">
              <a:solidFill>
                <a:srgbClr val="FFFFFF"/>
              </a:solidFill>
              <a:cs typeface="Arial"/>
            </a:endParaRPr>
          </a:p>
        </p:txBody>
      </p:sp>
      <p:sp>
        <p:nvSpPr>
          <p:cNvPr id="19" name="TextBox 18">
            <a:extLst>
              <a:ext uri="{FF2B5EF4-FFF2-40B4-BE49-F238E27FC236}">
                <a16:creationId xmlns:a16="http://schemas.microsoft.com/office/drawing/2014/main" id="{330F3E35-0345-F948-0EB1-9AAD9096CC5C}"/>
              </a:ext>
            </a:extLst>
          </p:cNvPr>
          <p:cNvSpPr txBox="1"/>
          <p:nvPr/>
        </p:nvSpPr>
        <p:spPr>
          <a:xfrm>
            <a:off x="663677" y="2545140"/>
            <a:ext cx="11162283" cy="2585323"/>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err="1">
                <a:solidFill>
                  <a:schemeClr val="bg1"/>
                </a:solidFill>
                <a:latin typeface="Arial" panose="020B0604020202020204" pitchFamily="34" charset="0"/>
              </a:rPr>
              <a:t>LendingClub</a:t>
            </a:r>
            <a:r>
              <a:rPr lang="en-US" altLang="en-US" dirty="0">
                <a:solidFill>
                  <a:schemeClr val="bg1"/>
                </a:solidFill>
                <a:latin typeface="Arial" panose="020B0604020202020204" pitchFamily="34" charset="0"/>
              </a:rPr>
              <a:t> Accepted Loans (2007–2018)</a:t>
            </a:r>
          </a:p>
          <a:p>
            <a:pPr lvl="0" eaLnBrk="0" fontAlgn="base" hangingPunct="0">
              <a:spcBef>
                <a:spcPct val="0"/>
              </a:spcBef>
              <a:spcAft>
                <a:spcPct val="0"/>
              </a:spcAft>
              <a:buFontTx/>
              <a:buChar char="•"/>
            </a:pPr>
            <a:r>
              <a:rPr lang="en-US" i="1" dirty="0">
                <a:solidFill>
                  <a:srgbClr val="0070C0"/>
                </a:solidFill>
                <a:hlinkClick r:id="rId4">
                  <a:extLst>
                    <a:ext uri="{A12FA001-AC4F-418D-AE19-62706E023703}">
                      <ahyp:hlinkClr xmlns:ahyp="http://schemas.microsoft.com/office/drawing/2018/hyperlinkcolor" val="tx"/>
                    </a:ext>
                  </a:extLst>
                </a:hlinkClick>
              </a:rPr>
              <a:t>All Lending Club loan data</a:t>
            </a:r>
            <a:endParaRPr lang="en-US" altLang="en-US" i="1" dirty="0">
              <a:solidFill>
                <a:srgbClr val="0070C0"/>
              </a:solidFill>
              <a:latin typeface="Arial" panose="020B0604020202020204" pitchFamily="34" charset="0"/>
            </a:endParaRPr>
          </a:p>
          <a:p>
            <a:pPr lvl="0" eaLnBrk="0" fontAlgn="base" hangingPunct="0">
              <a:spcBef>
                <a:spcPct val="0"/>
              </a:spcBef>
              <a:spcAft>
                <a:spcPct val="0"/>
              </a:spcAft>
              <a:buFontTx/>
              <a:buChar char="•"/>
            </a:pPr>
            <a:r>
              <a:rPr lang="en-US" altLang="en-US" dirty="0" err="1">
                <a:solidFill>
                  <a:schemeClr val="bg1"/>
                </a:solidFill>
                <a:latin typeface="Arial" panose="020B0604020202020204" pitchFamily="34" charset="0"/>
              </a:rPr>
              <a:t>LendingClub</a:t>
            </a:r>
            <a:r>
              <a:rPr lang="en-US" altLang="en-US" dirty="0">
                <a:solidFill>
                  <a:schemeClr val="bg1"/>
                </a:solidFill>
                <a:latin typeface="Arial" panose="020B0604020202020204" pitchFamily="34" charset="0"/>
              </a:rPr>
              <a:t> Rejected Applications</a:t>
            </a:r>
          </a:p>
          <a:p>
            <a:pPr lvl="0" eaLnBrk="0" fontAlgn="base" hangingPunct="0">
              <a:spcBef>
                <a:spcPct val="0"/>
              </a:spcBef>
              <a:spcAft>
                <a:spcPct val="0"/>
              </a:spcAft>
              <a:buFontTx/>
              <a:buChar char="•"/>
            </a:pPr>
            <a:r>
              <a:rPr lang="en-US" i="1" dirty="0">
                <a:solidFill>
                  <a:srgbClr val="0070C0"/>
                </a:solidFill>
                <a:hlinkClick r:id="rId5">
                  <a:extLst>
                    <a:ext uri="{A12FA001-AC4F-418D-AE19-62706E023703}">
                      <ahyp:hlinkClr xmlns:ahyp="http://schemas.microsoft.com/office/drawing/2018/hyperlinkcolor" val="tx"/>
                    </a:ext>
                  </a:extLst>
                </a:hlinkClick>
              </a:rPr>
              <a:t>All Lending Club loan data</a:t>
            </a:r>
            <a:endParaRPr lang="en-US" i="1" dirty="0">
              <a:solidFill>
                <a:srgbClr val="0070C0"/>
              </a:solidFill>
            </a:endParaRPr>
          </a:p>
          <a:p>
            <a:pPr lvl="0" eaLnBrk="0" fontAlgn="base" hangingPunct="0">
              <a:spcBef>
                <a:spcPct val="0"/>
              </a:spcBef>
              <a:spcAft>
                <a:spcPct val="0"/>
              </a:spcAft>
              <a:buFontTx/>
              <a:buChar char="•"/>
            </a:pPr>
            <a:endParaRPr lang="en-US" altLang="en-US" i="1" dirty="0">
              <a:solidFill>
                <a:srgbClr val="0070C0"/>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~1M+ records</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Public, industry-recognized datasets</a:t>
            </a:r>
          </a:p>
          <a:p>
            <a:endParaRPr lang="en-CA" dirty="0"/>
          </a:p>
        </p:txBody>
      </p:sp>
    </p:spTree>
    <p:extLst>
      <p:ext uri="{BB962C8B-B14F-4D97-AF65-F5344CB8AC3E}">
        <p14:creationId xmlns:p14="http://schemas.microsoft.com/office/powerpoint/2010/main" val="332701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50A71-B91E-D936-C008-C395B259AE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299B99-ACEA-CB07-F256-EFB69EA3E81B}"/>
              </a:ext>
            </a:extLst>
          </p:cNvPr>
          <p:cNvSpPr>
            <a:spLocks noGrp="1"/>
          </p:cNvSpPr>
          <p:nvPr>
            <p:ph type="title"/>
          </p:nvPr>
        </p:nvSpPr>
        <p:spPr/>
        <p:txBody>
          <a:bodyPr/>
          <a:lstStyle/>
          <a:p>
            <a:r>
              <a:rPr lang="en-CA" dirty="0"/>
              <a:t>Methodology Overview</a:t>
            </a:r>
            <a:endParaRPr lang="en-US" dirty="0"/>
          </a:p>
        </p:txBody>
      </p:sp>
      <p:pic>
        <p:nvPicPr>
          <p:cNvPr id="33" name="Picture Placeholder 32" descr="Handshake">
            <a:extLst>
              <a:ext uri="{FF2B5EF4-FFF2-40B4-BE49-F238E27FC236}">
                <a16:creationId xmlns:a16="http://schemas.microsoft.com/office/drawing/2014/main" id="{0929FB6D-AE0F-1E16-D11E-98864432C0F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838200" y="2386210"/>
            <a:ext cx="10515600" cy="3230167"/>
          </a:xfrm>
        </p:spPr>
      </p:pic>
      <p:sp>
        <p:nvSpPr>
          <p:cNvPr id="8" name="Slide Number Placeholder 7">
            <a:extLst>
              <a:ext uri="{FF2B5EF4-FFF2-40B4-BE49-F238E27FC236}">
                <a16:creationId xmlns:a16="http://schemas.microsoft.com/office/drawing/2014/main" id="{03264E08-327D-7801-E717-026BB12FC3A2}"/>
              </a:ext>
            </a:extLst>
          </p:cNvPr>
          <p:cNvSpPr>
            <a:spLocks noGrp="1"/>
          </p:cNvSpPr>
          <p:nvPr>
            <p:ph type="sldNum" sz="quarter" idx="12"/>
          </p:nvPr>
        </p:nvSpPr>
        <p:spPr/>
        <p:txBody>
          <a:bodyPr/>
          <a:lstStyle/>
          <a:p>
            <a:fld id="{82EE24B5-652C-4DB5-B7C3-B5BBEC1280B1}" type="slidenum">
              <a:rPr lang="en-US" smtClean="0"/>
              <a:t>7</a:t>
            </a:fld>
            <a:endParaRPr lang="en-US" dirty="0"/>
          </a:p>
        </p:txBody>
      </p:sp>
      <p:sp>
        <p:nvSpPr>
          <p:cNvPr id="12" name="object 3" descr="Blue rectangle">
            <a:extLst>
              <a:ext uri="{FF2B5EF4-FFF2-40B4-BE49-F238E27FC236}">
                <a16:creationId xmlns:a16="http://schemas.microsoft.com/office/drawing/2014/main" id="{EA5853CA-6966-10E1-FB30-9F73472556A9}"/>
              </a:ext>
            </a:extLst>
          </p:cNvPr>
          <p:cNvSpPr/>
          <p:nvPr/>
        </p:nvSpPr>
        <p:spPr>
          <a:xfrm>
            <a:off x="559548" y="2381544"/>
            <a:ext cx="10968775" cy="344583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80000"/>
            </a:schemeClr>
          </a:solidFill>
        </p:spPr>
        <p:txBody>
          <a:bodyPr wrap="square" lIns="0" tIns="0" rIns="0" bIns="0" rtlCol="0"/>
          <a:lstStyle/>
          <a:p>
            <a:endParaRPr lang="en-US" dirty="0"/>
          </a:p>
        </p:txBody>
      </p:sp>
      <p:sp>
        <p:nvSpPr>
          <p:cNvPr id="13" name="Oval 12" descr="Beige oval">
            <a:extLst>
              <a:ext uri="{FF2B5EF4-FFF2-40B4-BE49-F238E27FC236}">
                <a16:creationId xmlns:a16="http://schemas.microsoft.com/office/drawing/2014/main" id="{AD4E8E7C-B8C1-2EE0-ABF8-2DA9D7A0AE9B}"/>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bject 5" descr="Beige rectangle">
            <a:extLst>
              <a:ext uri="{FF2B5EF4-FFF2-40B4-BE49-F238E27FC236}">
                <a16:creationId xmlns:a16="http://schemas.microsoft.com/office/drawing/2014/main" id="{15FCCC9A-C25E-B5BF-28F3-DB0107E34A02}"/>
              </a:ext>
            </a:extLst>
          </p:cNvPr>
          <p:cNvSpPr/>
          <p:nvPr/>
        </p:nvSpPr>
        <p:spPr>
          <a:xfrm>
            <a:off x="915637" y="1337103"/>
            <a:ext cx="3744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14" name="Text Placeholder 5">
            <a:extLst>
              <a:ext uri="{FF2B5EF4-FFF2-40B4-BE49-F238E27FC236}">
                <a16:creationId xmlns:a16="http://schemas.microsoft.com/office/drawing/2014/main" id="{DB74B481-79F0-47DC-2263-2BBF3DC11375}"/>
              </a:ext>
            </a:extLst>
          </p:cNvPr>
          <p:cNvSpPr txBox="1">
            <a:spLocks/>
          </p:cNvSpPr>
          <p:nvPr/>
        </p:nvSpPr>
        <p:spPr>
          <a:xfrm>
            <a:off x="8568793" y="2133184"/>
            <a:ext cx="3429699"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2000" dirty="0"/>
          </a:p>
        </p:txBody>
      </p:sp>
      <p:sp>
        <p:nvSpPr>
          <p:cNvPr id="15" name="Content Placeholder 6">
            <a:extLst>
              <a:ext uri="{FF2B5EF4-FFF2-40B4-BE49-F238E27FC236}">
                <a16:creationId xmlns:a16="http://schemas.microsoft.com/office/drawing/2014/main" id="{0501C4B9-5082-0C45-6CA9-B96B3203EC35}"/>
              </a:ext>
            </a:extLst>
          </p:cNvPr>
          <p:cNvSpPr txBox="1">
            <a:spLocks/>
          </p:cNvSpPr>
          <p:nvPr/>
        </p:nvSpPr>
        <p:spPr>
          <a:xfrm>
            <a:off x="8552751" y="3436890"/>
            <a:ext cx="3132000" cy="27556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buClr>
                <a:schemeClr val="accent1"/>
              </a:buClr>
            </a:pPr>
            <a:endParaRPr lang="en-US" i="1" dirty="0">
              <a:solidFill>
                <a:srgbClr val="FFFFFF"/>
              </a:solidFill>
              <a:cs typeface="Arial"/>
            </a:endParaRPr>
          </a:p>
        </p:txBody>
      </p:sp>
      <p:sp>
        <p:nvSpPr>
          <p:cNvPr id="19" name="TextBox 18">
            <a:extLst>
              <a:ext uri="{FF2B5EF4-FFF2-40B4-BE49-F238E27FC236}">
                <a16:creationId xmlns:a16="http://schemas.microsoft.com/office/drawing/2014/main" id="{6C5A52B2-6AF6-B7F4-0765-1D1CFB601FA7}"/>
              </a:ext>
            </a:extLst>
          </p:cNvPr>
          <p:cNvSpPr txBox="1"/>
          <p:nvPr/>
        </p:nvSpPr>
        <p:spPr>
          <a:xfrm>
            <a:off x="559548" y="2559727"/>
            <a:ext cx="11162283" cy="2862322"/>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Data cleaning and feature engineering (Python)</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Borrower risk segmentation</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Portfolio risk and pricing analysis</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Underwriting outcome validation</a:t>
            </a:r>
          </a:p>
          <a:p>
            <a:pPr lvl="0" eaLnBrk="0" fontAlgn="base" hangingPunct="0">
              <a:spcBef>
                <a:spcPct val="0"/>
              </a:spcBef>
              <a:spcAft>
                <a:spcPct val="0"/>
              </a:spcAft>
              <a:buFontTx/>
              <a:buChar char="•"/>
            </a:pPr>
            <a:endParaRPr lang="en-US" altLang="en-US"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dirty="0">
                <a:solidFill>
                  <a:schemeClr val="bg1"/>
                </a:solidFill>
                <a:latin typeface="Arial" panose="020B0604020202020204" pitchFamily="34" charset="0"/>
              </a:rPr>
              <a:t>Executive dashboard reporting (Power BI)</a:t>
            </a:r>
          </a:p>
          <a:p>
            <a:endParaRPr lang="en-CA" dirty="0"/>
          </a:p>
        </p:txBody>
      </p:sp>
    </p:spTree>
    <p:extLst>
      <p:ext uri="{BB962C8B-B14F-4D97-AF65-F5344CB8AC3E}">
        <p14:creationId xmlns:p14="http://schemas.microsoft.com/office/powerpoint/2010/main" val="2165939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50891-B331-46E3-89A1-0996C3679973}"/>
              </a:ext>
            </a:extLst>
          </p:cNvPr>
          <p:cNvSpPr>
            <a:spLocks noGrp="1"/>
          </p:cNvSpPr>
          <p:nvPr>
            <p:ph type="title"/>
          </p:nvPr>
        </p:nvSpPr>
        <p:spPr/>
        <p:txBody>
          <a:bodyPr/>
          <a:lstStyle/>
          <a:p>
            <a:r>
              <a:rPr lang="en-CA" dirty="0"/>
              <a:t>Borrower Segmentation Results</a:t>
            </a:r>
            <a:endParaRPr lang="en-US" dirty="0"/>
          </a:p>
        </p:txBody>
      </p:sp>
      <p:pic>
        <p:nvPicPr>
          <p:cNvPr id="7" name="Content Placeholder 6" descr="A diagram of a cluster of dots&#10;&#10;AI-generated content may be incorrect.">
            <a:extLst>
              <a:ext uri="{FF2B5EF4-FFF2-40B4-BE49-F238E27FC236}">
                <a16:creationId xmlns:a16="http://schemas.microsoft.com/office/drawing/2014/main" id="{7FC79F46-1E42-A834-49C6-8F898E9F0BB8}"/>
              </a:ext>
            </a:extLst>
          </p:cNvPr>
          <p:cNvPicPr>
            <a:picLocks noGrp="1" noChangeAspect="1"/>
          </p:cNvPicPr>
          <p:nvPr>
            <p:ph idx="1"/>
          </p:nvPr>
        </p:nvPicPr>
        <p:blipFill>
          <a:blip r:embed="rId3"/>
          <a:stretch>
            <a:fillRect/>
          </a:stretch>
        </p:blipFill>
        <p:spPr>
          <a:xfrm>
            <a:off x="1622323" y="1486412"/>
            <a:ext cx="7337442" cy="5782900"/>
          </a:xfrm>
          <a:prstGeom prst="rect">
            <a:avLst/>
          </a:prstGeom>
        </p:spPr>
      </p:pic>
      <p:sp>
        <p:nvSpPr>
          <p:cNvPr id="2" name="Slide Number Placeholder 1">
            <a:extLst>
              <a:ext uri="{FF2B5EF4-FFF2-40B4-BE49-F238E27FC236}">
                <a16:creationId xmlns:a16="http://schemas.microsoft.com/office/drawing/2014/main" id="{6EC5A228-0BB3-460B-97CB-3667DC43DFD4}"/>
              </a:ext>
            </a:extLst>
          </p:cNvPr>
          <p:cNvSpPr>
            <a:spLocks noGrp="1"/>
          </p:cNvSpPr>
          <p:nvPr>
            <p:ph type="sldNum" sz="quarter" idx="12"/>
          </p:nvPr>
        </p:nvSpPr>
        <p:spPr/>
        <p:txBody>
          <a:bodyPr/>
          <a:lstStyle/>
          <a:p>
            <a:fld id="{82EE24B5-652C-4DB5-B7C3-B5BBEC1280B1}" type="slidenum">
              <a:rPr lang="en-US" smtClean="0"/>
              <a:t>8</a:t>
            </a:fld>
            <a:endParaRPr lang="en-US" dirty="0"/>
          </a:p>
        </p:txBody>
      </p:sp>
      <p:sp>
        <p:nvSpPr>
          <p:cNvPr id="6" name="object 18" descr="Beige rectangle">
            <a:extLst>
              <a:ext uri="{FF2B5EF4-FFF2-40B4-BE49-F238E27FC236}">
                <a16:creationId xmlns:a16="http://schemas.microsoft.com/office/drawing/2014/main" id="{31A1F953-41C3-4B9E-9EA3-26087E184E71}"/>
              </a:ext>
            </a:extLst>
          </p:cNvPr>
          <p:cNvSpPr/>
          <p:nvPr/>
        </p:nvSpPr>
        <p:spPr>
          <a:xfrm>
            <a:off x="942535" y="1337304"/>
            <a:ext cx="3708000" cy="0"/>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2" name="TextBox 11">
            <a:extLst>
              <a:ext uri="{FF2B5EF4-FFF2-40B4-BE49-F238E27FC236}">
                <a16:creationId xmlns:a16="http://schemas.microsoft.com/office/drawing/2014/main" id="{4F0099E1-0C48-A8F3-C86F-E0758CCEAE15}"/>
              </a:ext>
            </a:extLst>
          </p:cNvPr>
          <p:cNvSpPr txBox="1"/>
          <p:nvPr/>
        </p:nvSpPr>
        <p:spPr>
          <a:xfrm>
            <a:off x="9137854" y="5713237"/>
            <a:ext cx="3054146" cy="523220"/>
          </a:xfrm>
          <a:prstGeom prst="rect">
            <a:avLst/>
          </a:prstGeom>
          <a:noFill/>
        </p:spPr>
        <p:txBody>
          <a:bodyPr wrap="square" rtlCol="0">
            <a:spAutoFit/>
          </a:bodyPr>
          <a:lstStyle/>
          <a:p>
            <a:r>
              <a:rPr lang="en-US" sz="1400" b="1" dirty="0"/>
              <a:t>Borrowers separate into distinct, interpretable risk segments.</a:t>
            </a:r>
            <a:endParaRPr lang="en-CA" sz="1400" b="1" dirty="0"/>
          </a:p>
        </p:txBody>
      </p:sp>
    </p:spTree>
    <p:extLst>
      <p:ext uri="{BB962C8B-B14F-4D97-AF65-F5344CB8AC3E}">
        <p14:creationId xmlns:p14="http://schemas.microsoft.com/office/powerpoint/2010/main" val="1617733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AI-generated content may be incorrect.">
            <a:extLst>
              <a:ext uri="{FF2B5EF4-FFF2-40B4-BE49-F238E27FC236}">
                <a16:creationId xmlns:a16="http://schemas.microsoft.com/office/drawing/2014/main" id="{A893CBF9-7161-9D19-4E8F-CEF588DED95A}"/>
              </a:ext>
            </a:extLst>
          </p:cNvPr>
          <p:cNvPicPr>
            <a:picLocks noGrp="1" noChangeAspect="1"/>
          </p:cNvPicPr>
          <p:nvPr>
            <p:ph idx="1"/>
          </p:nvPr>
        </p:nvPicPr>
        <p:blipFill>
          <a:blip r:embed="rId2"/>
          <a:srcRect b="443"/>
          <a:stretch>
            <a:fillRect/>
          </a:stretch>
        </p:blipFill>
        <p:spPr>
          <a:xfrm>
            <a:off x="20" y="10"/>
            <a:ext cx="12191980" cy="6857990"/>
          </a:xfrm>
          <a:prstGeom prst="rect">
            <a:avLst/>
          </a:prstGeom>
          <a:noFill/>
        </p:spPr>
      </p:pic>
      <p:sp>
        <p:nvSpPr>
          <p:cNvPr id="4" name="Slide Number Placeholder 3" hidden="1">
            <a:extLst>
              <a:ext uri="{FF2B5EF4-FFF2-40B4-BE49-F238E27FC236}">
                <a16:creationId xmlns:a16="http://schemas.microsoft.com/office/drawing/2014/main" id="{FF140146-C7BC-329F-2AAB-AF03B3711E00}"/>
              </a:ext>
            </a:extLst>
          </p:cNvPr>
          <p:cNvSpPr>
            <a:spLocks noGrp="1"/>
          </p:cNvSpPr>
          <p:nvPr>
            <p:ph type="sldNum" sz="quarter" idx="12"/>
          </p:nvPr>
        </p:nvSpPr>
        <p:spPr/>
        <p:txBody>
          <a:bodyPr/>
          <a:lstStyle/>
          <a:p>
            <a:pPr>
              <a:spcAft>
                <a:spcPts val="600"/>
              </a:spcAft>
            </a:pPr>
            <a:fld id="{82EE24B5-652C-4DB5-B7C3-B5BBEC1280B1}" type="slidenum">
              <a:rPr lang="en-US" smtClean="0"/>
              <a:pPr>
                <a:spcAft>
                  <a:spcPts val="600"/>
                </a:spcAft>
              </a:pPr>
              <a:t>9</a:t>
            </a:fld>
            <a:endParaRPr lang="en-US"/>
          </a:p>
        </p:txBody>
      </p:sp>
    </p:spTree>
    <p:extLst>
      <p:ext uri="{BB962C8B-B14F-4D97-AF65-F5344CB8AC3E}">
        <p14:creationId xmlns:p14="http://schemas.microsoft.com/office/powerpoint/2010/main" val="2230085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descr="Man talks by phone">
            <a:extLst>
              <a:ext uri="{FF2B5EF4-FFF2-40B4-BE49-F238E27FC236}">
                <a16:creationId xmlns:a16="http://schemas.microsoft.com/office/drawing/2014/main" id="{EA4A3639-F9B9-4B3D-896B-128B8F77FA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5" name="object 3" descr="Blue rectangle">
            <a:extLst>
              <a:ext uri="{FF2B5EF4-FFF2-40B4-BE49-F238E27FC236}">
                <a16:creationId xmlns:a16="http://schemas.microsoft.com/office/drawing/2014/main" id="{3544D2CA-9A07-47BD-B1E4-88366F5FCD45}"/>
              </a:ext>
            </a:extLst>
          </p:cNvPr>
          <p:cNvSpPr/>
          <p:nvPr/>
        </p:nvSpPr>
        <p:spPr>
          <a:xfrm>
            <a:off x="0" y="-1"/>
            <a:ext cx="121908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6" name="Oval 5" descr="Beige oval">
            <a:extLst>
              <a:ext uri="{FF2B5EF4-FFF2-40B4-BE49-F238E27FC236}">
                <a16:creationId xmlns:a16="http://schemas.microsoft.com/office/drawing/2014/main" id="{7F1F7E6E-09DB-407E-9D0A-1AACE7719624}"/>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60AF24A-ACB5-4319-9371-B0D71908A725}"/>
              </a:ext>
            </a:extLst>
          </p:cNvPr>
          <p:cNvSpPr>
            <a:spLocks noGrp="1"/>
          </p:cNvSpPr>
          <p:nvPr>
            <p:ph type="title"/>
          </p:nvPr>
        </p:nvSpPr>
        <p:spPr>
          <a:xfrm>
            <a:off x="838200" y="365125"/>
            <a:ext cx="4323735" cy="651040"/>
          </a:xfrm>
        </p:spPr>
        <p:txBody>
          <a:bodyPr>
            <a:normAutofit/>
          </a:bodyPr>
          <a:lstStyle/>
          <a:p>
            <a:r>
              <a:rPr lang="en-US" sz="1800" dirty="0">
                <a:solidFill>
                  <a:schemeClr val="bg1"/>
                </a:solidFill>
              </a:rPr>
              <a:t>Key Findings</a:t>
            </a:r>
          </a:p>
        </p:txBody>
      </p:sp>
      <p:sp>
        <p:nvSpPr>
          <p:cNvPr id="3" name="Slide Number Placeholder 2">
            <a:extLst>
              <a:ext uri="{FF2B5EF4-FFF2-40B4-BE49-F238E27FC236}">
                <a16:creationId xmlns:a16="http://schemas.microsoft.com/office/drawing/2014/main" id="{549181BA-BE91-4062-B6BE-B8C10EBD587B}"/>
              </a:ext>
            </a:extLst>
          </p:cNvPr>
          <p:cNvSpPr>
            <a:spLocks noGrp="1"/>
          </p:cNvSpPr>
          <p:nvPr>
            <p:ph type="sldNum" sz="quarter" idx="12"/>
          </p:nvPr>
        </p:nvSpPr>
        <p:spPr/>
        <p:txBody>
          <a:bodyPr/>
          <a:lstStyle/>
          <a:p>
            <a:fld id="{82EE24B5-652C-4DB5-B7C3-B5BBEC1280B1}" type="slidenum">
              <a:rPr lang="en-US" smtClean="0"/>
              <a:t>10</a:t>
            </a:fld>
            <a:endParaRPr lang="en-US" dirty="0"/>
          </a:p>
        </p:txBody>
      </p:sp>
      <p:sp>
        <p:nvSpPr>
          <p:cNvPr id="9" name="object 18" descr="Beige rectangle">
            <a:extLst>
              <a:ext uri="{FF2B5EF4-FFF2-40B4-BE49-F238E27FC236}">
                <a16:creationId xmlns:a16="http://schemas.microsoft.com/office/drawing/2014/main" id="{2D844B0B-BA7B-4E53-BCA1-628F65C6A4CA}"/>
              </a:ext>
            </a:extLst>
          </p:cNvPr>
          <p:cNvSpPr/>
          <p:nvPr/>
        </p:nvSpPr>
        <p:spPr>
          <a:xfrm flipV="1">
            <a:off x="838199" y="798068"/>
            <a:ext cx="3366000" cy="45719"/>
          </a:xfrm>
          <a:custGeom>
            <a:avLst/>
            <a:gdLst/>
            <a:ahLst/>
            <a:cxnLst/>
            <a:rect l="l" t="t" r="r" b="b"/>
            <a:pathLst>
              <a:path w="3218815">
                <a:moveTo>
                  <a:pt x="0" y="0"/>
                </a:moveTo>
                <a:lnTo>
                  <a:pt x="3218395" y="0"/>
                </a:lnTo>
              </a:path>
            </a:pathLst>
          </a:custGeom>
          <a:ln w="54863">
            <a:solidFill>
              <a:schemeClr val="accent1"/>
            </a:solidFill>
          </a:ln>
        </p:spPr>
        <p:txBody>
          <a:bodyPr wrap="square" lIns="0" tIns="0" rIns="0" bIns="0" rtlCol="0"/>
          <a:lstStyle/>
          <a:p>
            <a:endParaRPr lang="en-US" dirty="0"/>
          </a:p>
        </p:txBody>
      </p:sp>
      <p:sp>
        <p:nvSpPr>
          <p:cNvPr id="11" name="Rectangle 4">
            <a:extLst>
              <a:ext uri="{FF2B5EF4-FFF2-40B4-BE49-F238E27FC236}">
                <a16:creationId xmlns:a16="http://schemas.microsoft.com/office/drawing/2014/main" id="{76CEEC18-30A1-549F-40FD-B5882F8AAD21}"/>
              </a:ext>
            </a:extLst>
          </p:cNvPr>
          <p:cNvSpPr>
            <a:spLocks noGrp="1" noChangeArrowheads="1"/>
          </p:cNvSpPr>
          <p:nvPr>
            <p:ph idx="1"/>
          </p:nvPr>
        </p:nvSpPr>
        <p:spPr bwMode="auto">
          <a:xfrm>
            <a:off x="487680" y="1360416"/>
            <a:ext cx="942441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Default risk is not evenly distributed across the portfolio</a:t>
            </a:r>
            <a:r>
              <a:rPr kumimoji="0" lang="en-US" altLang="en-US" sz="1800" b="0" i="0" u="none" strike="noStrike" cap="none" normalizeH="0" baseline="0" dirty="0">
                <a:ln>
                  <a:noFill/>
                </a:ln>
                <a:solidFill>
                  <a:schemeClr val="bg1"/>
                </a:solidFill>
                <a:effectLst/>
                <a:latin typeface="Arial" panose="020B0604020202020204" pitchFamily="34" charset="0"/>
              </a:rPr>
              <a:t>, with a small borrower segment accounting for a disproportionate share of total defaults, indicating meaningful risk concentration.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Borrower leverage is a primary driver of default behavior</a:t>
            </a:r>
            <a:r>
              <a:rPr kumimoji="0" lang="en-US" altLang="en-US" sz="1800" b="0" i="0" u="none" strike="noStrike" cap="none" normalizeH="0" baseline="0" dirty="0">
                <a:ln>
                  <a:noFill/>
                </a:ln>
                <a:solidFill>
                  <a:schemeClr val="bg1"/>
                </a:solidFill>
                <a:effectLst/>
                <a:latin typeface="Arial" panose="020B0604020202020204" pitchFamily="34" charset="0"/>
              </a:rPr>
              <a:t>, as default rates increase materially at higher debt-to-income levels.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Longer-term loan products (60-month terms) contribute disproportionately to default exposure</a:t>
            </a:r>
            <a:r>
              <a:rPr kumimoji="0" lang="en-US" altLang="en-US" sz="1800" b="0" i="0" u="none" strike="noStrike" cap="none" normalizeH="0" baseline="0" dirty="0">
                <a:ln>
                  <a:noFill/>
                </a:ln>
                <a:solidFill>
                  <a:schemeClr val="bg1"/>
                </a:solidFill>
                <a:effectLst/>
                <a:latin typeface="Arial" panose="020B0604020202020204" pitchFamily="34" charset="0"/>
              </a:rPr>
              <a:t>, exhibiting materially higher default rates than shorter-term loans despite higher pricing.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Observed underwriting outcomes are directionally effective</a:t>
            </a:r>
            <a:r>
              <a:rPr kumimoji="0" lang="en-US" altLang="en-US" sz="1800" b="0" i="0" u="none" strike="noStrike" cap="none" normalizeH="0" baseline="0" dirty="0">
                <a:ln>
                  <a:noFill/>
                </a:ln>
                <a:solidFill>
                  <a:schemeClr val="bg1"/>
                </a:solidFill>
                <a:effectLst/>
                <a:latin typeface="Arial" panose="020B0604020202020204" pitchFamily="34" charset="0"/>
              </a:rPr>
              <a:t>, as rejected applicants display weaker employment stability relative to accepted borrowers</a:t>
            </a:r>
          </a:p>
        </p:txBody>
      </p:sp>
    </p:spTree>
    <p:extLst>
      <p:ext uri="{BB962C8B-B14F-4D97-AF65-F5344CB8AC3E}">
        <p14:creationId xmlns:p14="http://schemas.microsoft.com/office/powerpoint/2010/main" val="3644704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Two men look at a plan">
            <a:extLst>
              <a:ext uri="{FF2B5EF4-FFF2-40B4-BE49-F238E27FC236}">
                <a16:creationId xmlns:a16="http://schemas.microsoft.com/office/drawing/2014/main" id="{97D2A81D-F7D1-4144-9EC5-03531DC5260D}"/>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tretch>
            <a:fillRect/>
          </a:stretch>
        </p:blipFill>
        <p:spPr>
          <a:xfrm>
            <a:off x="912813" y="1"/>
            <a:ext cx="11277598" cy="6857999"/>
          </a:xfrm>
        </p:spPr>
      </p:pic>
      <p:sp>
        <p:nvSpPr>
          <p:cNvPr id="16" name="object 3" descr="Beige rectangle">
            <a:extLst>
              <a:ext uri="{FF2B5EF4-FFF2-40B4-BE49-F238E27FC236}">
                <a16:creationId xmlns:a16="http://schemas.microsoft.com/office/drawing/2014/main" id="{C6CF32E2-A869-4259-A659-5EEE6BDA3B59}"/>
              </a:ext>
            </a:extLst>
          </p:cNvPr>
          <p:cNvSpPr/>
          <p:nvPr/>
        </p:nvSpPr>
        <p:spPr>
          <a:xfrm>
            <a:off x="803336" y="616609"/>
            <a:ext cx="4051368" cy="5913017"/>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endParaRPr lang="en-US" dirty="0"/>
          </a:p>
        </p:txBody>
      </p:sp>
      <p:sp>
        <p:nvSpPr>
          <p:cNvPr id="14" name="Oval 13" descr="Beige oval">
            <a:extLst>
              <a:ext uri="{FF2B5EF4-FFF2-40B4-BE49-F238E27FC236}">
                <a16:creationId xmlns:a16="http://schemas.microsoft.com/office/drawing/2014/main" id="{B8809DE3-0F1D-442A-8935-B40AD580864B}"/>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bject 6" descr="Blue rectangle">
            <a:extLst>
              <a:ext uri="{FF2B5EF4-FFF2-40B4-BE49-F238E27FC236}">
                <a16:creationId xmlns:a16="http://schemas.microsoft.com/office/drawing/2014/main" id="{882E2F92-EB16-4B55-B49A-3C6AB7B2BF30}"/>
              </a:ext>
            </a:extLst>
          </p:cNvPr>
          <p:cNvSpPr/>
          <p:nvPr/>
        </p:nvSpPr>
        <p:spPr>
          <a:xfrm>
            <a:off x="894311" y="836612"/>
            <a:ext cx="5184775" cy="5184775"/>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3" name="Title 2">
            <a:extLst>
              <a:ext uri="{FF2B5EF4-FFF2-40B4-BE49-F238E27FC236}">
                <a16:creationId xmlns:a16="http://schemas.microsoft.com/office/drawing/2014/main" id="{302303BC-9A39-470F-8733-A268BC16B299}"/>
              </a:ext>
            </a:extLst>
          </p:cNvPr>
          <p:cNvSpPr>
            <a:spLocks noGrp="1"/>
          </p:cNvSpPr>
          <p:nvPr>
            <p:ph type="title"/>
          </p:nvPr>
        </p:nvSpPr>
        <p:spPr>
          <a:xfrm>
            <a:off x="1379723" y="1547533"/>
            <a:ext cx="4125662" cy="847733"/>
          </a:xfrm>
        </p:spPr>
        <p:txBody>
          <a:bodyPr>
            <a:normAutofit fontScale="90000"/>
          </a:bodyPr>
          <a:lstStyle/>
          <a:p>
            <a:r>
              <a:rPr lang="en-CA" sz="2800" dirty="0">
                <a:solidFill>
                  <a:schemeClr val="bg1"/>
                </a:solidFill>
              </a:rPr>
              <a:t>Limitations &amp; Governance</a:t>
            </a:r>
            <a:endParaRPr lang="en-US" sz="3000" dirty="0">
              <a:solidFill>
                <a:schemeClr val="bg1"/>
              </a:solidFill>
            </a:endParaRPr>
          </a:p>
        </p:txBody>
      </p:sp>
      <p:sp>
        <p:nvSpPr>
          <p:cNvPr id="5" name="Slide Number Placeholder 4">
            <a:extLst>
              <a:ext uri="{FF2B5EF4-FFF2-40B4-BE49-F238E27FC236}">
                <a16:creationId xmlns:a16="http://schemas.microsoft.com/office/drawing/2014/main" id="{77C2D5CA-E2DA-4224-B2BC-C872D2EF6596}"/>
              </a:ext>
            </a:extLst>
          </p:cNvPr>
          <p:cNvSpPr>
            <a:spLocks noGrp="1"/>
          </p:cNvSpPr>
          <p:nvPr>
            <p:ph type="sldNum" sz="quarter" idx="12"/>
          </p:nvPr>
        </p:nvSpPr>
        <p:spPr/>
        <p:txBody>
          <a:bodyPr/>
          <a:lstStyle/>
          <a:p>
            <a:fld id="{82EE24B5-652C-4DB5-B7C3-B5BBEC1280B1}" type="slidenum">
              <a:rPr lang="en-US" smtClean="0"/>
              <a:t>11</a:t>
            </a:fld>
            <a:endParaRPr lang="en-US" dirty="0"/>
          </a:p>
        </p:txBody>
      </p:sp>
      <p:sp>
        <p:nvSpPr>
          <p:cNvPr id="15" name="object 27" descr="Beige rectangle">
            <a:extLst>
              <a:ext uri="{FF2B5EF4-FFF2-40B4-BE49-F238E27FC236}">
                <a16:creationId xmlns:a16="http://schemas.microsoft.com/office/drawing/2014/main" id="{C5B67D68-F2A3-48A2-B2A0-C9DF8BA55D80}"/>
              </a:ext>
            </a:extLst>
          </p:cNvPr>
          <p:cNvSpPr/>
          <p:nvPr/>
        </p:nvSpPr>
        <p:spPr>
          <a:xfrm flipV="1">
            <a:off x="1473385" y="2395266"/>
            <a:ext cx="4032000" cy="75489"/>
          </a:xfrm>
          <a:custGeom>
            <a:avLst/>
            <a:gdLst/>
            <a:ahLst/>
            <a:cxnLst/>
            <a:rect l="l" t="t" r="r" b="b"/>
            <a:pathLst>
              <a:path w="2501265">
                <a:moveTo>
                  <a:pt x="0" y="0"/>
                </a:moveTo>
                <a:lnTo>
                  <a:pt x="2500883" y="0"/>
                </a:lnTo>
              </a:path>
            </a:pathLst>
          </a:custGeom>
          <a:ln w="54863">
            <a:solidFill>
              <a:schemeClr val="accent1"/>
            </a:solidFill>
          </a:ln>
        </p:spPr>
        <p:txBody>
          <a:bodyPr wrap="square" lIns="0" tIns="0" rIns="0" bIns="0" rtlCol="0"/>
          <a:lstStyle/>
          <a:p>
            <a:endParaRPr lang="en-US" dirty="0"/>
          </a:p>
        </p:txBody>
      </p:sp>
      <p:sp>
        <p:nvSpPr>
          <p:cNvPr id="11" name="Rectangle 1">
            <a:extLst>
              <a:ext uri="{FF2B5EF4-FFF2-40B4-BE49-F238E27FC236}">
                <a16:creationId xmlns:a16="http://schemas.microsoft.com/office/drawing/2014/main" id="{B684F90B-E1DB-99E9-914B-5A2C924D4D88}"/>
              </a:ext>
            </a:extLst>
          </p:cNvPr>
          <p:cNvSpPr>
            <a:spLocks noGrp="1" noChangeArrowheads="1"/>
          </p:cNvSpPr>
          <p:nvPr>
            <p:ph type="body" sz="half" idx="2"/>
          </p:nvPr>
        </p:nvSpPr>
        <p:spPr bwMode="auto">
          <a:xfrm>
            <a:off x="1583530" y="2781731"/>
            <a:ext cx="3718047" cy="237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Rejected applicants lack complete financial ratios due to early-stage screening</a:t>
            </a:r>
          </a:p>
          <a:p>
            <a:r>
              <a:rPr lang="en-US" sz="1800" dirty="0"/>
              <a:t>Analysis reflects historical borrower behavior</a:t>
            </a:r>
          </a:p>
          <a:p>
            <a:r>
              <a:rPr lang="en-US" sz="1800" dirty="0"/>
              <a:t>Results are observational and do not imply causality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4039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4379-12DC-488A-96E2-264D244A381B}"/>
              </a:ext>
            </a:extLst>
          </p:cNvPr>
          <p:cNvSpPr>
            <a:spLocks noGrp="1"/>
          </p:cNvSpPr>
          <p:nvPr>
            <p:ph type="title"/>
          </p:nvPr>
        </p:nvSpPr>
        <p:spPr>
          <a:xfrm>
            <a:off x="650186" y="188912"/>
            <a:ext cx="3932237" cy="1600200"/>
          </a:xfrm>
        </p:spPr>
        <p:txBody>
          <a:bodyPr/>
          <a:lstStyle/>
          <a:p>
            <a:r>
              <a:rPr lang="en-CA" dirty="0"/>
              <a:t>Conclusion</a:t>
            </a:r>
            <a:endParaRPr lang="en-US" dirty="0"/>
          </a:p>
        </p:txBody>
      </p:sp>
      <p:pic>
        <p:nvPicPr>
          <p:cNvPr id="16" name="Picture Placeholder 15" descr="Group of people">
            <a:extLst>
              <a:ext uri="{FF2B5EF4-FFF2-40B4-BE49-F238E27FC236}">
                <a16:creationId xmlns:a16="http://schemas.microsoft.com/office/drawing/2014/main" id="{48FA199D-A4E2-45BF-978A-675A900780A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p:blipFill>
        <p:spPr>
          <a:xfrm>
            <a:off x="7526581" y="2580405"/>
            <a:ext cx="4377288" cy="1988421"/>
          </a:xfrm>
        </p:spPr>
      </p:pic>
      <p:sp>
        <p:nvSpPr>
          <p:cNvPr id="3" name="Text Placeholder 2">
            <a:extLst>
              <a:ext uri="{FF2B5EF4-FFF2-40B4-BE49-F238E27FC236}">
                <a16:creationId xmlns:a16="http://schemas.microsoft.com/office/drawing/2014/main" id="{18397F9A-0355-4091-BDD7-5C578348C1FB}"/>
              </a:ext>
            </a:extLst>
          </p:cNvPr>
          <p:cNvSpPr>
            <a:spLocks noGrp="1"/>
          </p:cNvSpPr>
          <p:nvPr>
            <p:ph type="body" sz="half" idx="2"/>
          </p:nvPr>
        </p:nvSpPr>
        <p:spPr/>
        <p:txBody>
          <a:bodyPr>
            <a:normAutofit/>
          </a:bodyPr>
          <a:lstStyle/>
          <a:p>
            <a:pPr>
              <a:lnSpc>
                <a:spcPct val="110000"/>
              </a:lnSpc>
              <a:spcBef>
                <a:spcPts val="400"/>
              </a:spcBef>
            </a:pPr>
            <a:r>
              <a:rPr lang="en-US" sz="2200" b="1" dirty="0">
                <a:solidFill>
                  <a:schemeClr val="bg1"/>
                </a:solidFill>
                <a:latin typeface="+mj-lt"/>
              </a:rPr>
              <a:t>Heading 1</a:t>
            </a:r>
          </a:p>
          <a:p>
            <a:pPr>
              <a:spcBef>
                <a:spcPts val="400"/>
              </a:spcBef>
            </a:pPr>
            <a:r>
              <a:rPr lang="en-US" sz="1500" i="1" spc="-15" dirty="0">
                <a:solidFill>
                  <a:schemeClr val="bg2">
                    <a:lumMod val="20000"/>
                    <a:lumOff val="80000"/>
                  </a:schemeClr>
                </a:solidFill>
                <a:cs typeface="Arial"/>
              </a:rPr>
              <a:t>Lorem ipsum dolor sit amet, consectetur adipiscing elit. Etiam aliquet eu mi quis lacinia.  Ut fermentum a magna ut eleifend. </a:t>
            </a:r>
          </a:p>
        </p:txBody>
      </p:sp>
      <p:sp>
        <p:nvSpPr>
          <p:cNvPr id="4" name="Slide Number Placeholder 3">
            <a:extLst>
              <a:ext uri="{FF2B5EF4-FFF2-40B4-BE49-F238E27FC236}">
                <a16:creationId xmlns:a16="http://schemas.microsoft.com/office/drawing/2014/main" id="{1330DBC9-EEFC-416D-BFAD-DB6D1A9E8CB2}"/>
              </a:ext>
            </a:extLst>
          </p:cNvPr>
          <p:cNvSpPr>
            <a:spLocks noGrp="1"/>
          </p:cNvSpPr>
          <p:nvPr>
            <p:ph type="sldNum" sz="quarter" idx="12"/>
          </p:nvPr>
        </p:nvSpPr>
        <p:spPr/>
        <p:txBody>
          <a:bodyPr/>
          <a:lstStyle/>
          <a:p>
            <a:fld id="{82EE24B5-652C-4DB5-B7C3-B5BBEC1280B1}" type="slidenum">
              <a:rPr lang="en-US" smtClean="0"/>
              <a:t>12</a:t>
            </a:fld>
            <a:endParaRPr lang="en-US" dirty="0"/>
          </a:p>
        </p:txBody>
      </p:sp>
      <p:pic>
        <p:nvPicPr>
          <p:cNvPr id="11" name="Picture Placeholder 14" descr="Check icon">
            <a:extLst>
              <a:ext uri="{FF2B5EF4-FFF2-40B4-BE49-F238E27FC236}">
                <a16:creationId xmlns:a16="http://schemas.microsoft.com/office/drawing/2014/main" id="{380A2BFD-1794-4338-8BAC-66A30B88D033}"/>
              </a:ext>
            </a:extLst>
          </p:cNvPr>
          <p:cNvPicPr>
            <a:picLocks noGrp="1" noChangeAspect="1"/>
          </p:cNvPicPr>
          <p:nvPr>
            <p:ph type="pic" sz="quarter" idx="4294967295"/>
          </p:nvPr>
        </p:nvPicPr>
        <p:blipFill>
          <a:blip r:embed="rId4">
            <a:extLst>
              <a:ext uri="{28A0092B-C50C-407E-A947-70E740481C1C}">
                <a14:useLocalDpi xmlns:a14="http://schemas.microsoft.com/office/drawing/2010/main" val="0"/>
              </a:ext>
            </a:extLst>
          </a:blip>
          <a:srcRect/>
          <a:stretch>
            <a:fillRect/>
          </a:stretch>
        </p:blipFill>
        <p:spPr>
          <a:xfrm>
            <a:off x="11615738" y="1714500"/>
            <a:ext cx="576262" cy="574675"/>
          </a:xfrm>
        </p:spPr>
      </p:pic>
      <p:pic>
        <p:nvPicPr>
          <p:cNvPr id="12" name="Picture Placeholder 16" descr="Check icon">
            <a:extLst>
              <a:ext uri="{FF2B5EF4-FFF2-40B4-BE49-F238E27FC236}">
                <a16:creationId xmlns:a16="http://schemas.microsoft.com/office/drawing/2014/main" id="{AC1F4E71-E6F8-490B-A9E9-61DC2025EBEE}"/>
              </a:ext>
            </a:extLst>
          </p:cNvPr>
          <p:cNvPicPr>
            <a:picLocks noGrp="1" noChangeAspect="1"/>
          </p:cNvPicPr>
          <p:nvPr>
            <p:ph type="pic" sz="quarter" idx="4294967295"/>
          </p:nvPr>
        </p:nvPicPr>
        <p:blipFill>
          <a:blip r:embed="rId4">
            <a:extLst>
              <a:ext uri="{28A0092B-C50C-407E-A947-70E740481C1C}">
                <a14:useLocalDpi xmlns:a14="http://schemas.microsoft.com/office/drawing/2010/main" val="0"/>
              </a:ext>
            </a:extLst>
          </a:blip>
          <a:srcRect/>
          <a:stretch>
            <a:fillRect/>
          </a:stretch>
        </p:blipFill>
        <p:spPr>
          <a:xfrm>
            <a:off x="11615738" y="2947988"/>
            <a:ext cx="576262" cy="576262"/>
          </a:xfrm>
        </p:spPr>
      </p:pic>
      <p:pic>
        <p:nvPicPr>
          <p:cNvPr id="13" name="Picture Placeholder 18" descr="Check icon">
            <a:extLst>
              <a:ext uri="{FF2B5EF4-FFF2-40B4-BE49-F238E27FC236}">
                <a16:creationId xmlns:a16="http://schemas.microsoft.com/office/drawing/2014/main" id="{138322BF-F85B-4C19-9968-C0582151091B}"/>
              </a:ext>
            </a:extLst>
          </p:cNvPr>
          <p:cNvPicPr>
            <a:picLocks noGrp="1" noChangeAspect="1"/>
          </p:cNvPicPr>
          <p:nvPr>
            <p:ph type="pic" sz="quarter" idx="4294967295"/>
          </p:nvPr>
        </p:nvPicPr>
        <p:blipFill>
          <a:blip r:embed="rId4">
            <a:extLst>
              <a:ext uri="{28A0092B-C50C-407E-A947-70E740481C1C}">
                <a14:useLocalDpi xmlns:a14="http://schemas.microsoft.com/office/drawing/2010/main" val="0"/>
              </a:ext>
            </a:extLst>
          </a:blip>
          <a:srcRect/>
          <a:stretch>
            <a:fillRect/>
          </a:stretch>
        </p:blipFill>
        <p:spPr>
          <a:xfrm>
            <a:off x="11615738" y="4557713"/>
            <a:ext cx="576262" cy="576262"/>
          </a:xfrm>
        </p:spPr>
      </p:pic>
      <p:sp>
        <p:nvSpPr>
          <p:cNvPr id="14" name="object 13" descr="Beige rectangle">
            <a:extLst>
              <a:ext uri="{FF2B5EF4-FFF2-40B4-BE49-F238E27FC236}">
                <a16:creationId xmlns:a16="http://schemas.microsoft.com/office/drawing/2014/main" id="{FEBB8673-0A72-4C5C-8239-7EF600504010}"/>
              </a:ext>
            </a:extLst>
          </p:cNvPr>
          <p:cNvSpPr/>
          <p:nvPr/>
        </p:nvSpPr>
        <p:spPr>
          <a:xfrm>
            <a:off x="428960" y="1789112"/>
            <a:ext cx="3096000" cy="0"/>
          </a:xfrm>
          <a:custGeom>
            <a:avLst/>
            <a:gdLst/>
            <a:ahLst/>
            <a:cxnLst/>
            <a:rect l="l" t="t" r="r" b="b"/>
            <a:pathLst>
              <a:path w="2694304">
                <a:moveTo>
                  <a:pt x="0" y="0"/>
                </a:moveTo>
                <a:lnTo>
                  <a:pt x="2694127" y="0"/>
                </a:lnTo>
              </a:path>
            </a:pathLst>
          </a:custGeom>
          <a:ln w="54863">
            <a:solidFill>
              <a:schemeClr val="accent1"/>
            </a:solidFill>
          </a:ln>
        </p:spPr>
        <p:txBody>
          <a:bodyPr wrap="square" lIns="0" tIns="0" rIns="0" bIns="0" rtlCol="0"/>
          <a:lstStyle/>
          <a:p>
            <a:endParaRPr lang="en-US" dirty="0"/>
          </a:p>
        </p:txBody>
      </p:sp>
      <p:sp>
        <p:nvSpPr>
          <p:cNvPr id="5" name="TextBox 4">
            <a:extLst>
              <a:ext uri="{FF2B5EF4-FFF2-40B4-BE49-F238E27FC236}">
                <a16:creationId xmlns:a16="http://schemas.microsoft.com/office/drawing/2014/main" id="{A96FABA1-46C4-E9AB-02E8-B085EC1FEE02}"/>
              </a:ext>
            </a:extLst>
          </p:cNvPr>
          <p:cNvSpPr txBox="1"/>
          <p:nvPr/>
        </p:nvSpPr>
        <p:spPr>
          <a:xfrm>
            <a:off x="358931" y="1986833"/>
            <a:ext cx="6605044" cy="2062103"/>
          </a:xfrm>
          <a:prstGeom prst="rect">
            <a:avLst/>
          </a:prstGeom>
          <a:noFill/>
        </p:spPr>
        <p:txBody>
          <a:bodyPr wrap="square" rtlCol="0">
            <a:spAutoFit/>
          </a:bodyPr>
          <a:lstStyle/>
          <a:p>
            <a:r>
              <a:rPr lang="en-US" sz="1600" dirty="0"/>
              <a:t>This analysis demonstrates that consumer credit risk is concentrated within specific borrower segments rather than evenly distributed across the portfolio. By combining borrower risk segmentation with portfolio-level financial analysis, the dashboard highlights where default exposure resides and the key factors driving risk outcomes. </a:t>
            </a:r>
            <a:r>
              <a:rPr lang="en-US" sz="1600"/>
              <a:t>These insights support stronger risk-based pricing, improved portfolio monitoring, and more effective underwriting governance through data-driven oversight.</a:t>
            </a:r>
            <a:endParaRPr lang="en-US" sz="1600" dirty="0"/>
          </a:p>
        </p:txBody>
      </p:sp>
    </p:spTree>
    <p:extLst>
      <p:ext uri="{BB962C8B-B14F-4D97-AF65-F5344CB8AC3E}">
        <p14:creationId xmlns:p14="http://schemas.microsoft.com/office/powerpoint/2010/main" val="2096756271"/>
      </p:ext>
    </p:extLst>
  </p:cSld>
  <p:clrMapOvr>
    <a:masterClrMapping/>
  </p:clrMapOvr>
</p:sld>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45022061_Professional services marketing plan_SL_V1" id="{B214D568-CC3C-4109-877A-D7A12976D35F}" vid="{D425069E-A49A-4A86-9A62-1864F0635A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DDA16B-F3AC-4A5B-9F5F-6F5A8F47A9E6}">
  <ds:schemaRefs>
    <ds:schemaRef ds:uri="http://schemas.microsoft.com/sharepoint/v3/contenttype/forms"/>
  </ds:schemaRefs>
</ds:datastoreItem>
</file>

<file path=customXml/itemProps3.xml><?xml version="1.0" encoding="utf-8"?>
<ds:datastoreItem xmlns:ds="http://schemas.openxmlformats.org/officeDocument/2006/customXml" ds:itemID="{3C118CE8-9293-4220-BA3B-5D353B13ABC9}">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Professional services marketing plan</Template>
  <TotalTime>6667</TotalTime>
  <Words>637</Words>
  <Application>Microsoft Office PowerPoint</Application>
  <PresentationFormat>Widescreen</PresentationFormat>
  <Paragraphs>91</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vt:lpstr>
      <vt:lpstr>Calibri</vt:lpstr>
      <vt:lpstr>Gill Sans MT</vt:lpstr>
      <vt:lpstr>Office Theme</vt:lpstr>
      <vt:lpstr>Consumer Credit Risk &amp; Borrower Segmentation Analysis </vt:lpstr>
      <vt:lpstr>INTRODUCTION</vt:lpstr>
      <vt:lpstr>Business Context (5W1H )</vt:lpstr>
      <vt:lpstr>Business Questions</vt:lpstr>
      <vt:lpstr>CONCEPTUAL MODEL</vt:lpstr>
      <vt:lpstr>Data Overview</vt:lpstr>
      <vt:lpstr>Methodology Overview</vt:lpstr>
      <vt:lpstr>Borrower Segmentation Results</vt:lpstr>
      <vt:lpstr>PowerPoint Presentation</vt:lpstr>
      <vt:lpstr>Key Findings</vt:lpstr>
      <vt:lpstr>Limitations &amp; Governance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Adebukola Aina</dc:creator>
  <cp:lastModifiedBy>Adebukola Aina</cp:lastModifiedBy>
  <cp:revision>5</cp:revision>
  <dcterms:created xsi:type="dcterms:W3CDTF">2025-12-31T05:20:40Z</dcterms:created>
  <dcterms:modified xsi:type="dcterms:W3CDTF">2026-01-08T04:47:45Z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