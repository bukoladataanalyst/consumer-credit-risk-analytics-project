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19"/>
  </p:notesMasterIdLst>
  <p:handoutMasterIdLst>
    <p:handoutMasterId r:id="rId20"/>
  </p:handoutMasterIdLst>
  <p:sldIdLst>
    <p:sldId id="289" r:id="rId5"/>
    <p:sldId id="286" r:id="rId6"/>
    <p:sldId id="280" r:id="rId7"/>
    <p:sldId id="300" r:id="rId8"/>
    <p:sldId id="291" r:id="rId9"/>
    <p:sldId id="273" r:id="rId10"/>
    <p:sldId id="296" r:id="rId11"/>
    <p:sldId id="264" r:id="rId12"/>
    <p:sldId id="297" r:id="rId13"/>
    <p:sldId id="298" r:id="rId14"/>
    <p:sldId id="299" r:id="rId15"/>
    <p:sldId id="293" r:id="rId16"/>
    <p:sldId id="281" r:id="rId17"/>
    <p:sldId id="27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13" orient="horz" pos="216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3"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0A2"/>
    <a:srgbClr val="404040"/>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94670"/>
  </p:normalViewPr>
  <p:slideViewPr>
    <p:cSldViewPr snapToGrid="0">
      <p:cViewPr varScale="1">
        <p:scale>
          <a:sx n="65" d="100"/>
          <a:sy n="65" d="100"/>
        </p:scale>
        <p:origin x="936" y="78"/>
      </p:cViewPr>
      <p:guideLst>
        <p:guide pos="3840"/>
        <p:guide orient="horz" pos="2160"/>
      </p:guideLst>
    </p:cSldViewPr>
  </p:slid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3D6640C-F6A0-4351-856B-14836F234E6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C280B7B-2795-4857-B84E-9C600536AE0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B120AE1-5DBC-4417-A73B-5F29B67C532C}" type="datetimeFigureOut">
              <a:rPr lang="en-US" smtClean="0"/>
              <a:t>12/30/2025</a:t>
            </a:fld>
            <a:endParaRPr lang="en-US" dirty="0"/>
          </a:p>
        </p:txBody>
      </p:sp>
      <p:sp>
        <p:nvSpPr>
          <p:cNvPr id="4" name="Footer Placeholder 3">
            <a:extLst>
              <a:ext uri="{FF2B5EF4-FFF2-40B4-BE49-F238E27FC236}">
                <a16:creationId xmlns:a16="http://schemas.microsoft.com/office/drawing/2014/main" id="{96C3ACD6-6E00-4BE1-A684-34A6BD202E3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A7F20A5-CEF2-4B11-A0A4-0F4BC0BD647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C822411-A9A9-4A09-A341-69C657AB42A1}" type="slidenum">
              <a:rPr lang="en-US" smtClean="0"/>
              <a:t>‹#›</a:t>
            </a:fld>
            <a:endParaRPr lang="en-US" dirty="0"/>
          </a:p>
        </p:txBody>
      </p:sp>
    </p:spTree>
    <p:extLst>
      <p:ext uri="{BB962C8B-B14F-4D97-AF65-F5344CB8AC3E}">
        <p14:creationId xmlns:p14="http://schemas.microsoft.com/office/powerpoint/2010/main" val="6558888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16A9CD-5E57-4C86-B862-09CA519924BA}" type="datetimeFigureOut">
              <a:rPr lang="en-US" smtClean="0"/>
              <a:t>12/30/2025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A004F4-F240-48F9-8AE1-486585C7F00D}" type="slidenum">
              <a:rPr lang="en-US" smtClean="0"/>
              <a:t>‹#›</a:t>
            </a:fld>
            <a:endParaRPr lang="en-US" dirty="0"/>
          </a:p>
        </p:txBody>
      </p:sp>
    </p:spTree>
    <p:extLst>
      <p:ext uri="{BB962C8B-B14F-4D97-AF65-F5344CB8AC3E}">
        <p14:creationId xmlns:p14="http://schemas.microsoft.com/office/powerpoint/2010/main" val="21548810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A004F4-F240-48F9-8AE1-486585C7F00D}" type="slidenum">
              <a:rPr lang="en-US" smtClean="0"/>
              <a:t>1</a:t>
            </a:fld>
            <a:endParaRPr lang="en-US" dirty="0"/>
          </a:p>
        </p:txBody>
      </p:sp>
    </p:spTree>
    <p:extLst>
      <p:ext uri="{BB962C8B-B14F-4D97-AF65-F5344CB8AC3E}">
        <p14:creationId xmlns:p14="http://schemas.microsoft.com/office/powerpoint/2010/main" val="31401704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A004F4-F240-48F9-8AE1-486585C7F00D}" type="slidenum">
              <a:rPr lang="en-US" smtClean="0"/>
              <a:t>2</a:t>
            </a:fld>
            <a:endParaRPr lang="en-US" dirty="0"/>
          </a:p>
        </p:txBody>
      </p:sp>
    </p:spTree>
    <p:extLst>
      <p:ext uri="{BB962C8B-B14F-4D97-AF65-F5344CB8AC3E}">
        <p14:creationId xmlns:p14="http://schemas.microsoft.com/office/powerpoint/2010/main" val="52849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A004F4-F240-48F9-8AE1-486585C7F00D}" type="slidenum">
              <a:rPr lang="en-US" smtClean="0"/>
              <a:t>3</a:t>
            </a:fld>
            <a:endParaRPr lang="en-US" dirty="0"/>
          </a:p>
        </p:txBody>
      </p:sp>
    </p:spTree>
    <p:extLst>
      <p:ext uri="{BB962C8B-B14F-4D97-AF65-F5344CB8AC3E}">
        <p14:creationId xmlns:p14="http://schemas.microsoft.com/office/powerpoint/2010/main" val="37628687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F3E32-8DE8-5D33-9B57-1D173F3C46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9B5017-CB0F-01AA-545D-660854E314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BFF8FE-14B9-B489-F33C-0D124F0EEEE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3068D6-D264-A5FA-953E-1F8C8B158BB9}"/>
              </a:ext>
            </a:extLst>
          </p:cNvPr>
          <p:cNvSpPr>
            <a:spLocks noGrp="1"/>
          </p:cNvSpPr>
          <p:nvPr>
            <p:ph type="sldNum" sz="quarter" idx="5"/>
          </p:nvPr>
        </p:nvSpPr>
        <p:spPr/>
        <p:txBody>
          <a:bodyPr/>
          <a:lstStyle/>
          <a:p>
            <a:fld id="{9CA004F4-F240-48F9-8AE1-486585C7F00D}" type="slidenum">
              <a:rPr lang="en-US" smtClean="0"/>
              <a:t>4</a:t>
            </a:fld>
            <a:endParaRPr lang="en-US" dirty="0"/>
          </a:p>
        </p:txBody>
      </p:sp>
    </p:spTree>
    <p:extLst>
      <p:ext uri="{BB962C8B-B14F-4D97-AF65-F5344CB8AC3E}">
        <p14:creationId xmlns:p14="http://schemas.microsoft.com/office/powerpoint/2010/main" val="16956239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A004F4-F240-48F9-8AE1-486585C7F00D}" type="slidenum">
              <a:rPr lang="en-US" smtClean="0"/>
              <a:t>5</a:t>
            </a:fld>
            <a:endParaRPr lang="en-US" dirty="0"/>
          </a:p>
        </p:txBody>
      </p:sp>
    </p:spTree>
    <p:extLst>
      <p:ext uri="{BB962C8B-B14F-4D97-AF65-F5344CB8AC3E}">
        <p14:creationId xmlns:p14="http://schemas.microsoft.com/office/powerpoint/2010/main" val="18895613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A004F4-F240-48F9-8AE1-486585C7F00D}" type="slidenum">
              <a:rPr lang="en-US" smtClean="0"/>
              <a:t>6</a:t>
            </a:fld>
            <a:endParaRPr lang="en-US" dirty="0"/>
          </a:p>
        </p:txBody>
      </p:sp>
    </p:spTree>
    <p:extLst>
      <p:ext uri="{BB962C8B-B14F-4D97-AF65-F5344CB8AC3E}">
        <p14:creationId xmlns:p14="http://schemas.microsoft.com/office/powerpoint/2010/main" val="27441929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DF0EC-D082-9AFC-104E-476663FBE1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E15D2-7CA5-A00E-4FAA-7132F9D3BE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7E5524-BED6-48E5-A858-22C7499F41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5AF4D9-ADB2-3A57-113B-8FB1EE229494}"/>
              </a:ext>
            </a:extLst>
          </p:cNvPr>
          <p:cNvSpPr>
            <a:spLocks noGrp="1"/>
          </p:cNvSpPr>
          <p:nvPr>
            <p:ph type="sldNum" sz="quarter" idx="5"/>
          </p:nvPr>
        </p:nvSpPr>
        <p:spPr/>
        <p:txBody>
          <a:bodyPr/>
          <a:lstStyle/>
          <a:p>
            <a:fld id="{9CA004F4-F240-48F9-8AE1-486585C7F00D}" type="slidenum">
              <a:rPr lang="en-US" smtClean="0"/>
              <a:t>7</a:t>
            </a:fld>
            <a:endParaRPr lang="en-US" dirty="0"/>
          </a:p>
        </p:txBody>
      </p:sp>
    </p:spTree>
    <p:extLst>
      <p:ext uri="{BB962C8B-B14F-4D97-AF65-F5344CB8AC3E}">
        <p14:creationId xmlns:p14="http://schemas.microsoft.com/office/powerpoint/2010/main" val="6989277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A004F4-F240-48F9-8AE1-486585C7F00D}" type="slidenum">
              <a:rPr lang="en-US" smtClean="0"/>
              <a:t>8</a:t>
            </a:fld>
            <a:endParaRPr lang="en-US" dirty="0"/>
          </a:p>
        </p:txBody>
      </p:sp>
    </p:spTree>
    <p:extLst>
      <p:ext uri="{BB962C8B-B14F-4D97-AF65-F5344CB8AC3E}">
        <p14:creationId xmlns:p14="http://schemas.microsoft.com/office/powerpoint/2010/main" val="4526456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0B072-BEF9-79B4-EA19-B65E3289A0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477286-E957-5922-DF25-BEF5FCCCAE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2A7ECE-E19F-FBF7-8929-9A8D6D34F15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8AE6F1-4760-28C6-42BB-3B7C21AA035D}"/>
              </a:ext>
            </a:extLst>
          </p:cNvPr>
          <p:cNvSpPr>
            <a:spLocks noGrp="1"/>
          </p:cNvSpPr>
          <p:nvPr>
            <p:ph type="sldNum" sz="quarter" idx="5"/>
          </p:nvPr>
        </p:nvSpPr>
        <p:spPr/>
        <p:txBody>
          <a:bodyPr/>
          <a:lstStyle/>
          <a:p>
            <a:fld id="{9CA004F4-F240-48F9-8AE1-486585C7F00D}" type="slidenum">
              <a:rPr lang="en-US" smtClean="0"/>
              <a:t>9</a:t>
            </a:fld>
            <a:endParaRPr lang="en-US" dirty="0"/>
          </a:p>
        </p:txBody>
      </p:sp>
    </p:spTree>
    <p:extLst>
      <p:ext uri="{BB962C8B-B14F-4D97-AF65-F5344CB8AC3E}">
        <p14:creationId xmlns:p14="http://schemas.microsoft.com/office/powerpoint/2010/main" val="30785781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107FA-063C-97C6-2F23-7745F31F13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B7A8C4-AE0C-922C-E07F-9641660068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08A13B-CD09-EC75-DE4D-AE99D5E2FF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7CA9DA-9E16-4581-FB59-58054BADFAAF}"/>
              </a:ext>
            </a:extLst>
          </p:cNvPr>
          <p:cNvSpPr>
            <a:spLocks noGrp="1"/>
          </p:cNvSpPr>
          <p:nvPr>
            <p:ph type="sldNum" sz="quarter" idx="5"/>
          </p:nvPr>
        </p:nvSpPr>
        <p:spPr/>
        <p:txBody>
          <a:bodyPr/>
          <a:lstStyle/>
          <a:p>
            <a:fld id="{9CA004F4-F240-48F9-8AE1-486585C7F00D}" type="slidenum">
              <a:rPr lang="en-US" smtClean="0"/>
              <a:t>10</a:t>
            </a:fld>
            <a:endParaRPr lang="en-US" dirty="0"/>
          </a:p>
        </p:txBody>
      </p:sp>
    </p:spTree>
    <p:extLst>
      <p:ext uri="{BB962C8B-B14F-4D97-AF65-F5344CB8AC3E}">
        <p14:creationId xmlns:p14="http://schemas.microsoft.com/office/powerpoint/2010/main" val="19506583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511E8-966A-88CD-A22E-C43457BCC8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C84894-1852-D8EB-9B45-B2CC966B3C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1237EF-4298-D9EF-C264-A8DB9B3CB7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584F61-8D47-0DD8-E3ED-8DDB942148C2}"/>
              </a:ext>
            </a:extLst>
          </p:cNvPr>
          <p:cNvSpPr>
            <a:spLocks noGrp="1"/>
          </p:cNvSpPr>
          <p:nvPr>
            <p:ph type="sldNum" sz="quarter" idx="5"/>
          </p:nvPr>
        </p:nvSpPr>
        <p:spPr/>
        <p:txBody>
          <a:bodyPr/>
          <a:lstStyle/>
          <a:p>
            <a:fld id="{9CA004F4-F240-48F9-8AE1-486585C7F00D}" type="slidenum">
              <a:rPr lang="en-US" smtClean="0"/>
              <a:t>11</a:t>
            </a:fld>
            <a:endParaRPr lang="en-US" dirty="0"/>
          </a:p>
        </p:txBody>
      </p:sp>
    </p:spTree>
    <p:extLst>
      <p:ext uri="{BB962C8B-B14F-4D97-AF65-F5344CB8AC3E}">
        <p14:creationId xmlns:p14="http://schemas.microsoft.com/office/powerpoint/2010/main" val="17609387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A004F4-F240-48F9-8AE1-486585C7F00D}" type="slidenum">
              <a:rPr lang="en-US" smtClean="0"/>
              <a:t>12</a:t>
            </a:fld>
            <a:endParaRPr lang="en-US" dirty="0"/>
          </a:p>
        </p:txBody>
      </p:sp>
    </p:spTree>
    <p:extLst>
      <p:ext uri="{BB962C8B-B14F-4D97-AF65-F5344CB8AC3E}">
        <p14:creationId xmlns:p14="http://schemas.microsoft.com/office/powerpoint/2010/main" val="2574810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A004F4-F240-48F9-8AE1-486585C7F00D}" type="slidenum">
              <a:rPr lang="en-US" smtClean="0"/>
              <a:t>13</a:t>
            </a:fld>
            <a:endParaRPr lang="en-US" dirty="0"/>
          </a:p>
        </p:txBody>
      </p:sp>
    </p:spTree>
    <p:extLst>
      <p:ext uri="{BB962C8B-B14F-4D97-AF65-F5344CB8AC3E}">
        <p14:creationId xmlns:p14="http://schemas.microsoft.com/office/powerpoint/2010/main" val="22619396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A004F4-F240-48F9-8AE1-486585C7F00D}" type="slidenum">
              <a:rPr lang="en-US" smtClean="0"/>
              <a:t>14</a:t>
            </a:fld>
            <a:endParaRPr lang="en-US" dirty="0"/>
          </a:p>
        </p:txBody>
      </p:sp>
    </p:spTree>
    <p:extLst>
      <p:ext uri="{BB962C8B-B14F-4D97-AF65-F5344CB8AC3E}">
        <p14:creationId xmlns:p14="http://schemas.microsoft.com/office/powerpoint/2010/main" val="20896999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7D165-49B0-44FF-A267-367F5A6EE306}"/>
              </a:ext>
            </a:extLst>
          </p:cNvPr>
          <p:cNvSpPr>
            <a:spLocks noGrp="1"/>
          </p:cNvSpPr>
          <p:nvPr>
            <p:ph type="ctrTitle"/>
          </p:nvPr>
        </p:nvSpPr>
        <p:spPr>
          <a:xfrm>
            <a:off x="1524000" y="2039514"/>
            <a:ext cx="9144000" cy="2128049"/>
          </a:xfrm>
        </p:spPr>
        <p:txBody>
          <a:bodyPr anchor="b"/>
          <a:lstStyle>
            <a:lvl1pPr algn="ctr">
              <a:lnSpc>
                <a:spcPct val="125000"/>
              </a:lnSpc>
              <a:defRPr sz="6000">
                <a:solidFill>
                  <a:schemeClr val="bg1"/>
                </a:solidFill>
              </a:defRPr>
            </a:lvl1pPr>
          </a:lstStyle>
          <a:p>
            <a:r>
              <a:rPr lang="en-US" noProof="0"/>
              <a:t>Click to edit Master title style</a:t>
            </a:r>
          </a:p>
        </p:txBody>
      </p:sp>
      <p:sp>
        <p:nvSpPr>
          <p:cNvPr id="3" name="Subtitle 2">
            <a:extLst>
              <a:ext uri="{FF2B5EF4-FFF2-40B4-BE49-F238E27FC236}">
                <a16:creationId xmlns:a16="http://schemas.microsoft.com/office/drawing/2014/main" id="{56B52800-74D6-4A78-AC9B-8E737A1A3B0D}"/>
              </a:ext>
            </a:extLst>
          </p:cNvPr>
          <p:cNvSpPr>
            <a:spLocks noGrp="1"/>
          </p:cNvSpPr>
          <p:nvPr>
            <p:ph type="subTitle" idx="1"/>
          </p:nvPr>
        </p:nvSpPr>
        <p:spPr>
          <a:xfrm>
            <a:off x="1524000" y="4221162"/>
            <a:ext cx="9144000" cy="882001"/>
          </a:xfrm>
          <a:solidFill>
            <a:schemeClr val="accent2">
              <a:alpha val="90000"/>
            </a:schemeClr>
          </a:solidFill>
        </p:spPr>
        <p:txBody>
          <a:bodyPr anchor="ctr" anchorCtr="0">
            <a:normAutofit/>
          </a:bodyPr>
          <a:lstStyle>
            <a:lvl1pPr marL="0" indent="0" algn="ctr" defTabSz="914400" rtl="0" eaLnBrk="1" latinLnBrk="0" hangingPunct="1">
              <a:lnSpc>
                <a:spcPct val="90000"/>
              </a:lnSpc>
              <a:spcBef>
                <a:spcPts val="1000"/>
              </a:spcBef>
              <a:buFont typeface="Arial" panose="020B0604020202020204" pitchFamily="34" charset="0"/>
              <a:buNone/>
              <a:defRPr lang="en-US" sz="2500" b="1" i="1" kern="1200" spc="65" dirty="0">
                <a:solidFill>
                  <a:schemeClr val="accent1"/>
                </a:solidFill>
                <a:latin typeface="Arial"/>
                <a:ea typeface="+mn-ea"/>
                <a:cs typeface="Aria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88B91F7B-C4AF-4FC6-A6BE-657DEF6D5358}"/>
              </a:ext>
            </a:extLst>
          </p:cNvPr>
          <p:cNvSpPr>
            <a:spLocks noGrp="1"/>
          </p:cNvSpPr>
          <p:nvPr>
            <p:ph type="dt" sz="half" idx="10"/>
          </p:nvPr>
        </p:nvSpPr>
        <p:spPr/>
        <p:txBody>
          <a:bodyPr/>
          <a:lstStyle/>
          <a:p>
            <a:fld id="{8DA08ED5-AEFE-4443-9040-726EF6690995}" type="datetime1">
              <a:rPr lang="en-US" smtClean="0"/>
              <a:t>12/30/2025</a:t>
            </a:fld>
            <a:endParaRPr lang="en-US" dirty="0"/>
          </a:p>
        </p:txBody>
      </p:sp>
      <p:sp>
        <p:nvSpPr>
          <p:cNvPr id="5" name="Footer Placeholder 4">
            <a:extLst>
              <a:ext uri="{FF2B5EF4-FFF2-40B4-BE49-F238E27FC236}">
                <a16:creationId xmlns:a16="http://schemas.microsoft.com/office/drawing/2014/main" id="{5BED32F8-B0C7-4332-B0A5-BC19DD8C4CF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0030946-D0C7-4F78-94B0-427DAA6D5CB0}"/>
              </a:ext>
            </a:extLst>
          </p:cNvPr>
          <p:cNvSpPr>
            <a:spLocks noGrp="1"/>
          </p:cNvSpPr>
          <p:nvPr>
            <p:ph type="sldNum" sz="quarter" idx="12"/>
          </p:nvPr>
        </p:nvSpPr>
        <p:spPr/>
        <p:txBody>
          <a:bodyPr/>
          <a:lstStyle/>
          <a:p>
            <a:fld id="{82EE24B5-652C-4DB5-B7C3-B5BBEC1280B1}" type="slidenum">
              <a:rPr lang="en-US" smtClean="0"/>
              <a:t>‹#›</a:t>
            </a:fld>
            <a:endParaRPr lang="en-US" dirty="0"/>
          </a:p>
        </p:txBody>
      </p:sp>
    </p:spTree>
    <p:extLst>
      <p:ext uri="{BB962C8B-B14F-4D97-AF65-F5344CB8AC3E}">
        <p14:creationId xmlns:p14="http://schemas.microsoft.com/office/powerpoint/2010/main" val="21895097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11141-A77D-4E0E-8CAF-4CD3B279937B}"/>
              </a:ext>
            </a:extLst>
          </p:cNvPr>
          <p:cNvSpPr>
            <a:spLocks noGrp="1"/>
          </p:cNvSpPr>
          <p:nvPr>
            <p:ph type="title"/>
          </p:nvPr>
        </p:nvSpPr>
        <p:spPr/>
        <p:txBody>
          <a:bodyPr/>
          <a:lstStyle/>
          <a:p>
            <a:r>
              <a:rPr lang="en-US" noProof="0"/>
              <a:t>Click to edit Master title style</a:t>
            </a:r>
          </a:p>
        </p:txBody>
      </p:sp>
      <p:sp>
        <p:nvSpPr>
          <p:cNvPr id="3" name="Content Placeholder 2">
            <a:extLst>
              <a:ext uri="{FF2B5EF4-FFF2-40B4-BE49-F238E27FC236}">
                <a16:creationId xmlns:a16="http://schemas.microsoft.com/office/drawing/2014/main" id="{017EFDE0-5A54-402A-B0C3-6BC0BB739C2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2825AD-4585-4E37-A076-3D0070C9300C}"/>
              </a:ext>
            </a:extLst>
          </p:cNvPr>
          <p:cNvSpPr>
            <a:spLocks noGrp="1"/>
          </p:cNvSpPr>
          <p:nvPr>
            <p:ph type="dt" sz="half" idx="10"/>
          </p:nvPr>
        </p:nvSpPr>
        <p:spPr/>
        <p:txBody>
          <a:bodyPr/>
          <a:lstStyle/>
          <a:p>
            <a:fld id="{0312561F-7E45-400C-8758-912CDFE9410A}" type="datetime1">
              <a:rPr lang="en-US" smtClean="0"/>
              <a:t>12/30/2025</a:t>
            </a:fld>
            <a:endParaRPr lang="en-US" dirty="0"/>
          </a:p>
        </p:txBody>
      </p:sp>
      <p:sp>
        <p:nvSpPr>
          <p:cNvPr id="5" name="Footer Placeholder 4">
            <a:extLst>
              <a:ext uri="{FF2B5EF4-FFF2-40B4-BE49-F238E27FC236}">
                <a16:creationId xmlns:a16="http://schemas.microsoft.com/office/drawing/2014/main" id="{512064AD-EDC3-4B13-8CD6-49EB60099ED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890FD1E-16F6-49B1-A938-8CE601ED7AFC}"/>
              </a:ext>
            </a:extLst>
          </p:cNvPr>
          <p:cNvSpPr>
            <a:spLocks noGrp="1"/>
          </p:cNvSpPr>
          <p:nvPr>
            <p:ph type="sldNum" sz="quarter" idx="12"/>
          </p:nvPr>
        </p:nvSpPr>
        <p:spPr/>
        <p:txBody>
          <a:bodyPr/>
          <a:lstStyle/>
          <a:p>
            <a:fld id="{82EE24B5-652C-4DB5-B7C3-B5BBEC1280B1}" type="slidenum">
              <a:rPr lang="en-US" smtClean="0"/>
              <a:t>‹#›</a:t>
            </a:fld>
            <a:endParaRPr lang="en-US" dirty="0"/>
          </a:p>
        </p:txBody>
      </p:sp>
    </p:spTree>
    <p:extLst>
      <p:ext uri="{BB962C8B-B14F-4D97-AF65-F5344CB8AC3E}">
        <p14:creationId xmlns:p14="http://schemas.microsoft.com/office/powerpoint/2010/main" val="3325465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FA988-92AD-48D7-890A-AA0540961DE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AA999FA-A189-41DB-9CFC-D1356C53437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24D83DC-20E7-4B71-9794-36FC33B1BA03}"/>
              </a:ext>
            </a:extLst>
          </p:cNvPr>
          <p:cNvSpPr>
            <a:spLocks noGrp="1"/>
          </p:cNvSpPr>
          <p:nvPr>
            <p:ph type="dt" sz="half" idx="10"/>
          </p:nvPr>
        </p:nvSpPr>
        <p:spPr/>
        <p:txBody>
          <a:bodyPr/>
          <a:lstStyle/>
          <a:p>
            <a:fld id="{85E24BC7-4CDB-41D7-81AF-9CE8473FF4B8}" type="datetime1">
              <a:rPr lang="en-US" smtClean="0"/>
              <a:t>12/30/2025</a:t>
            </a:fld>
            <a:endParaRPr lang="en-US" dirty="0"/>
          </a:p>
        </p:txBody>
      </p:sp>
      <p:sp>
        <p:nvSpPr>
          <p:cNvPr id="5" name="Footer Placeholder 4">
            <a:extLst>
              <a:ext uri="{FF2B5EF4-FFF2-40B4-BE49-F238E27FC236}">
                <a16:creationId xmlns:a16="http://schemas.microsoft.com/office/drawing/2014/main" id="{44E7D103-1290-4592-B37C-19C9C9DBEAE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5955B1B-4A5C-42C7-99A5-B8217736F178}"/>
              </a:ext>
            </a:extLst>
          </p:cNvPr>
          <p:cNvSpPr>
            <a:spLocks noGrp="1"/>
          </p:cNvSpPr>
          <p:nvPr>
            <p:ph type="sldNum" sz="quarter" idx="12"/>
          </p:nvPr>
        </p:nvSpPr>
        <p:spPr/>
        <p:txBody>
          <a:bodyPr/>
          <a:lstStyle/>
          <a:p>
            <a:fld id="{82EE24B5-652C-4DB5-B7C3-B5BBEC1280B1}" type="slidenum">
              <a:rPr lang="en-US" smtClean="0"/>
              <a:t>‹#›</a:t>
            </a:fld>
            <a:endParaRPr lang="en-US" dirty="0"/>
          </a:p>
        </p:txBody>
      </p:sp>
    </p:spTree>
    <p:extLst>
      <p:ext uri="{BB962C8B-B14F-4D97-AF65-F5344CB8AC3E}">
        <p14:creationId xmlns:p14="http://schemas.microsoft.com/office/powerpoint/2010/main" val="19332012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4E60EB58-EF7E-435A-8B07-B5BCF3AF119F}"/>
              </a:ext>
            </a:extLst>
          </p:cNvPr>
          <p:cNvSpPr>
            <a:spLocks noGrp="1"/>
          </p:cNvSpPr>
          <p:nvPr>
            <p:ph type="sldNum" sz="quarter" idx="12"/>
          </p:nvPr>
        </p:nvSpPr>
        <p:spPr/>
        <p:txBody>
          <a:bodyPr/>
          <a:lstStyle/>
          <a:p>
            <a:fld id="{82EE24B5-652C-4DB5-B7C3-B5BBEC1280B1}" type="slidenum">
              <a:rPr lang="en-US" smtClean="0"/>
              <a:t>‹#›</a:t>
            </a:fld>
            <a:endParaRPr lang="en-US" dirty="0"/>
          </a:p>
        </p:txBody>
      </p:sp>
      <p:sp>
        <p:nvSpPr>
          <p:cNvPr id="2" name="Title 1">
            <a:extLst>
              <a:ext uri="{FF2B5EF4-FFF2-40B4-BE49-F238E27FC236}">
                <a16:creationId xmlns:a16="http://schemas.microsoft.com/office/drawing/2014/main" id="{E7F76098-6FA1-470A-BEF4-E4B0AC75E8F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B647ABC-6745-43B6-8A64-6E191BD65CA2}"/>
              </a:ext>
            </a:extLst>
          </p:cNvPr>
          <p:cNvSpPr>
            <a:spLocks noGrp="1"/>
          </p:cNvSpPr>
          <p:nvPr>
            <p:ph sz="half" idx="1"/>
          </p:nvPr>
        </p:nvSpPr>
        <p:spPr>
          <a:xfrm>
            <a:off x="838200" y="1825625"/>
            <a:ext cx="5181600" cy="4351338"/>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Content Placeholder 3">
            <a:extLst>
              <a:ext uri="{FF2B5EF4-FFF2-40B4-BE49-F238E27FC236}">
                <a16:creationId xmlns:a16="http://schemas.microsoft.com/office/drawing/2014/main" id="{E4387105-2538-4216-9A7E-445FA092F96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7F57DE0-C032-4FCC-9006-09C2C328A665}"/>
              </a:ext>
            </a:extLst>
          </p:cNvPr>
          <p:cNvSpPr>
            <a:spLocks noGrp="1"/>
          </p:cNvSpPr>
          <p:nvPr>
            <p:ph type="dt" sz="half" idx="10"/>
          </p:nvPr>
        </p:nvSpPr>
        <p:spPr/>
        <p:txBody>
          <a:bodyPr/>
          <a:lstStyle/>
          <a:p>
            <a:fld id="{397CD216-73DE-4B96-8E1B-BB64D86142BB}" type="datetime1">
              <a:rPr lang="en-US" smtClean="0"/>
              <a:t>12/30/2025</a:t>
            </a:fld>
            <a:endParaRPr lang="en-US" dirty="0"/>
          </a:p>
        </p:txBody>
      </p:sp>
      <p:sp>
        <p:nvSpPr>
          <p:cNvPr id="6" name="Footer Placeholder 5">
            <a:extLst>
              <a:ext uri="{FF2B5EF4-FFF2-40B4-BE49-F238E27FC236}">
                <a16:creationId xmlns:a16="http://schemas.microsoft.com/office/drawing/2014/main" id="{90C776CB-2819-4488-9012-A6EA22079A47}"/>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13250367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43C73-1D0F-45F9-A7E4-E9D24EAFDE3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B88E76-F6AB-4621-A9A6-20A81C5A3F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313FB9-6D6C-4F61-9E7A-76E686D06C2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A93A737-E48B-4909-BE04-F55B581032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8F9958C-DB5F-444E-ACE8-73F5E0CA67F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1D097D1-3052-4C1F-B573-CA25FFF6CCB5}"/>
              </a:ext>
            </a:extLst>
          </p:cNvPr>
          <p:cNvSpPr>
            <a:spLocks noGrp="1"/>
          </p:cNvSpPr>
          <p:nvPr>
            <p:ph type="dt" sz="half" idx="10"/>
          </p:nvPr>
        </p:nvSpPr>
        <p:spPr/>
        <p:txBody>
          <a:bodyPr/>
          <a:lstStyle/>
          <a:p>
            <a:fld id="{C6A5CD8C-7FEF-4E71-8EB9-D3BA6E2E3E9E}" type="datetime1">
              <a:rPr lang="en-US" smtClean="0"/>
              <a:t>12/30/2025</a:t>
            </a:fld>
            <a:endParaRPr lang="en-US" dirty="0"/>
          </a:p>
        </p:txBody>
      </p:sp>
      <p:sp>
        <p:nvSpPr>
          <p:cNvPr id="8" name="Footer Placeholder 7">
            <a:extLst>
              <a:ext uri="{FF2B5EF4-FFF2-40B4-BE49-F238E27FC236}">
                <a16:creationId xmlns:a16="http://schemas.microsoft.com/office/drawing/2014/main" id="{F2607AC3-2220-4DDA-A22A-C404538FE48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6FD8DEB3-F122-4B42-9E12-F61189B878B2}"/>
              </a:ext>
            </a:extLst>
          </p:cNvPr>
          <p:cNvSpPr>
            <a:spLocks noGrp="1"/>
          </p:cNvSpPr>
          <p:nvPr>
            <p:ph type="sldNum" sz="quarter" idx="12"/>
          </p:nvPr>
        </p:nvSpPr>
        <p:spPr/>
        <p:txBody>
          <a:bodyPr/>
          <a:lstStyle/>
          <a:p>
            <a:fld id="{82EE24B5-652C-4DB5-B7C3-B5BBEC1280B1}" type="slidenum">
              <a:rPr lang="en-US" smtClean="0"/>
              <a:t>‹#›</a:t>
            </a:fld>
            <a:endParaRPr lang="en-US" dirty="0"/>
          </a:p>
        </p:txBody>
      </p:sp>
    </p:spTree>
    <p:extLst>
      <p:ext uri="{BB962C8B-B14F-4D97-AF65-F5344CB8AC3E}">
        <p14:creationId xmlns:p14="http://schemas.microsoft.com/office/powerpoint/2010/main" val="4032769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89EF5-3FD9-4423-A9E8-B67B4E902E9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30D7191-31B4-440E-A4E9-F412FA55824C}"/>
              </a:ext>
            </a:extLst>
          </p:cNvPr>
          <p:cNvSpPr>
            <a:spLocks noGrp="1"/>
          </p:cNvSpPr>
          <p:nvPr>
            <p:ph type="dt" sz="half" idx="10"/>
          </p:nvPr>
        </p:nvSpPr>
        <p:spPr/>
        <p:txBody>
          <a:bodyPr/>
          <a:lstStyle/>
          <a:p>
            <a:fld id="{4BE4379E-9B58-41EA-B928-5B1C8436A60E}" type="datetime1">
              <a:rPr lang="en-US" smtClean="0"/>
              <a:t>12/30/2025</a:t>
            </a:fld>
            <a:endParaRPr lang="en-US" dirty="0"/>
          </a:p>
        </p:txBody>
      </p:sp>
      <p:sp>
        <p:nvSpPr>
          <p:cNvPr id="4" name="Footer Placeholder 3">
            <a:extLst>
              <a:ext uri="{FF2B5EF4-FFF2-40B4-BE49-F238E27FC236}">
                <a16:creationId xmlns:a16="http://schemas.microsoft.com/office/drawing/2014/main" id="{8EC85CB6-0880-4BF0-8E98-291E70C71377}"/>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BE4A5E74-F26F-4C7A-BED1-6EE66C0B3A54}"/>
              </a:ext>
            </a:extLst>
          </p:cNvPr>
          <p:cNvSpPr>
            <a:spLocks noGrp="1"/>
          </p:cNvSpPr>
          <p:nvPr>
            <p:ph type="sldNum" sz="quarter" idx="12"/>
          </p:nvPr>
        </p:nvSpPr>
        <p:spPr/>
        <p:txBody>
          <a:bodyPr/>
          <a:lstStyle/>
          <a:p>
            <a:fld id="{82EE24B5-652C-4DB5-B7C3-B5BBEC1280B1}" type="slidenum">
              <a:rPr lang="en-US" smtClean="0"/>
              <a:t>‹#›</a:t>
            </a:fld>
            <a:endParaRPr lang="en-US" dirty="0"/>
          </a:p>
        </p:txBody>
      </p:sp>
    </p:spTree>
    <p:extLst>
      <p:ext uri="{BB962C8B-B14F-4D97-AF65-F5344CB8AC3E}">
        <p14:creationId xmlns:p14="http://schemas.microsoft.com/office/powerpoint/2010/main" val="3691903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55C546-684A-45B9-8890-66DC55DF7D06}"/>
              </a:ext>
            </a:extLst>
          </p:cNvPr>
          <p:cNvSpPr>
            <a:spLocks noGrp="1"/>
          </p:cNvSpPr>
          <p:nvPr>
            <p:ph type="dt" sz="half" idx="10"/>
          </p:nvPr>
        </p:nvSpPr>
        <p:spPr/>
        <p:txBody>
          <a:bodyPr/>
          <a:lstStyle/>
          <a:p>
            <a:fld id="{40B0A371-51FE-4D99-BD87-6A650FCE519D}" type="datetime1">
              <a:rPr lang="en-US" smtClean="0"/>
              <a:t>12/30/2025</a:t>
            </a:fld>
            <a:endParaRPr lang="en-US" dirty="0"/>
          </a:p>
        </p:txBody>
      </p:sp>
      <p:sp>
        <p:nvSpPr>
          <p:cNvPr id="3" name="Footer Placeholder 2">
            <a:extLst>
              <a:ext uri="{FF2B5EF4-FFF2-40B4-BE49-F238E27FC236}">
                <a16:creationId xmlns:a16="http://schemas.microsoft.com/office/drawing/2014/main" id="{4543EBDF-D696-42F7-B962-56F5FEE120C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6789D77E-1675-4F9D-9113-B274CB0E87FA}"/>
              </a:ext>
            </a:extLst>
          </p:cNvPr>
          <p:cNvSpPr>
            <a:spLocks noGrp="1"/>
          </p:cNvSpPr>
          <p:nvPr>
            <p:ph type="sldNum" sz="quarter" idx="12"/>
          </p:nvPr>
        </p:nvSpPr>
        <p:spPr/>
        <p:txBody>
          <a:bodyPr/>
          <a:lstStyle/>
          <a:p>
            <a:fld id="{82EE24B5-652C-4DB5-B7C3-B5BBEC1280B1}" type="slidenum">
              <a:rPr lang="en-US" noProof="0" smtClean="0"/>
              <a:t>‹#›</a:t>
            </a:fld>
            <a:endParaRPr lang="en-US" noProof="0"/>
          </a:p>
        </p:txBody>
      </p:sp>
    </p:spTree>
    <p:extLst>
      <p:ext uri="{BB962C8B-B14F-4D97-AF65-F5344CB8AC3E}">
        <p14:creationId xmlns:p14="http://schemas.microsoft.com/office/powerpoint/2010/main" val="2746025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E9C90-06AB-49B5-9970-F5791DE93A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FFB0071-932D-4CA0-92FB-A6E75AC8556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1C8D9F5-8B70-4BDD-9CB5-BBF87CF553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89DE91-7A80-4682-9D32-2CD41DEFB7B2}"/>
              </a:ext>
            </a:extLst>
          </p:cNvPr>
          <p:cNvSpPr>
            <a:spLocks noGrp="1"/>
          </p:cNvSpPr>
          <p:nvPr>
            <p:ph type="dt" sz="half" idx="10"/>
          </p:nvPr>
        </p:nvSpPr>
        <p:spPr/>
        <p:txBody>
          <a:bodyPr/>
          <a:lstStyle/>
          <a:p>
            <a:fld id="{5FCF8CFF-A1C0-4B6C-AA8D-BE72CB14468D}" type="datetime1">
              <a:rPr lang="en-US" smtClean="0"/>
              <a:t>12/30/2025</a:t>
            </a:fld>
            <a:endParaRPr lang="en-US" dirty="0"/>
          </a:p>
        </p:txBody>
      </p:sp>
      <p:sp>
        <p:nvSpPr>
          <p:cNvPr id="6" name="Footer Placeholder 5">
            <a:extLst>
              <a:ext uri="{FF2B5EF4-FFF2-40B4-BE49-F238E27FC236}">
                <a16:creationId xmlns:a16="http://schemas.microsoft.com/office/drawing/2014/main" id="{7B9E2482-2E7D-4868-95A7-4A55B40FECE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F4E84CF-C3E5-4475-84C7-21CBAC064B74}"/>
              </a:ext>
            </a:extLst>
          </p:cNvPr>
          <p:cNvSpPr>
            <a:spLocks noGrp="1"/>
          </p:cNvSpPr>
          <p:nvPr>
            <p:ph type="sldNum" sz="quarter" idx="12"/>
          </p:nvPr>
        </p:nvSpPr>
        <p:spPr/>
        <p:txBody>
          <a:bodyPr/>
          <a:lstStyle/>
          <a:p>
            <a:fld id="{82EE24B5-652C-4DB5-B7C3-B5BBEC1280B1}" type="slidenum">
              <a:rPr lang="en-US" smtClean="0"/>
              <a:t>‹#›</a:t>
            </a:fld>
            <a:endParaRPr lang="en-US" dirty="0"/>
          </a:p>
        </p:txBody>
      </p:sp>
    </p:spTree>
    <p:extLst>
      <p:ext uri="{BB962C8B-B14F-4D97-AF65-F5344CB8AC3E}">
        <p14:creationId xmlns:p14="http://schemas.microsoft.com/office/powerpoint/2010/main" val="2962625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0E0AA-5363-4861-AB6B-0E4D34D74B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D44B7CE-2038-4CCA-AA8A-D03DE5FD956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EA79774D-36EB-4201-B1AC-922DD2E066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D1E234-1CB2-41A0-B40D-7E7F160CBA11}"/>
              </a:ext>
            </a:extLst>
          </p:cNvPr>
          <p:cNvSpPr>
            <a:spLocks noGrp="1"/>
          </p:cNvSpPr>
          <p:nvPr>
            <p:ph type="dt" sz="half" idx="10"/>
          </p:nvPr>
        </p:nvSpPr>
        <p:spPr/>
        <p:txBody>
          <a:bodyPr/>
          <a:lstStyle/>
          <a:p>
            <a:fld id="{8C6D634D-0427-413D-A0D0-098959D06FEF}" type="datetime1">
              <a:rPr lang="en-US" smtClean="0"/>
              <a:t>12/30/2025</a:t>
            </a:fld>
            <a:endParaRPr lang="en-US" dirty="0"/>
          </a:p>
        </p:txBody>
      </p:sp>
      <p:sp>
        <p:nvSpPr>
          <p:cNvPr id="6" name="Footer Placeholder 5">
            <a:extLst>
              <a:ext uri="{FF2B5EF4-FFF2-40B4-BE49-F238E27FC236}">
                <a16:creationId xmlns:a16="http://schemas.microsoft.com/office/drawing/2014/main" id="{99FD472E-6334-4051-B4D9-6361A819F79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92384B9-6290-4070-B7D1-A105B27F0CB0}"/>
              </a:ext>
            </a:extLst>
          </p:cNvPr>
          <p:cNvSpPr>
            <a:spLocks noGrp="1"/>
          </p:cNvSpPr>
          <p:nvPr>
            <p:ph type="sldNum" sz="quarter" idx="12"/>
          </p:nvPr>
        </p:nvSpPr>
        <p:spPr/>
        <p:txBody>
          <a:bodyPr/>
          <a:lstStyle/>
          <a:p>
            <a:fld id="{82EE24B5-652C-4DB5-B7C3-B5BBEC1280B1}" type="slidenum">
              <a:rPr lang="en-US" smtClean="0"/>
              <a:t>‹#›</a:t>
            </a:fld>
            <a:endParaRPr lang="en-US" dirty="0"/>
          </a:p>
        </p:txBody>
      </p:sp>
    </p:spTree>
    <p:extLst>
      <p:ext uri="{BB962C8B-B14F-4D97-AF65-F5344CB8AC3E}">
        <p14:creationId xmlns:p14="http://schemas.microsoft.com/office/powerpoint/2010/main" val="23674436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Pictures with caption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8D44B7CE-2038-4CCA-AA8A-D03DE5FD956E}"/>
              </a:ext>
            </a:extLst>
          </p:cNvPr>
          <p:cNvSpPr>
            <a:spLocks noGrp="1"/>
          </p:cNvSpPr>
          <p:nvPr>
            <p:ph type="pic" idx="1"/>
          </p:nvPr>
        </p:nvSpPr>
        <p:spPr>
          <a:xfrm>
            <a:off x="0" y="0"/>
            <a:ext cx="12192000" cy="6857999"/>
          </a:xfrm>
        </p:spPr>
        <p:txBody>
          <a:bodyPr>
            <a:normAutofit/>
          </a:bodyPr>
          <a:lstStyle>
            <a:lvl1pPr marL="0" indent="0" algn="ctr">
              <a:buNone/>
              <a:defRPr sz="2000">
                <a:solidFill>
                  <a:schemeClr val="bg2">
                    <a:lumMod val="20000"/>
                    <a:lumOff val="8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11" name="Oval 10">
            <a:extLst>
              <a:ext uri="{FF2B5EF4-FFF2-40B4-BE49-F238E27FC236}">
                <a16:creationId xmlns:a16="http://schemas.microsoft.com/office/drawing/2014/main" id="{98AB8B54-69CD-4C57-8DBB-02A0E09851DD}"/>
              </a:ext>
            </a:extLst>
          </p:cNvPr>
          <p:cNvSpPr/>
          <p:nvPr userDrawn="1"/>
        </p:nvSpPr>
        <p:spPr>
          <a:xfrm>
            <a:off x="11562237" y="6227432"/>
            <a:ext cx="266400" cy="266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690E0AA-5363-4861-AB6B-0E4D34D74B92}"/>
              </a:ext>
            </a:extLst>
          </p:cNvPr>
          <p:cNvSpPr>
            <a:spLocks noGrp="1"/>
          </p:cNvSpPr>
          <p:nvPr>
            <p:ph type="title"/>
          </p:nvPr>
        </p:nvSpPr>
        <p:spPr>
          <a:xfrm>
            <a:off x="839788" y="417362"/>
            <a:ext cx="3932237" cy="1302111"/>
          </a:xfrm>
        </p:spPr>
        <p:txBody>
          <a:bodyPr anchor="t" anchorCtr="0"/>
          <a:lstStyle>
            <a:lvl1pPr>
              <a:defRPr sz="3200"/>
            </a:lvl1pPr>
          </a:lstStyle>
          <a:p>
            <a:r>
              <a:rPr lang="en-US" noProof="0"/>
              <a:t>Click to edit Master title style</a:t>
            </a:r>
          </a:p>
        </p:txBody>
      </p:sp>
      <p:sp>
        <p:nvSpPr>
          <p:cNvPr id="4" name="Text Placeholder 3">
            <a:extLst>
              <a:ext uri="{FF2B5EF4-FFF2-40B4-BE49-F238E27FC236}">
                <a16:creationId xmlns:a16="http://schemas.microsoft.com/office/drawing/2014/main" id="{EA79774D-36EB-4201-B1AC-922DD2E06640}"/>
              </a:ext>
            </a:extLst>
          </p:cNvPr>
          <p:cNvSpPr>
            <a:spLocks noGrp="1"/>
          </p:cNvSpPr>
          <p:nvPr>
            <p:ph type="body" sz="half" idx="2"/>
          </p:nvPr>
        </p:nvSpPr>
        <p:spPr>
          <a:xfrm>
            <a:off x="1552419" y="1887801"/>
            <a:ext cx="4057961" cy="1431234"/>
          </a:xfrm>
        </p:spPr>
        <p:txBody>
          <a:bodyPr>
            <a:normAutofit/>
          </a:bodyPr>
          <a:lstStyle>
            <a:lvl1pPr marL="0" indent="0">
              <a:buNone/>
              <a:defRPr sz="2000">
                <a:solidFill>
                  <a:schemeClr val="bg2">
                    <a:lumMod val="20000"/>
                    <a:lumOff val="8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D1E234-1CB2-41A0-B40D-7E7F160CBA11}"/>
              </a:ext>
            </a:extLst>
          </p:cNvPr>
          <p:cNvSpPr>
            <a:spLocks noGrp="1"/>
          </p:cNvSpPr>
          <p:nvPr>
            <p:ph type="dt" sz="half" idx="10"/>
          </p:nvPr>
        </p:nvSpPr>
        <p:spPr/>
        <p:txBody>
          <a:bodyPr/>
          <a:lstStyle/>
          <a:p>
            <a:fld id="{8C6D634D-0427-413D-A0D0-098959D06FEF}" type="datetime1">
              <a:rPr lang="en-US" smtClean="0"/>
              <a:t>12/30/2025</a:t>
            </a:fld>
            <a:endParaRPr lang="en-US" dirty="0"/>
          </a:p>
        </p:txBody>
      </p:sp>
      <p:sp>
        <p:nvSpPr>
          <p:cNvPr id="6" name="Footer Placeholder 5">
            <a:extLst>
              <a:ext uri="{FF2B5EF4-FFF2-40B4-BE49-F238E27FC236}">
                <a16:creationId xmlns:a16="http://schemas.microsoft.com/office/drawing/2014/main" id="{99FD472E-6334-4051-B4D9-6361A819F79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92384B9-6290-4070-B7D1-A105B27F0CB0}"/>
              </a:ext>
            </a:extLst>
          </p:cNvPr>
          <p:cNvSpPr>
            <a:spLocks noGrp="1"/>
          </p:cNvSpPr>
          <p:nvPr>
            <p:ph type="sldNum" sz="quarter" idx="12"/>
          </p:nvPr>
        </p:nvSpPr>
        <p:spPr/>
        <p:txBody>
          <a:bodyPr/>
          <a:lstStyle/>
          <a:p>
            <a:fld id="{82EE24B5-652C-4DB5-B7C3-B5BBEC1280B1}" type="slidenum">
              <a:rPr lang="en-US" smtClean="0"/>
              <a:t>‹#›</a:t>
            </a:fld>
            <a:endParaRPr lang="en-US" dirty="0"/>
          </a:p>
        </p:txBody>
      </p:sp>
      <p:sp>
        <p:nvSpPr>
          <p:cNvPr id="12" name="Picture Placeholder 28">
            <a:extLst>
              <a:ext uri="{FF2B5EF4-FFF2-40B4-BE49-F238E27FC236}">
                <a16:creationId xmlns:a16="http://schemas.microsoft.com/office/drawing/2014/main" id="{2EB2F967-97B6-4CA8-B3E7-5FF7CA2BDD8C}"/>
              </a:ext>
            </a:extLst>
          </p:cNvPr>
          <p:cNvSpPr>
            <a:spLocks noGrp="1"/>
          </p:cNvSpPr>
          <p:nvPr>
            <p:ph type="pic" sz="quarter" idx="19"/>
          </p:nvPr>
        </p:nvSpPr>
        <p:spPr>
          <a:xfrm>
            <a:off x="844273" y="1883115"/>
            <a:ext cx="576000" cy="576000"/>
          </a:xfrm>
        </p:spPr>
        <p:txBody>
          <a:bodyPr>
            <a:normAutofit/>
          </a:bodyPr>
          <a:lstStyle>
            <a:lvl1pPr marL="0" indent="0" algn="ctr">
              <a:buNone/>
              <a:defRPr sz="400"/>
            </a:lvl1pPr>
          </a:lstStyle>
          <a:p>
            <a:r>
              <a:rPr lang="en-US"/>
              <a:t>Click icon to add picture</a:t>
            </a:r>
            <a:endParaRPr lang="en-US" dirty="0"/>
          </a:p>
        </p:txBody>
      </p:sp>
      <p:sp>
        <p:nvSpPr>
          <p:cNvPr id="13" name="Picture Placeholder 28">
            <a:extLst>
              <a:ext uri="{FF2B5EF4-FFF2-40B4-BE49-F238E27FC236}">
                <a16:creationId xmlns:a16="http://schemas.microsoft.com/office/drawing/2014/main" id="{5E78E133-FE09-456A-8463-9EFAC6ADE26B}"/>
              </a:ext>
            </a:extLst>
          </p:cNvPr>
          <p:cNvSpPr>
            <a:spLocks noGrp="1"/>
          </p:cNvSpPr>
          <p:nvPr>
            <p:ph type="pic" sz="quarter" idx="22"/>
          </p:nvPr>
        </p:nvSpPr>
        <p:spPr>
          <a:xfrm>
            <a:off x="844273" y="3573118"/>
            <a:ext cx="576000" cy="576000"/>
          </a:xfrm>
        </p:spPr>
        <p:txBody>
          <a:bodyPr>
            <a:normAutofit/>
          </a:bodyPr>
          <a:lstStyle>
            <a:lvl1pPr marL="0" indent="0" algn="ctr">
              <a:buNone/>
              <a:defRPr sz="400"/>
            </a:lvl1pPr>
          </a:lstStyle>
          <a:p>
            <a:r>
              <a:rPr lang="en-US"/>
              <a:t>Click icon to add picture</a:t>
            </a:r>
            <a:endParaRPr lang="en-US" dirty="0"/>
          </a:p>
        </p:txBody>
      </p:sp>
      <p:sp>
        <p:nvSpPr>
          <p:cNvPr id="14" name="Text Placeholder 3">
            <a:extLst>
              <a:ext uri="{FF2B5EF4-FFF2-40B4-BE49-F238E27FC236}">
                <a16:creationId xmlns:a16="http://schemas.microsoft.com/office/drawing/2014/main" id="{7F0C3496-EA4B-43E5-9704-968F80A8552C}"/>
              </a:ext>
            </a:extLst>
          </p:cNvPr>
          <p:cNvSpPr>
            <a:spLocks noGrp="1"/>
          </p:cNvSpPr>
          <p:nvPr>
            <p:ph type="body" sz="half" idx="23"/>
          </p:nvPr>
        </p:nvSpPr>
        <p:spPr>
          <a:xfrm>
            <a:off x="1552418" y="3575461"/>
            <a:ext cx="4057961" cy="1431234"/>
          </a:xfrm>
        </p:spPr>
        <p:txBody>
          <a:bodyPr>
            <a:normAutofit/>
          </a:bodyPr>
          <a:lstStyle>
            <a:lvl1pPr marL="0" indent="0">
              <a:buNone/>
              <a:defRPr sz="2000">
                <a:solidFill>
                  <a:schemeClr val="bg2">
                    <a:lumMod val="20000"/>
                    <a:lumOff val="8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5" name="Picture Placeholder 28">
            <a:extLst>
              <a:ext uri="{FF2B5EF4-FFF2-40B4-BE49-F238E27FC236}">
                <a16:creationId xmlns:a16="http://schemas.microsoft.com/office/drawing/2014/main" id="{13414E14-9FEB-40F8-AE6E-319637A8F1CB}"/>
              </a:ext>
            </a:extLst>
          </p:cNvPr>
          <p:cNvSpPr>
            <a:spLocks noGrp="1"/>
          </p:cNvSpPr>
          <p:nvPr>
            <p:ph type="pic" sz="quarter" idx="24"/>
          </p:nvPr>
        </p:nvSpPr>
        <p:spPr>
          <a:xfrm>
            <a:off x="844273" y="5263121"/>
            <a:ext cx="576000" cy="576000"/>
          </a:xfrm>
        </p:spPr>
        <p:txBody>
          <a:bodyPr>
            <a:normAutofit/>
          </a:bodyPr>
          <a:lstStyle>
            <a:lvl1pPr marL="0" indent="0" algn="ctr">
              <a:buNone/>
              <a:defRPr sz="400"/>
            </a:lvl1pPr>
          </a:lstStyle>
          <a:p>
            <a:r>
              <a:rPr lang="en-US"/>
              <a:t>Click icon to add picture</a:t>
            </a:r>
            <a:endParaRPr lang="en-US" dirty="0"/>
          </a:p>
        </p:txBody>
      </p:sp>
      <p:sp>
        <p:nvSpPr>
          <p:cNvPr id="16" name="Text Placeholder 3">
            <a:extLst>
              <a:ext uri="{FF2B5EF4-FFF2-40B4-BE49-F238E27FC236}">
                <a16:creationId xmlns:a16="http://schemas.microsoft.com/office/drawing/2014/main" id="{8EC97C88-8B4C-4665-845B-95CE8F237779}"/>
              </a:ext>
            </a:extLst>
          </p:cNvPr>
          <p:cNvSpPr>
            <a:spLocks noGrp="1"/>
          </p:cNvSpPr>
          <p:nvPr>
            <p:ph type="body" sz="half" idx="25"/>
          </p:nvPr>
        </p:nvSpPr>
        <p:spPr>
          <a:xfrm>
            <a:off x="1552418" y="5263122"/>
            <a:ext cx="4057961" cy="775728"/>
          </a:xfrm>
        </p:spPr>
        <p:txBody>
          <a:bodyPr>
            <a:normAutofit/>
          </a:bodyPr>
          <a:lstStyle>
            <a:lvl1pPr marL="0" indent="0">
              <a:buNone/>
              <a:defRPr sz="2000">
                <a:solidFill>
                  <a:schemeClr val="bg2">
                    <a:lumMod val="20000"/>
                    <a:lumOff val="8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6480610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Comparison with picture">
    <p:spTree>
      <p:nvGrpSpPr>
        <p:cNvPr id="1" name=""/>
        <p:cNvGrpSpPr/>
        <p:nvPr/>
      </p:nvGrpSpPr>
      <p:grpSpPr>
        <a:xfrm>
          <a:off x="0" y="0"/>
          <a:ext cx="0" cy="0"/>
          <a:chOff x="0" y="0"/>
          <a:chExt cx="0" cy="0"/>
        </a:xfrm>
      </p:grpSpPr>
      <p:sp>
        <p:nvSpPr>
          <p:cNvPr id="14" name="Picture Placeholder 12">
            <a:extLst>
              <a:ext uri="{FF2B5EF4-FFF2-40B4-BE49-F238E27FC236}">
                <a16:creationId xmlns:a16="http://schemas.microsoft.com/office/drawing/2014/main" id="{B74348DE-EC54-4C62-948C-0B2BF9045578}"/>
              </a:ext>
            </a:extLst>
          </p:cNvPr>
          <p:cNvSpPr>
            <a:spLocks noGrp="1"/>
          </p:cNvSpPr>
          <p:nvPr>
            <p:ph type="pic" sz="quarter" idx="13"/>
          </p:nvPr>
        </p:nvSpPr>
        <p:spPr>
          <a:xfrm>
            <a:off x="0" y="3115389"/>
            <a:ext cx="12188825" cy="3742611"/>
          </a:xfrm>
        </p:spPr>
        <p:txBody>
          <a:bodyPr/>
          <a:lstStyle>
            <a:lvl1pPr marL="0" indent="0" algn="ctr">
              <a:buNone/>
              <a:defRPr/>
            </a:lvl1pPr>
          </a:lstStyle>
          <a:p>
            <a:r>
              <a:rPr lang="en-US"/>
              <a:t>Click icon to add picture</a:t>
            </a:r>
            <a:endParaRPr lang="en-US" dirty="0"/>
          </a:p>
        </p:txBody>
      </p:sp>
      <p:sp>
        <p:nvSpPr>
          <p:cNvPr id="10" name="object 3">
            <a:extLst>
              <a:ext uri="{FF2B5EF4-FFF2-40B4-BE49-F238E27FC236}">
                <a16:creationId xmlns:a16="http://schemas.microsoft.com/office/drawing/2014/main" id="{2A53E879-94A1-4659-9069-ED0D6F03014D}"/>
              </a:ext>
            </a:extLst>
          </p:cNvPr>
          <p:cNvSpPr/>
          <p:nvPr userDrawn="1"/>
        </p:nvSpPr>
        <p:spPr>
          <a:xfrm>
            <a:off x="2400" y="1999821"/>
            <a:ext cx="12189600" cy="1115568"/>
          </a:xfrm>
          <a:custGeom>
            <a:avLst/>
            <a:gdLst/>
            <a:ahLst/>
            <a:cxnLst/>
            <a:rect l="l" t="t" r="r" b="b"/>
            <a:pathLst>
              <a:path w="12189460" h="6858000">
                <a:moveTo>
                  <a:pt x="0" y="6858000"/>
                </a:moveTo>
                <a:lnTo>
                  <a:pt x="12188952" y="6858000"/>
                </a:lnTo>
                <a:lnTo>
                  <a:pt x="12188952" y="0"/>
                </a:lnTo>
                <a:lnTo>
                  <a:pt x="0" y="0"/>
                </a:lnTo>
                <a:lnTo>
                  <a:pt x="0" y="6858000"/>
                </a:lnTo>
                <a:close/>
              </a:path>
            </a:pathLst>
          </a:custGeom>
          <a:solidFill>
            <a:schemeClr val="accent2"/>
          </a:solidFill>
        </p:spPr>
        <p:txBody>
          <a:bodyPr wrap="square" lIns="0" tIns="0" rIns="0" bIns="0" rtlCol="0"/>
          <a:lstStyle/>
          <a:p>
            <a:endParaRPr lang="en-US" noProof="0" dirty="0"/>
          </a:p>
        </p:txBody>
      </p:sp>
      <p:sp>
        <p:nvSpPr>
          <p:cNvPr id="2" name="Title 1">
            <a:extLst>
              <a:ext uri="{FF2B5EF4-FFF2-40B4-BE49-F238E27FC236}">
                <a16:creationId xmlns:a16="http://schemas.microsoft.com/office/drawing/2014/main" id="{0EF43C73-1D0F-45F9-A7E4-E9D24EAFDE3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B88E76-F6AB-4621-A9A6-20A81C5A3F91}"/>
              </a:ext>
            </a:extLst>
          </p:cNvPr>
          <p:cNvSpPr>
            <a:spLocks noGrp="1"/>
          </p:cNvSpPr>
          <p:nvPr>
            <p:ph type="body" idx="1"/>
          </p:nvPr>
        </p:nvSpPr>
        <p:spPr>
          <a:xfrm>
            <a:off x="839788" y="1985963"/>
            <a:ext cx="5157787" cy="823912"/>
          </a:xfrm>
        </p:spPr>
        <p:txBody>
          <a:bodyPr anchor="b"/>
          <a:lstStyle>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4" name="Content Placeholder 3">
            <a:extLst>
              <a:ext uri="{FF2B5EF4-FFF2-40B4-BE49-F238E27FC236}">
                <a16:creationId xmlns:a16="http://schemas.microsoft.com/office/drawing/2014/main" id="{6A313FB9-6D6C-4F61-9E7A-76E686D06C25}"/>
              </a:ext>
            </a:extLst>
          </p:cNvPr>
          <p:cNvSpPr>
            <a:spLocks noGrp="1"/>
          </p:cNvSpPr>
          <p:nvPr>
            <p:ph sz="half" idx="2"/>
          </p:nvPr>
        </p:nvSpPr>
        <p:spPr>
          <a:xfrm>
            <a:off x="839788" y="3434047"/>
            <a:ext cx="5157787" cy="2755616"/>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4">
            <a:extLst>
              <a:ext uri="{FF2B5EF4-FFF2-40B4-BE49-F238E27FC236}">
                <a16:creationId xmlns:a16="http://schemas.microsoft.com/office/drawing/2014/main" id="{2A93A737-E48B-4909-BE04-F55B58103257}"/>
              </a:ext>
            </a:extLst>
          </p:cNvPr>
          <p:cNvSpPr>
            <a:spLocks noGrp="1"/>
          </p:cNvSpPr>
          <p:nvPr>
            <p:ph type="body" sz="quarter" idx="3"/>
          </p:nvPr>
        </p:nvSpPr>
        <p:spPr>
          <a:xfrm>
            <a:off x="6172200" y="1985963"/>
            <a:ext cx="5183188" cy="823912"/>
          </a:xfrm>
        </p:spPr>
        <p:txBody>
          <a:bodyPr anchor="b"/>
          <a:lstStyle>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8F9958C-DB5F-444E-ACE8-73F5E0CA67F1}"/>
              </a:ext>
            </a:extLst>
          </p:cNvPr>
          <p:cNvSpPr>
            <a:spLocks noGrp="1"/>
          </p:cNvSpPr>
          <p:nvPr>
            <p:ph sz="quarter" idx="4"/>
          </p:nvPr>
        </p:nvSpPr>
        <p:spPr>
          <a:xfrm>
            <a:off x="6172200" y="3434047"/>
            <a:ext cx="5183188" cy="27556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1D097D1-3052-4C1F-B573-CA25FFF6CCB5}"/>
              </a:ext>
            </a:extLst>
          </p:cNvPr>
          <p:cNvSpPr>
            <a:spLocks noGrp="1"/>
          </p:cNvSpPr>
          <p:nvPr>
            <p:ph type="dt" sz="half" idx="10"/>
          </p:nvPr>
        </p:nvSpPr>
        <p:spPr/>
        <p:txBody>
          <a:bodyPr/>
          <a:lstStyle/>
          <a:p>
            <a:fld id="{C6A5CD8C-7FEF-4E71-8EB9-D3BA6E2E3E9E}" type="datetime1">
              <a:rPr lang="en-US" smtClean="0"/>
              <a:t>12/30/2025</a:t>
            </a:fld>
            <a:endParaRPr lang="en-US" dirty="0"/>
          </a:p>
        </p:txBody>
      </p:sp>
      <p:sp>
        <p:nvSpPr>
          <p:cNvPr id="8" name="Footer Placeholder 7">
            <a:extLst>
              <a:ext uri="{FF2B5EF4-FFF2-40B4-BE49-F238E27FC236}">
                <a16:creationId xmlns:a16="http://schemas.microsoft.com/office/drawing/2014/main" id="{F2607AC3-2220-4DDA-A22A-C404538FE48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6FD8DEB3-F122-4B42-9E12-F61189B878B2}"/>
              </a:ext>
            </a:extLst>
          </p:cNvPr>
          <p:cNvSpPr>
            <a:spLocks noGrp="1"/>
          </p:cNvSpPr>
          <p:nvPr>
            <p:ph type="sldNum" sz="quarter" idx="12"/>
          </p:nvPr>
        </p:nvSpPr>
        <p:spPr/>
        <p:txBody>
          <a:bodyPr/>
          <a:lstStyle/>
          <a:p>
            <a:fld id="{82EE24B5-652C-4DB5-B7C3-B5BBEC1280B1}" type="slidenum">
              <a:rPr lang="en-US" smtClean="0"/>
              <a:t>‹#›</a:t>
            </a:fld>
            <a:endParaRPr lang="en-US" dirty="0"/>
          </a:p>
        </p:txBody>
      </p:sp>
    </p:spTree>
    <p:extLst>
      <p:ext uri="{BB962C8B-B14F-4D97-AF65-F5344CB8AC3E}">
        <p14:creationId xmlns:p14="http://schemas.microsoft.com/office/powerpoint/2010/main" val="20305760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Picture with Three Sections">
    <p:spTree>
      <p:nvGrpSpPr>
        <p:cNvPr id="1" name=""/>
        <p:cNvGrpSpPr/>
        <p:nvPr/>
      </p:nvGrpSpPr>
      <p:grpSpPr>
        <a:xfrm>
          <a:off x="0" y="0"/>
          <a:ext cx="0" cy="0"/>
          <a:chOff x="0" y="0"/>
          <a:chExt cx="0" cy="0"/>
        </a:xfrm>
      </p:grpSpPr>
      <p:sp>
        <p:nvSpPr>
          <p:cNvPr id="8" name="object 3">
            <a:extLst>
              <a:ext uri="{FF2B5EF4-FFF2-40B4-BE49-F238E27FC236}">
                <a16:creationId xmlns:a16="http://schemas.microsoft.com/office/drawing/2014/main" id="{29F16048-FF4E-41B1-B3D4-0FB210A70DF2}"/>
              </a:ext>
            </a:extLst>
          </p:cNvPr>
          <p:cNvSpPr/>
          <p:nvPr userDrawn="1"/>
        </p:nvSpPr>
        <p:spPr>
          <a:xfrm>
            <a:off x="5294630" y="0"/>
            <a:ext cx="6897370" cy="6858000"/>
          </a:xfrm>
          <a:custGeom>
            <a:avLst/>
            <a:gdLst/>
            <a:ahLst/>
            <a:cxnLst/>
            <a:rect l="l" t="t" r="r" b="b"/>
            <a:pathLst>
              <a:path w="6897370" h="6858000">
                <a:moveTo>
                  <a:pt x="0" y="6858000"/>
                </a:moveTo>
                <a:lnTo>
                  <a:pt x="6896900" y="6858000"/>
                </a:lnTo>
                <a:lnTo>
                  <a:pt x="6896900" y="0"/>
                </a:lnTo>
                <a:lnTo>
                  <a:pt x="0" y="0"/>
                </a:lnTo>
                <a:lnTo>
                  <a:pt x="0" y="6858000"/>
                </a:lnTo>
                <a:close/>
              </a:path>
            </a:pathLst>
          </a:custGeom>
          <a:solidFill>
            <a:schemeClr val="accent2"/>
          </a:solidFill>
        </p:spPr>
        <p:txBody>
          <a:bodyPr wrap="square" lIns="0" tIns="0" rIns="0" bIns="0" rtlCol="0"/>
          <a:lstStyle/>
          <a:p>
            <a:endParaRPr lang="en-US" noProof="0" dirty="0"/>
          </a:p>
        </p:txBody>
      </p:sp>
      <p:sp>
        <p:nvSpPr>
          <p:cNvPr id="11" name="Oval 10">
            <a:extLst>
              <a:ext uri="{FF2B5EF4-FFF2-40B4-BE49-F238E27FC236}">
                <a16:creationId xmlns:a16="http://schemas.microsoft.com/office/drawing/2014/main" id="{98AB8B54-69CD-4C57-8DBB-02A0E09851DD}"/>
              </a:ext>
            </a:extLst>
          </p:cNvPr>
          <p:cNvSpPr/>
          <p:nvPr userDrawn="1"/>
        </p:nvSpPr>
        <p:spPr>
          <a:xfrm>
            <a:off x="11562237" y="6227432"/>
            <a:ext cx="266400" cy="266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690E0AA-5363-4861-AB6B-0E4D34D74B92}"/>
              </a:ext>
            </a:extLst>
          </p:cNvPr>
          <p:cNvSpPr>
            <a:spLocks noGrp="1"/>
          </p:cNvSpPr>
          <p:nvPr>
            <p:ph type="title"/>
          </p:nvPr>
        </p:nvSpPr>
        <p:spPr>
          <a:xfrm>
            <a:off x="839788" y="417362"/>
            <a:ext cx="3932237" cy="1302111"/>
          </a:xfrm>
        </p:spPr>
        <p:txBody>
          <a:bodyPr anchor="b"/>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EA79774D-36EB-4201-B1AC-922DD2E06640}"/>
              </a:ext>
            </a:extLst>
          </p:cNvPr>
          <p:cNvSpPr>
            <a:spLocks noGrp="1"/>
          </p:cNvSpPr>
          <p:nvPr>
            <p:ph type="body" sz="half" idx="2"/>
          </p:nvPr>
        </p:nvSpPr>
        <p:spPr>
          <a:xfrm>
            <a:off x="7294251" y="1192697"/>
            <a:ext cx="4057961" cy="1431234"/>
          </a:xfrm>
        </p:spPr>
        <p:txBody>
          <a:bodyPr/>
          <a:lstStyle>
            <a:lvl1pPr marL="0" indent="0">
              <a:buNone/>
              <a:defRPr sz="1600">
                <a:solidFill>
                  <a:schemeClr val="bg2">
                    <a:lumMod val="40000"/>
                    <a:lumOff val="6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D1E234-1CB2-41A0-B40D-7E7F160CBA11}"/>
              </a:ext>
            </a:extLst>
          </p:cNvPr>
          <p:cNvSpPr>
            <a:spLocks noGrp="1"/>
          </p:cNvSpPr>
          <p:nvPr>
            <p:ph type="dt" sz="half" idx="10"/>
          </p:nvPr>
        </p:nvSpPr>
        <p:spPr/>
        <p:txBody>
          <a:bodyPr/>
          <a:lstStyle/>
          <a:p>
            <a:fld id="{8C6D634D-0427-413D-A0D0-098959D06FEF}" type="datetime1">
              <a:rPr lang="en-US" smtClean="0"/>
              <a:t>12/30/2025</a:t>
            </a:fld>
            <a:endParaRPr lang="en-US" dirty="0"/>
          </a:p>
        </p:txBody>
      </p:sp>
      <p:sp>
        <p:nvSpPr>
          <p:cNvPr id="6" name="Footer Placeholder 5">
            <a:extLst>
              <a:ext uri="{FF2B5EF4-FFF2-40B4-BE49-F238E27FC236}">
                <a16:creationId xmlns:a16="http://schemas.microsoft.com/office/drawing/2014/main" id="{99FD472E-6334-4051-B4D9-6361A819F79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92384B9-6290-4070-B7D1-A105B27F0CB0}"/>
              </a:ext>
            </a:extLst>
          </p:cNvPr>
          <p:cNvSpPr>
            <a:spLocks noGrp="1"/>
          </p:cNvSpPr>
          <p:nvPr>
            <p:ph type="sldNum" sz="quarter" idx="12"/>
          </p:nvPr>
        </p:nvSpPr>
        <p:spPr/>
        <p:txBody>
          <a:bodyPr/>
          <a:lstStyle/>
          <a:p>
            <a:fld id="{82EE24B5-652C-4DB5-B7C3-B5BBEC1280B1}" type="slidenum">
              <a:rPr lang="en-US" smtClean="0"/>
              <a:t>‹#›</a:t>
            </a:fld>
            <a:endParaRPr lang="en-US" dirty="0"/>
          </a:p>
        </p:txBody>
      </p:sp>
      <p:sp>
        <p:nvSpPr>
          <p:cNvPr id="9" name="object 2">
            <a:extLst>
              <a:ext uri="{FF2B5EF4-FFF2-40B4-BE49-F238E27FC236}">
                <a16:creationId xmlns:a16="http://schemas.microsoft.com/office/drawing/2014/main" id="{9337951D-6DB6-4713-9200-E8513CDEB6B3}"/>
              </a:ext>
            </a:extLst>
          </p:cNvPr>
          <p:cNvSpPr/>
          <p:nvPr userDrawn="1"/>
        </p:nvSpPr>
        <p:spPr>
          <a:xfrm>
            <a:off x="0" y="2430411"/>
            <a:ext cx="3625850" cy="3438525"/>
          </a:xfrm>
          <a:custGeom>
            <a:avLst/>
            <a:gdLst/>
            <a:ahLst/>
            <a:cxnLst/>
            <a:rect l="l" t="t" r="r" b="b"/>
            <a:pathLst>
              <a:path w="3625850" h="3438525">
                <a:moveTo>
                  <a:pt x="0" y="3438486"/>
                </a:moveTo>
                <a:lnTo>
                  <a:pt x="3625596" y="3438486"/>
                </a:lnTo>
                <a:lnTo>
                  <a:pt x="3625596" y="0"/>
                </a:lnTo>
                <a:lnTo>
                  <a:pt x="0" y="0"/>
                </a:lnTo>
                <a:lnTo>
                  <a:pt x="0" y="3438486"/>
                </a:lnTo>
                <a:close/>
              </a:path>
            </a:pathLst>
          </a:custGeom>
          <a:solidFill>
            <a:schemeClr val="accent1"/>
          </a:solidFill>
        </p:spPr>
        <p:txBody>
          <a:bodyPr wrap="square" lIns="0" tIns="0" rIns="0" bIns="0" rtlCol="0"/>
          <a:lstStyle/>
          <a:p>
            <a:endParaRPr lang="en-US" noProof="0" dirty="0"/>
          </a:p>
        </p:txBody>
      </p:sp>
      <p:sp>
        <p:nvSpPr>
          <p:cNvPr id="3" name="Picture Placeholder 2">
            <a:extLst>
              <a:ext uri="{FF2B5EF4-FFF2-40B4-BE49-F238E27FC236}">
                <a16:creationId xmlns:a16="http://schemas.microsoft.com/office/drawing/2014/main" id="{8D44B7CE-2038-4CCA-AA8A-D03DE5FD956E}"/>
              </a:ext>
            </a:extLst>
          </p:cNvPr>
          <p:cNvSpPr>
            <a:spLocks noGrp="1"/>
          </p:cNvSpPr>
          <p:nvPr>
            <p:ph type="pic" idx="1"/>
          </p:nvPr>
        </p:nvSpPr>
        <p:spPr>
          <a:xfrm>
            <a:off x="0" y="2781223"/>
            <a:ext cx="6040800" cy="2736901"/>
          </a:xfrm>
        </p:spPr>
        <p:txBody>
          <a:bodyPr>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2" name="Picture Placeholder 28">
            <a:extLst>
              <a:ext uri="{FF2B5EF4-FFF2-40B4-BE49-F238E27FC236}">
                <a16:creationId xmlns:a16="http://schemas.microsoft.com/office/drawing/2014/main" id="{2EB2F967-97B6-4CA8-B3E7-5FF7CA2BDD8C}"/>
              </a:ext>
            </a:extLst>
          </p:cNvPr>
          <p:cNvSpPr>
            <a:spLocks noGrp="1"/>
          </p:cNvSpPr>
          <p:nvPr>
            <p:ph type="pic" sz="quarter" idx="19"/>
          </p:nvPr>
        </p:nvSpPr>
        <p:spPr>
          <a:xfrm>
            <a:off x="6586106" y="1188012"/>
            <a:ext cx="376237" cy="376237"/>
          </a:xfrm>
        </p:spPr>
        <p:txBody>
          <a:bodyPr>
            <a:normAutofit/>
          </a:bodyPr>
          <a:lstStyle>
            <a:lvl1pPr marL="0" indent="0" algn="ctr">
              <a:buNone/>
              <a:defRPr sz="400"/>
            </a:lvl1pPr>
          </a:lstStyle>
          <a:p>
            <a:r>
              <a:rPr lang="en-US"/>
              <a:t>Click icon to add picture</a:t>
            </a:r>
            <a:endParaRPr lang="en-US" dirty="0"/>
          </a:p>
        </p:txBody>
      </p:sp>
      <p:sp>
        <p:nvSpPr>
          <p:cNvPr id="13" name="Picture Placeholder 28">
            <a:extLst>
              <a:ext uri="{FF2B5EF4-FFF2-40B4-BE49-F238E27FC236}">
                <a16:creationId xmlns:a16="http://schemas.microsoft.com/office/drawing/2014/main" id="{5E78E133-FE09-456A-8463-9EFAC6ADE26B}"/>
              </a:ext>
            </a:extLst>
          </p:cNvPr>
          <p:cNvSpPr>
            <a:spLocks noGrp="1"/>
          </p:cNvSpPr>
          <p:nvPr>
            <p:ph type="pic" sz="quarter" idx="22"/>
          </p:nvPr>
        </p:nvSpPr>
        <p:spPr>
          <a:xfrm>
            <a:off x="6586106" y="2878015"/>
            <a:ext cx="376237" cy="376237"/>
          </a:xfrm>
        </p:spPr>
        <p:txBody>
          <a:bodyPr>
            <a:normAutofit/>
          </a:bodyPr>
          <a:lstStyle>
            <a:lvl1pPr marL="0" indent="0" algn="ctr">
              <a:buNone/>
              <a:defRPr sz="400"/>
            </a:lvl1pPr>
          </a:lstStyle>
          <a:p>
            <a:r>
              <a:rPr lang="en-US"/>
              <a:t>Click icon to add picture</a:t>
            </a:r>
            <a:endParaRPr lang="en-US" dirty="0"/>
          </a:p>
        </p:txBody>
      </p:sp>
      <p:sp>
        <p:nvSpPr>
          <p:cNvPr id="14" name="Text Placeholder 3">
            <a:extLst>
              <a:ext uri="{FF2B5EF4-FFF2-40B4-BE49-F238E27FC236}">
                <a16:creationId xmlns:a16="http://schemas.microsoft.com/office/drawing/2014/main" id="{7F0C3496-EA4B-43E5-9704-968F80A8552C}"/>
              </a:ext>
            </a:extLst>
          </p:cNvPr>
          <p:cNvSpPr>
            <a:spLocks noGrp="1"/>
          </p:cNvSpPr>
          <p:nvPr>
            <p:ph type="body" sz="half" idx="23"/>
          </p:nvPr>
        </p:nvSpPr>
        <p:spPr>
          <a:xfrm>
            <a:off x="7294250" y="2880357"/>
            <a:ext cx="4057961" cy="1431234"/>
          </a:xfrm>
        </p:spPr>
        <p:txBody>
          <a:bodyPr/>
          <a:lstStyle>
            <a:lvl1pPr marL="0" indent="0">
              <a:buNone/>
              <a:defRPr sz="1600">
                <a:solidFill>
                  <a:schemeClr val="bg2">
                    <a:lumMod val="40000"/>
                    <a:lumOff val="6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5" name="Picture Placeholder 28">
            <a:extLst>
              <a:ext uri="{FF2B5EF4-FFF2-40B4-BE49-F238E27FC236}">
                <a16:creationId xmlns:a16="http://schemas.microsoft.com/office/drawing/2014/main" id="{13414E14-9FEB-40F8-AE6E-319637A8F1CB}"/>
              </a:ext>
            </a:extLst>
          </p:cNvPr>
          <p:cNvSpPr>
            <a:spLocks noGrp="1"/>
          </p:cNvSpPr>
          <p:nvPr>
            <p:ph type="pic" sz="quarter" idx="24"/>
          </p:nvPr>
        </p:nvSpPr>
        <p:spPr>
          <a:xfrm>
            <a:off x="6586106" y="4568018"/>
            <a:ext cx="376237" cy="376237"/>
          </a:xfrm>
        </p:spPr>
        <p:txBody>
          <a:bodyPr>
            <a:normAutofit/>
          </a:bodyPr>
          <a:lstStyle>
            <a:lvl1pPr marL="0" indent="0" algn="ctr">
              <a:buNone/>
              <a:defRPr sz="400"/>
            </a:lvl1pPr>
          </a:lstStyle>
          <a:p>
            <a:r>
              <a:rPr lang="en-US"/>
              <a:t>Click icon to add picture</a:t>
            </a:r>
            <a:endParaRPr lang="en-US" dirty="0"/>
          </a:p>
        </p:txBody>
      </p:sp>
      <p:sp>
        <p:nvSpPr>
          <p:cNvPr id="16" name="Text Placeholder 3">
            <a:extLst>
              <a:ext uri="{FF2B5EF4-FFF2-40B4-BE49-F238E27FC236}">
                <a16:creationId xmlns:a16="http://schemas.microsoft.com/office/drawing/2014/main" id="{8EC97C88-8B4C-4665-845B-95CE8F237779}"/>
              </a:ext>
            </a:extLst>
          </p:cNvPr>
          <p:cNvSpPr>
            <a:spLocks noGrp="1"/>
          </p:cNvSpPr>
          <p:nvPr>
            <p:ph type="body" sz="half" idx="25"/>
          </p:nvPr>
        </p:nvSpPr>
        <p:spPr>
          <a:xfrm>
            <a:off x="7294250" y="4568018"/>
            <a:ext cx="4057961" cy="1431234"/>
          </a:xfrm>
        </p:spPr>
        <p:txBody>
          <a:bodyPr/>
          <a:lstStyle>
            <a:lvl1pPr marL="0" indent="0">
              <a:buNone/>
              <a:defRPr sz="1600">
                <a:solidFill>
                  <a:schemeClr val="bg2">
                    <a:lumMod val="40000"/>
                    <a:lumOff val="6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856490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CEC732-0DE2-456B-92A1-84321C9BDC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DA816A5B-B156-4DC3-B18E-14F3E59A64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a:extLst>
              <a:ext uri="{FF2B5EF4-FFF2-40B4-BE49-F238E27FC236}">
                <a16:creationId xmlns:a16="http://schemas.microsoft.com/office/drawing/2014/main" id="{FDB0252E-67CD-4B33-849F-7B1449CF27D0}"/>
              </a:ext>
            </a:extLst>
          </p:cNvPr>
          <p:cNvSpPr>
            <a:spLocks noGrp="1"/>
          </p:cNvSpPr>
          <p:nvPr>
            <p:ph type="dt" sz="half" idx="2"/>
          </p:nvPr>
        </p:nvSpPr>
        <p:spPr>
          <a:xfrm>
            <a:off x="838200" y="617490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2591E0-5367-4F2F-9C30-2087D79A846D}" type="datetime1">
              <a:rPr lang="en-US" noProof="0" smtClean="0"/>
              <a:t>12/30/2025</a:t>
            </a:fld>
            <a:endParaRPr lang="en-US" noProof="0" dirty="0"/>
          </a:p>
        </p:txBody>
      </p:sp>
      <p:sp>
        <p:nvSpPr>
          <p:cNvPr id="5" name="Footer Placeholder 4">
            <a:extLst>
              <a:ext uri="{FF2B5EF4-FFF2-40B4-BE49-F238E27FC236}">
                <a16:creationId xmlns:a16="http://schemas.microsoft.com/office/drawing/2014/main" id="{DC620AD2-E3F8-48CB-8B72-B0945DF5348A}"/>
              </a:ext>
            </a:extLst>
          </p:cNvPr>
          <p:cNvSpPr>
            <a:spLocks noGrp="1"/>
          </p:cNvSpPr>
          <p:nvPr>
            <p:ph type="ftr" sz="quarter" idx="3"/>
          </p:nvPr>
        </p:nvSpPr>
        <p:spPr>
          <a:xfrm>
            <a:off x="4038600" y="617490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noProof="0" dirty="0"/>
          </a:p>
        </p:txBody>
      </p:sp>
      <p:sp>
        <p:nvSpPr>
          <p:cNvPr id="10" name="Oval 9">
            <a:extLst>
              <a:ext uri="{FF2B5EF4-FFF2-40B4-BE49-F238E27FC236}">
                <a16:creationId xmlns:a16="http://schemas.microsoft.com/office/drawing/2014/main" id="{5A5F3BCF-F6FD-4DFF-B0B4-9892C9389344}"/>
              </a:ext>
            </a:extLst>
          </p:cNvPr>
          <p:cNvSpPr/>
          <p:nvPr userDrawn="1"/>
        </p:nvSpPr>
        <p:spPr>
          <a:xfrm>
            <a:off x="11562237" y="6227432"/>
            <a:ext cx="266400" cy="266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Slide Number Placeholder 5">
            <a:extLst>
              <a:ext uri="{FF2B5EF4-FFF2-40B4-BE49-F238E27FC236}">
                <a16:creationId xmlns:a16="http://schemas.microsoft.com/office/drawing/2014/main" id="{D15DEFFD-817B-43EC-86F0-34DEA2BA5EEB}"/>
              </a:ext>
            </a:extLst>
          </p:cNvPr>
          <p:cNvSpPr>
            <a:spLocks noGrp="1"/>
          </p:cNvSpPr>
          <p:nvPr>
            <p:ph type="sldNum" sz="quarter" idx="4"/>
          </p:nvPr>
        </p:nvSpPr>
        <p:spPr>
          <a:xfrm>
            <a:off x="11468844" y="6174902"/>
            <a:ext cx="357116" cy="365125"/>
          </a:xfrm>
          <a:prstGeom prst="rect">
            <a:avLst/>
          </a:prstGeom>
        </p:spPr>
        <p:txBody>
          <a:bodyPr vert="horz" lIns="91440" tIns="45720" rIns="91440" bIns="45720" rtlCol="0" anchor="ctr"/>
          <a:lstStyle>
            <a:lvl1pPr algn="r">
              <a:defRPr sz="1000" i="1">
                <a:solidFill>
                  <a:schemeClr val="tx2">
                    <a:alpha val="70000"/>
                  </a:schemeClr>
                </a:solidFill>
              </a:defRPr>
            </a:lvl1pPr>
          </a:lstStyle>
          <a:p>
            <a:fld id="{82EE24B5-652C-4DB5-B7C3-B5BBEC1280B1}" type="slidenum">
              <a:rPr lang="en-US" noProof="0" smtClean="0"/>
              <a:pPr/>
              <a:t>‹#›</a:t>
            </a:fld>
            <a:endParaRPr lang="en-US" noProof="0" dirty="0"/>
          </a:p>
        </p:txBody>
      </p:sp>
    </p:spTree>
    <p:extLst>
      <p:ext uri="{BB962C8B-B14F-4D97-AF65-F5344CB8AC3E}">
        <p14:creationId xmlns:p14="http://schemas.microsoft.com/office/powerpoint/2010/main" val="36641015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9" r:id="rId10"/>
    <p:sldLayoutId id="2147483660" r:id="rId11"/>
    <p:sldLayoutId id="2147483662" r:id="rId12"/>
  </p:sldLayoutIdLst>
  <p:hf hdr="0" ftr="0" dt="0"/>
  <p:txStyles>
    <p:titleStyle>
      <a:lvl1pPr algn="l" defTabSz="914400" rtl="0" eaLnBrk="1" latinLnBrk="0" hangingPunct="1">
        <a:lnSpc>
          <a:spcPct val="90000"/>
        </a:lnSpc>
        <a:spcBef>
          <a:spcPct val="0"/>
        </a:spcBef>
        <a:buNone/>
        <a:defRPr sz="3200" b="1" kern="1200">
          <a:solidFill>
            <a:schemeClr val="accent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hyperlink" Target="https://www.kaggle.com/datasets/wordsforthewise/lending-club?resource=download&amp;select=rejected_2007_to_2018Q4.csv.gz" TargetMode="External"/><Relationship Id="rId4" Type="http://schemas.openxmlformats.org/officeDocument/2006/relationships/hyperlink" Target="https://www.kaggle.com/datasets/wordsforthewise/lending-club?resource=download&amp;select=accepted_2007_to_2018Q4.csv.gz"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2" descr="Blue rectangle">
            <a:extLst>
              <a:ext uri="{FF2B5EF4-FFF2-40B4-BE49-F238E27FC236}">
                <a16:creationId xmlns:a16="http://schemas.microsoft.com/office/drawing/2014/main" id="{482BBC39-5D4C-4E24-ADB1-5FFFBA7198DC}"/>
              </a:ext>
            </a:extLst>
          </p:cNvPr>
          <p:cNvSpPr/>
          <p:nvPr/>
        </p:nvSpPr>
        <p:spPr>
          <a:xfrm>
            <a:off x="0" y="0"/>
            <a:ext cx="12188952" cy="6858000"/>
          </a:xfrm>
          <a:prstGeom prst="rect">
            <a:avLst/>
          </a:prstGeom>
          <a:blipFill>
            <a:blip r:embed="rId3"/>
            <a:srcRect/>
            <a:stretch>
              <a:fillRect l="-12" r="-12"/>
            </a:stretch>
          </a:blipFill>
        </p:spPr>
        <p:txBody>
          <a:bodyPr wrap="square" lIns="0" tIns="0" rIns="0" bIns="0" rtlCol="0"/>
          <a:lstStyle/>
          <a:p>
            <a:endParaRPr lang="en-US" dirty="0"/>
          </a:p>
        </p:txBody>
      </p:sp>
      <p:sp>
        <p:nvSpPr>
          <p:cNvPr id="4" name="object 3" descr="People with documents">
            <a:extLst>
              <a:ext uri="{FF2B5EF4-FFF2-40B4-BE49-F238E27FC236}">
                <a16:creationId xmlns:a16="http://schemas.microsoft.com/office/drawing/2014/main" id="{0CA2E80D-F3EC-4A5F-8E65-56FEA206EE0F}"/>
              </a:ext>
            </a:extLst>
          </p:cNvPr>
          <p:cNvSpPr/>
          <p:nvPr/>
        </p:nvSpPr>
        <p:spPr>
          <a:xfrm>
            <a:off x="2540" y="0"/>
            <a:ext cx="12189460" cy="6858000"/>
          </a:xfrm>
          <a:custGeom>
            <a:avLst/>
            <a:gdLst/>
            <a:ahLst/>
            <a:cxnLst/>
            <a:rect l="l" t="t" r="r" b="b"/>
            <a:pathLst>
              <a:path w="12189460" h="6858000">
                <a:moveTo>
                  <a:pt x="0" y="6858000"/>
                </a:moveTo>
                <a:lnTo>
                  <a:pt x="12188952" y="6858000"/>
                </a:lnTo>
                <a:lnTo>
                  <a:pt x="12188952" y="0"/>
                </a:lnTo>
                <a:lnTo>
                  <a:pt x="0" y="0"/>
                </a:lnTo>
                <a:lnTo>
                  <a:pt x="0" y="6858000"/>
                </a:lnTo>
                <a:close/>
              </a:path>
            </a:pathLst>
          </a:custGeom>
          <a:solidFill>
            <a:schemeClr val="tx2">
              <a:alpha val="69999"/>
            </a:schemeClr>
          </a:solidFill>
        </p:spPr>
        <p:txBody>
          <a:bodyPr wrap="square" lIns="0" tIns="0" rIns="0" bIns="0" rtlCol="0"/>
          <a:lstStyle/>
          <a:p>
            <a:endParaRPr lang="en-US" dirty="0"/>
          </a:p>
        </p:txBody>
      </p:sp>
      <p:sp>
        <p:nvSpPr>
          <p:cNvPr id="2" name="Title 1">
            <a:extLst>
              <a:ext uri="{FF2B5EF4-FFF2-40B4-BE49-F238E27FC236}">
                <a16:creationId xmlns:a16="http://schemas.microsoft.com/office/drawing/2014/main" id="{AFB6C91D-4B22-49F1-9A0B-ABEB9E1F5A26}"/>
              </a:ext>
            </a:extLst>
          </p:cNvPr>
          <p:cNvSpPr>
            <a:spLocks noGrp="1"/>
          </p:cNvSpPr>
          <p:nvPr>
            <p:ph type="ctrTitle"/>
          </p:nvPr>
        </p:nvSpPr>
        <p:spPr>
          <a:xfrm>
            <a:off x="1524000" y="2008518"/>
            <a:ext cx="9144000" cy="2128049"/>
          </a:xfrm>
        </p:spPr>
        <p:txBody>
          <a:bodyPr>
            <a:normAutofit fontScale="90000"/>
          </a:bodyPr>
          <a:lstStyle/>
          <a:p>
            <a:r>
              <a:rPr lang="en-US" sz="5400" dirty="0"/>
              <a:t>Consumer Credit Risk &amp; Borrower Segmentation Analysis</a:t>
            </a:r>
            <a:br>
              <a:rPr lang="en-US" sz="5000" dirty="0">
                <a:solidFill>
                  <a:schemeClr val="bg1"/>
                </a:solidFill>
                <a:latin typeface="Gill Sans MT" panose="020B0502020104020203" pitchFamily="34" charset="0"/>
              </a:rPr>
            </a:br>
            <a:r>
              <a:rPr lang="en-US" sz="2000" dirty="0"/>
              <a:t>End-to-End Credit Risk Analytics Using Python, SQL &amp; Power BI</a:t>
            </a:r>
            <a:endParaRPr lang="en-US" sz="2000" dirty="0">
              <a:solidFill>
                <a:schemeClr val="bg1"/>
              </a:solidFill>
              <a:latin typeface="Gill Sans MT" panose="020B0502020104020203" pitchFamily="34" charset="0"/>
            </a:endParaRPr>
          </a:p>
        </p:txBody>
      </p:sp>
      <p:sp>
        <p:nvSpPr>
          <p:cNvPr id="3" name="Subtitle 2">
            <a:extLst>
              <a:ext uri="{FF2B5EF4-FFF2-40B4-BE49-F238E27FC236}">
                <a16:creationId xmlns:a16="http://schemas.microsoft.com/office/drawing/2014/main" id="{2F8CF06A-B594-4BA2-8B1E-D649096D742F}"/>
              </a:ext>
            </a:extLst>
          </p:cNvPr>
          <p:cNvSpPr>
            <a:spLocks noGrp="1"/>
          </p:cNvSpPr>
          <p:nvPr>
            <p:ph type="subTitle" idx="1"/>
          </p:nvPr>
        </p:nvSpPr>
        <p:spPr>
          <a:xfrm>
            <a:off x="346916" y="5548517"/>
            <a:ext cx="3888000" cy="882001"/>
          </a:xfrm>
          <a:solidFill>
            <a:schemeClr val="accent2">
              <a:alpha val="90000"/>
            </a:schemeClr>
          </a:solidFill>
        </p:spPr>
        <p:txBody>
          <a:bodyPr anchor="ctr" anchorCtr="0">
            <a:normAutofit lnSpcReduction="10000"/>
          </a:bodyPr>
          <a:lstStyle/>
          <a:p>
            <a:r>
              <a:rPr lang="en-US" sz="2500" b="1" i="1" spc="65" dirty="0">
                <a:solidFill>
                  <a:schemeClr val="accent1"/>
                </a:solidFill>
                <a:latin typeface="Arial"/>
                <a:cs typeface="Arial"/>
              </a:rPr>
              <a:t>Presented By:</a:t>
            </a:r>
          </a:p>
          <a:p>
            <a:r>
              <a:rPr lang="en-US" dirty="0"/>
              <a:t>Bukola Aina</a:t>
            </a:r>
            <a:endParaRPr lang="en-US" sz="2500" b="1" i="1" spc="65" dirty="0">
              <a:solidFill>
                <a:schemeClr val="accent1"/>
              </a:solidFill>
              <a:latin typeface="Arial"/>
              <a:cs typeface="Arial"/>
            </a:endParaRPr>
          </a:p>
        </p:txBody>
      </p:sp>
      <p:sp>
        <p:nvSpPr>
          <p:cNvPr id="7" name="TextBox 6">
            <a:extLst>
              <a:ext uri="{FF2B5EF4-FFF2-40B4-BE49-F238E27FC236}">
                <a16:creationId xmlns:a16="http://schemas.microsoft.com/office/drawing/2014/main" id="{C9DD8997-0969-0A04-D29B-EE21D6133661}"/>
              </a:ext>
            </a:extLst>
          </p:cNvPr>
          <p:cNvSpPr txBox="1"/>
          <p:nvPr/>
        </p:nvSpPr>
        <p:spPr>
          <a:xfrm>
            <a:off x="10047044" y="5691578"/>
            <a:ext cx="1902542" cy="584775"/>
          </a:xfrm>
          <a:prstGeom prst="rect">
            <a:avLst/>
          </a:prstGeom>
          <a:noFill/>
        </p:spPr>
        <p:txBody>
          <a:bodyPr wrap="square" rtlCol="0">
            <a:spAutoFit/>
          </a:bodyPr>
          <a:lstStyle/>
          <a:p>
            <a:r>
              <a:rPr lang="en-CA" sz="1600" dirty="0">
                <a:solidFill>
                  <a:schemeClr val="bg1"/>
                </a:solidFill>
              </a:rPr>
              <a:t>Date:</a:t>
            </a:r>
          </a:p>
          <a:p>
            <a:r>
              <a:rPr lang="en-CA" sz="1600" dirty="0">
                <a:solidFill>
                  <a:schemeClr val="bg1"/>
                </a:solidFill>
              </a:rPr>
              <a:t>December 2025</a:t>
            </a:r>
          </a:p>
        </p:txBody>
      </p:sp>
    </p:spTree>
    <p:extLst>
      <p:ext uri="{BB962C8B-B14F-4D97-AF65-F5344CB8AC3E}">
        <p14:creationId xmlns:p14="http://schemas.microsoft.com/office/powerpoint/2010/main" val="10935560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7" descr="Man talks by phone">
            <a:extLst>
              <a:ext uri="{FF2B5EF4-FFF2-40B4-BE49-F238E27FC236}">
                <a16:creationId xmlns:a16="http://schemas.microsoft.com/office/drawing/2014/main" id="{2894B736-0F24-454E-8A9D-717EB78697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82" y="4665"/>
            <a:ext cx="6991350" cy="6848669"/>
          </a:xfrm>
          <a:prstGeom prst="rect">
            <a:avLst/>
          </a:prstGeom>
        </p:spPr>
      </p:pic>
      <p:sp>
        <p:nvSpPr>
          <p:cNvPr id="5" name="object 3" descr="Beige rectangle">
            <a:extLst>
              <a:ext uri="{FF2B5EF4-FFF2-40B4-BE49-F238E27FC236}">
                <a16:creationId xmlns:a16="http://schemas.microsoft.com/office/drawing/2014/main" id="{DCF29767-6635-4A46-AB77-672CC90C6FBE}"/>
              </a:ext>
            </a:extLst>
          </p:cNvPr>
          <p:cNvSpPr/>
          <p:nvPr/>
        </p:nvSpPr>
        <p:spPr>
          <a:xfrm>
            <a:off x="8181340" y="1359001"/>
            <a:ext cx="4010660" cy="4194074"/>
          </a:xfrm>
          <a:custGeom>
            <a:avLst/>
            <a:gdLst/>
            <a:ahLst/>
            <a:cxnLst/>
            <a:rect l="l" t="t" r="r" b="b"/>
            <a:pathLst>
              <a:path w="4010659" h="333375">
                <a:moveTo>
                  <a:pt x="0" y="333006"/>
                </a:moveTo>
                <a:lnTo>
                  <a:pt x="4010367" y="333006"/>
                </a:lnTo>
                <a:lnTo>
                  <a:pt x="4010367" y="0"/>
                </a:lnTo>
                <a:lnTo>
                  <a:pt x="0" y="0"/>
                </a:lnTo>
                <a:lnTo>
                  <a:pt x="0" y="333006"/>
                </a:lnTo>
                <a:close/>
              </a:path>
            </a:pathLst>
          </a:custGeom>
          <a:solidFill>
            <a:schemeClr val="accent1"/>
          </a:solidFill>
        </p:spPr>
        <p:txBody>
          <a:bodyPr wrap="square" lIns="0" tIns="0" rIns="0" bIns="0" rtlCol="0"/>
          <a:lstStyle/>
          <a:p>
            <a:endParaRPr lang="en-US" dirty="0"/>
          </a:p>
        </p:txBody>
      </p:sp>
      <p:sp>
        <p:nvSpPr>
          <p:cNvPr id="6" name="object 6" descr="Blue rectangle">
            <a:extLst>
              <a:ext uri="{FF2B5EF4-FFF2-40B4-BE49-F238E27FC236}">
                <a16:creationId xmlns:a16="http://schemas.microsoft.com/office/drawing/2014/main" id="{9FABC344-E043-45BE-8588-06C658DBCE70}"/>
              </a:ext>
            </a:extLst>
          </p:cNvPr>
          <p:cNvSpPr/>
          <p:nvPr/>
        </p:nvSpPr>
        <p:spPr>
          <a:xfrm>
            <a:off x="5502275" y="1692008"/>
            <a:ext cx="6689725" cy="3528060"/>
          </a:xfrm>
          <a:custGeom>
            <a:avLst/>
            <a:gdLst/>
            <a:ahLst/>
            <a:cxnLst/>
            <a:rect l="l" t="t" r="r" b="b"/>
            <a:pathLst>
              <a:path w="6689725" h="3528060">
                <a:moveTo>
                  <a:pt x="0" y="3527996"/>
                </a:moveTo>
                <a:lnTo>
                  <a:pt x="6689648" y="3527996"/>
                </a:lnTo>
                <a:lnTo>
                  <a:pt x="6689648" y="0"/>
                </a:lnTo>
                <a:lnTo>
                  <a:pt x="0" y="0"/>
                </a:lnTo>
                <a:lnTo>
                  <a:pt x="0" y="3527996"/>
                </a:lnTo>
                <a:close/>
              </a:path>
            </a:pathLst>
          </a:custGeom>
          <a:solidFill>
            <a:schemeClr val="accent2"/>
          </a:solidFill>
        </p:spPr>
        <p:txBody>
          <a:bodyPr wrap="square" lIns="0" tIns="0" rIns="0" bIns="0" rtlCol="0"/>
          <a:lstStyle/>
          <a:p>
            <a:endParaRPr lang="en-US" dirty="0"/>
          </a:p>
        </p:txBody>
      </p:sp>
      <p:sp>
        <p:nvSpPr>
          <p:cNvPr id="2" name="Title 1">
            <a:extLst>
              <a:ext uri="{FF2B5EF4-FFF2-40B4-BE49-F238E27FC236}">
                <a16:creationId xmlns:a16="http://schemas.microsoft.com/office/drawing/2014/main" id="{345C5720-51D4-4632-91CD-936B8AB96750}"/>
              </a:ext>
            </a:extLst>
          </p:cNvPr>
          <p:cNvSpPr>
            <a:spLocks noGrp="1"/>
          </p:cNvSpPr>
          <p:nvPr>
            <p:ph type="title"/>
          </p:nvPr>
        </p:nvSpPr>
        <p:spPr>
          <a:xfrm>
            <a:off x="6207698" y="2331086"/>
            <a:ext cx="5165558" cy="833856"/>
          </a:xfrm>
        </p:spPr>
        <p:txBody>
          <a:bodyPr/>
          <a:lstStyle/>
          <a:p>
            <a:r>
              <a:rPr lang="en-US" dirty="0">
                <a:solidFill>
                  <a:schemeClr val="bg1"/>
                </a:solidFill>
              </a:rPr>
              <a:t>INTRODUCTION</a:t>
            </a:r>
            <a:endParaRPr lang="en-US" dirty="0">
              <a:latin typeface="Gill Sans MT" panose="020B0502020104020203" pitchFamily="34" charset="0"/>
            </a:endParaRPr>
          </a:p>
        </p:txBody>
      </p:sp>
      <p:sp>
        <p:nvSpPr>
          <p:cNvPr id="3" name="Slide Number Placeholder 2">
            <a:extLst>
              <a:ext uri="{FF2B5EF4-FFF2-40B4-BE49-F238E27FC236}">
                <a16:creationId xmlns:a16="http://schemas.microsoft.com/office/drawing/2014/main" id="{24D506CC-0185-443E-82C7-1600C21D6E91}"/>
              </a:ext>
            </a:extLst>
          </p:cNvPr>
          <p:cNvSpPr>
            <a:spLocks noGrp="1"/>
          </p:cNvSpPr>
          <p:nvPr>
            <p:ph type="sldNum" sz="quarter" idx="12"/>
          </p:nvPr>
        </p:nvSpPr>
        <p:spPr/>
        <p:txBody>
          <a:bodyPr/>
          <a:lstStyle/>
          <a:p>
            <a:fld id="{82EE24B5-652C-4DB5-B7C3-B5BBEC1280B1}" type="slidenum">
              <a:rPr lang="en-US" smtClean="0"/>
              <a:t>2</a:t>
            </a:fld>
            <a:endParaRPr lang="en-US" dirty="0"/>
          </a:p>
        </p:txBody>
      </p:sp>
      <p:sp>
        <p:nvSpPr>
          <p:cNvPr id="7" name="object 9" descr="Beige rectangle">
            <a:extLst>
              <a:ext uri="{FF2B5EF4-FFF2-40B4-BE49-F238E27FC236}">
                <a16:creationId xmlns:a16="http://schemas.microsoft.com/office/drawing/2014/main" id="{02C6628C-972C-4717-AAF3-D882B30F6658}"/>
              </a:ext>
            </a:extLst>
          </p:cNvPr>
          <p:cNvSpPr/>
          <p:nvPr/>
        </p:nvSpPr>
        <p:spPr>
          <a:xfrm>
            <a:off x="6313932" y="3035554"/>
            <a:ext cx="2988000" cy="0"/>
          </a:xfrm>
          <a:custGeom>
            <a:avLst/>
            <a:gdLst/>
            <a:ahLst/>
            <a:cxnLst/>
            <a:rect l="l" t="t" r="r" b="b"/>
            <a:pathLst>
              <a:path w="2642870">
                <a:moveTo>
                  <a:pt x="0" y="0"/>
                </a:moveTo>
                <a:lnTo>
                  <a:pt x="2642616" y="0"/>
                </a:lnTo>
              </a:path>
            </a:pathLst>
          </a:custGeom>
          <a:ln w="54863">
            <a:solidFill>
              <a:schemeClr val="accent1"/>
            </a:solidFill>
          </a:ln>
        </p:spPr>
        <p:txBody>
          <a:bodyPr wrap="square" lIns="0" tIns="0" rIns="0" bIns="0" rtlCol="0"/>
          <a:lstStyle/>
          <a:p>
            <a:endParaRPr lang="en-US" dirty="0"/>
          </a:p>
        </p:txBody>
      </p:sp>
      <p:sp>
        <p:nvSpPr>
          <p:cNvPr id="9" name="Content Placeholder 3">
            <a:extLst>
              <a:ext uri="{FF2B5EF4-FFF2-40B4-BE49-F238E27FC236}">
                <a16:creationId xmlns:a16="http://schemas.microsoft.com/office/drawing/2014/main" id="{E7A818AB-B120-41D5-88A6-933AB9CAAE68}"/>
              </a:ext>
            </a:extLst>
          </p:cNvPr>
          <p:cNvSpPr txBox="1">
            <a:spLocks/>
          </p:cNvSpPr>
          <p:nvPr/>
        </p:nvSpPr>
        <p:spPr>
          <a:xfrm>
            <a:off x="5810865" y="3217631"/>
            <a:ext cx="5558977" cy="1767324"/>
          </a:xfrm>
          <a:prstGeom prst="rect">
            <a:avLst/>
          </a:prstGeom>
        </p:spPr>
        <p:txBody>
          <a:bodyPr>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solidFill>
                  <a:schemeClr val="bg1"/>
                </a:solidFill>
              </a:rPr>
              <a:t>Consumer lending portfolios contain borrowers with varying levels of credit risk, making it essential for financial institutions to accurately identify, price, and manage risk. This project applies data analytics and machine learning techniques to segment borrowers, evaluate default behavior, and assess whether underwriting and pricing decisions align with observed risk outcomes.</a:t>
            </a:r>
          </a:p>
          <a:p>
            <a:r>
              <a:rPr lang="en-US" sz="1800" dirty="0">
                <a:solidFill>
                  <a:schemeClr val="bg1"/>
                </a:solidFill>
              </a:rPr>
              <a:t>The analysis is designed to reflect real-world credit risk workflows, transforming raw borrower data into actionable insights for risk and underwriting teams.</a:t>
            </a:r>
          </a:p>
        </p:txBody>
      </p:sp>
    </p:spTree>
    <p:extLst>
      <p:ext uri="{BB962C8B-B14F-4D97-AF65-F5344CB8AC3E}">
        <p14:creationId xmlns:p14="http://schemas.microsoft.com/office/powerpoint/2010/main" val="17939497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People's hands">
            <a:extLst>
              <a:ext uri="{FF2B5EF4-FFF2-40B4-BE49-F238E27FC236}">
                <a16:creationId xmlns:a16="http://schemas.microsoft.com/office/drawing/2014/main" id="{7D87B918-371C-4B31-9C7A-1D9A08C8A3BB}"/>
              </a:ext>
            </a:extLst>
          </p:cNvPr>
          <p:cNvPicPr>
            <a:picLocks noGrp="1" noChangeAspect="1"/>
          </p:cNvPicPr>
          <p:nvPr>
            <p:ph sz="half" idx="4294967295"/>
          </p:nvPr>
        </p:nvPicPr>
        <p:blipFill rotWithShape="1">
          <a:blip r:embed="rId3">
            <a:extLst>
              <a:ext uri="{28A0092B-C50C-407E-A947-70E740481C1C}">
                <a14:useLocalDpi xmlns:a14="http://schemas.microsoft.com/office/drawing/2010/main" val="0"/>
              </a:ext>
            </a:extLst>
          </a:blip>
          <a:srcRect/>
          <a:stretch/>
        </p:blipFill>
        <p:spPr>
          <a:xfrm>
            <a:off x="1200" y="0"/>
            <a:ext cx="12189600" cy="6856650"/>
          </a:xfrm>
        </p:spPr>
      </p:pic>
      <p:sp>
        <p:nvSpPr>
          <p:cNvPr id="8" name="object 3" descr="Blue rectangle">
            <a:extLst>
              <a:ext uri="{FF2B5EF4-FFF2-40B4-BE49-F238E27FC236}">
                <a16:creationId xmlns:a16="http://schemas.microsoft.com/office/drawing/2014/main" id="{A277388B-76FD-44C4-B506-F8A157E57C65}"/>
              </a:ext>
            </a:extLst>
          </p:cNvPr>
          <p:cNvSpPr/>
          <p:nvPr/>
        </p:nvSpPr>
        <p:spPr>
          <a:xfrm>
            <a:off x="0" y="0"/>
            <a:ext cx="12189600" cy="6858000"/>
          </a:xfrm>
          <a:custGeom>
            <a:avLst/>
            <a:gdLst/>
            <a:ahLst/>
            <a:cxnLst/>
            <a:rect l="l" t="t" r="r" b="b"/>
            <a:pathLst>
              <a:path w="12189460" h="6858000">
                <a:moveTo>
                  <a:pt x="0" y="6858000"/>
                </a:moveTo>
                <a:lnTo>
                  <a:pt x="12188952" y="6858000"/>
                </a:lnTo>
                <a:lnTo>
                  <a:pt x="12188952" y="0"/>
                </a:lnTo>
                <a:lnTo>
                  <a:pt x="0" y="0"/>
                </a:lnTo>
                <a:lnTo>
                  <a:pt x="0" y="6858000"/>
                </a:lnTo>
                <a:close/>
              </a:path>
            </a:pathLst>
          </a:custGeom>
          <a:solidFill>
            <a:schemeClr val="tx2">
              <a:alpha val="69999"/>
            </a:schemeClr>
          </a:solidFill>
        </p:spPr>
        <p:txBody>
          <a:bodyPr wrap="square" lIns="0" tIns="0" rIns="0" bIns="0" rtlCol="0"/>
          <a:lstStyle/>
          <a:p>
            <a:endParaRPr lang="en-US" dirty="0"/>
          </a:p>
        </p:txBody>
      </p:sp>
      <p:sp>
        <p:nvSpPr>
          <p:cNvPr id="9" name="Oval 8" descr="Beige oval">
            <a:extLst>
              <a:ext uri="{FF2B5EF4-FFF2-40B4-BE49-F238E27FC236}">
                <a16:creationId xmlns:a16="http://schemas.microsoft.com/office/drawing/2014/main" id="{1191A09B-8CB4-416A-B1F9-ABC3B476DE1F}"/>
              </a:ext>
            </a:extLst>
          </p:cNvPr>
          <p:cNvSpPr/>
          <p:nvPr/>
        </p:nvSpPr>
        <p:spPr>
          <a:xfrm>
            <a:off x="11562237" y="6227432"/>
            <a:ext cx="266400" cy="266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4D00B79-44BB-4D5F-B51D-2270A854D77A}"/>
              </a:ext>
            </a:extLst>
          </p:cNvPr>
          <p:cNvSpPr>
            <a:spLocks noGrp="1"/>
          </p:cNvSpPr>
          <p:nvPr>
            <p:ph type="title"/>
          </p:nvPr>
        </p:nvSpPr>
        <p:spPr>
          <a:xfrm>
            <a:off x="806116" y="329956"/>
            <a:ext cx="10515600" cy="1325563"/>
          </a:xfrm>
        </p:spPr>
        <p:txBody>
          <a:bodyPr/>
          <a:lstStyle/>
          <a:p>
            <a:r>
              <a:rPr lang="en-CA" dirty="0">
                <a:solidFill>
                  <a:schemeClr val="bg1"/>
                </a:solidFill>
              </a:rPr>
              <a:t>Business Context (5W1H )</a:t>
            </a:r>
            <a:endParaRPr lang="en-US" dirty="0">
              <a:solidFill>
                <a:schemeClr val="bg1"/>
              </a:solidFill>
            </a:endParaRPr>
          </a:p>
        </p:txBody>
      </p:sp>
      <p:sp>
        <p:nvSpPr>
          <p:cNvPr id="5" name="Slide Number Placeholder 4">
            <a:extLst>
              <a:ext uri="{FF2B5EF4-FFF2-40B4-BE49-F238E27FC236}">
                <a16:creationId xmlns:a16="http://schemas.microsoft.com/office/drawing/2014/main" id="{CDF3C1EE-D9A0-406A-9A3A-75C82527E0DC}"/>
              </a:ext>
            </a:extLst>
          </p:cNvPr>
          <p:cNvSpPr>
            <a:spLocks noGrp="1"/>
          </p:cNvSpPr>
          <p:nvPr>
            <p:ph type="sldNum" sz="quarter" idx="12"/>
          </p:nvPr>
        </p:nvSpPr>
        <p:spPr/>
        <p:txBody>
          <a:bodyPr/>
          <a:lstStyle/>
          <a:p>
            <a:fld id="{82EE24B5-652C-4DB5-B7C3-B5BBEC1280B1}" type="slidenum">
              <a:rPr lang="en-US" smtClean="0"/>
              <a:t>3</a:t>
            </a:fld>
            <a:endParaRPr lang="en-US" dirty="0"/>
          </a:p>
        </p:txBody>
      </p:sp>
      <p:sp>
        <p:nvSpPr>
          <p:cNvPr id="11" name="object 5" descr="Beige rectangle">
            <a:extLst>
              <a:ext uri="{FF2B5EF4-FFF2-40B4-BE49-F238E27FC236}">
                <a16:creationId xmlns:a16="http://schemas.microsoft.com/office/drawing/2014/main" id="{B07BA1F9-2C19-4C07-B29B-18B9FBCC4755}"/>
              </a:ext>
            </a:extLst>
          </p:cNvPr>
          <p:cNvSpPr/>
          <p:nvPr/>
        </p:nvSpPr>
        <p:spPr>
          <a:xfrm>
            <a:off x="915637" y="1309144"/>
            <a:ext cx="4608000" cy="0"/>
          </a:xfrm>
          <a:custGeom>
            <a:avLst/>
            <a:gdLst/>
            <a:ahLst/>
            <a:cxnLst/>
            <a:rect l="l" t="t" r="r" b="b"/>
            <a:pathLst>
              <a:path w="3931920">
                <a:moveTo>
                  <a:pt x="0" y="0"/>
                </a:moveTo>
                <a:lnTo>
                  <a:pt x="3931920" y="0"/>
                </a:lnTo>
              </a:path>
            </a:pathLst>
          </a:custGeom>
          <a:ln w="54864">
            <a:solidFill>
              <a:schemeClr val="accent1"/>
            </a:solidFill>
          </a:ln>
        </p:spPr>
        <p:txBody>
          <a:bodyPr wrap="square" lIns="0" tIns="0" rIns="0" bIns="0" rtlCol="0"/>
          <a:lstStyle/>
          <a:p>
            <a:endParaRPr lang="en-US" dirty="0"/>
          </a:p>
        </p:txBody>
      </p:sp>
      <p:cxnSp>
        <p:nvCxnSpPr>
          <p:cNvPr id="10" name="Straight Connector 9" descr="Line">
            <a:extLst>
              <a:ext uri="{FF2B5EF4-FFF2-40B4-BE49-F238E27FC236}">
                <a16:creationId xmlns:a16="http://schemas.microsoft.com/office/drawing/2014/main" id="{4C3F4FC5-0C01-4592-9483-D476EA2BDF93}"/>
              </a:ext>
            </a:extLst>
          </p:cNvPr>
          <p:cNvCxnSpPr/>
          <p:nvPr/>
        </p:nvCxnSpPr>
        <p:spPr>
          <a:xfrm>
            <a:off x="6096000" y="4124378"/>
            <a:ext cx="0" cy="39600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135EED52-CF10-FD16-1F70-E842B59289CA}"/>
              </a:ext>
            </a:extLst>
          </p:cNvPr>
          <p:cNvSpPr txBox="1"/>
          <p:nvPr/>
        </p:nvSpPr>
        <p:spPr>
          <a:xfrm>
            <a:off x="806116" y="1985475"/>
            <a:ext cx="8411626" cy="5078313"/>
          </a:xfrm>
          <a:prstGeom prst="rect">
            <a:avLst/>
          </a:prstGeom>
          <a:noFill/>
        </p:spPr>
        <p:txBody>
          <a:bodyPr wrap="square" rtlCol="0">
            <a:spAutoFit/>
          </a:bodyPr>
          <a:lstStyle/>
          <a:p>
            <a:r>
              <a:rPr lang="en-US" b="1" dirty="0">
                <a:solidFill>
                  <a:schemeClr val="bg1"/>
                </a:solidFill>
              </a:rPr>
              <a:t>Who</a:t>
            </a:r>
            <a:br>
              <a:rPr lang="en-US" dirty="0">
                <a:solidFill>
                  <a:schemeClr val="bg1"/>
                </a:solidFill>
              </a:rPr>
            </a:br>
            <a:r>
              <a:rPr lang="en-US" dirty="0">
                <a:solidFill>
                  <a:schemeClr val="bg1"/>
                </a:solidFill>
              </a:rPr>
              <a:t>Credit Risk &amp; Underwriting Teams</a:t>
            </a:r>
          </a:p>
          <a:p>
            <a:endParaRPr lang="en-US" dirty="0">
              <a:solidFill>
                <a:schemeClr val="bg1"/>
              </a:solidFill>
            </a:endParaRPr>
          </a:p>
          <a:p>
            <a:r>
              <a:rPr lang="en-US" b="1" dirty="0">
                <a:solidFill>
                  <a:schemeClr val="bg1"/>
                </a:solidFill>
              </a:rPr>
              <a:t>What</a:t>
            </a:r>
            <a:br>
              <a:rPr lang="en-US" dirty="0">
                <a:solidFill>
                  <a:schemeClr val="bg1"/>
                </a:solidFill>
              </a:rPr>
            </a:br>
            <a:r>
              <a:rPr lang="en-US" dirty="0">
                <a:solidFill>
                  <a:schemeClr val="bg1"/>
                </a:solidFill>
              </a:rPr>
              <a:t>Segment borrowers, assess default risk, and validate underwriting decisions</a:t>
            </a:r>
          </a:p>
          <a:p>
            <a:endParaRPr lang="en-US" dirty="0">
              <a:solidFill>
                <a:schemeClr val="bg1"/>
              </a:solidFill>
            </a:endParaRPr>
          </a:p>
          <a:p>
            <a:r>
              <a:rPr lang="en-US" b="1" dirty="0">
                <a:solidFill>
                  <a:schemeClr val="bg1"/>
                </a:solidFill>
              </a:rPr>
              <a:t>Why</a:t>
            </a:r>
            <a:br>
              <a:rPr lang="en-US" dirty="0">
                <a:solidFill>
                  <a:schemeClr val="bg1"/>
                </a:solidFill>
              </a:rPr>
            </a:br>
            <a:r>
              <a:rPr lang="en-US" dirty="0">
                <a:solidFill>
                  <a:schemeClr val="bg1"/>
                </a:solidFill>
              </a:rPr>
              <a:t>To improve risk-based pricing, portfolio monitoring, and approval effectiveness</a:t>
            </a:r>
          </a:p>
          <a:p>
            <a:endParaRPr lang="en-US" dirty="0">
              <a:solidFill>
                <a:schemeClr val="bg1"/>
              </a:solidFill>
            </a:endParaRPr>
          </a:p>
          <a:p>
            <a:r>
              <a:rPr lang="en-US" b="1" dirty="0">
                <a:solidFill>
                  <a:schemeClr val="bg1"/>
                </a:solidFill>
              </a:rPr>
              <a:t>Where</a:t>
            </a:r>
            <a:br>
              <a:rPr lang="en-US" dirty="0">
                <a:solidFill>
                  <a:schemeClr val="bg1"/>
                </a:solidFill>
              </a:rPr>
            </a:br>
            <a:r>
              <a:rPr lang="en-US" dirty="0">
                <a:solidFill>
                  <a:schemeClr val="bg1"/>
                </a:solidFill>
              </a:rPr>
              <a:t>Consumer installment loan portfolio</a:t>
            </a:r>
          </a:p>
          <a:p>
            <a:endParaRPr lang="en-US" dirty="0">
              <a:solidFill>
                <a:schemeClr val="bg1"/>
              </a:solidFill>
            </a:endParaRPr>
          </a:p>
          <a:p>
            <a:r>
              <a:rPr lang="en-US" b="1" dirty="0">
                <a:solidFill>
                  <a:schemeClr val="bg1"/>
                </a:solidFill>
              </a:rPr>
              <a:t>When</a:t>
            </a:r>
            <a:br>
              <a:rPr lang="en-US" dirty="0">
                <a:solidFill>
                  <a:schemeClr val="bg1"/>
                </a:solidFill>
              </a:rPr>
            </a:br>
            <a:r>
              <a:rPr lang="en-US" dirty="0">
                <a:solidFill>
                  <a:schemeClr val="bg1"/>
                </a:solidFill>
              </a:rPr>
              <a:t>Loan performance lifecycle (origination → repayment → default)</a:t>
            </a:r>
          </a:p>
          <a:p>
            <a:endParaRPr lang="en-US" dirty="0">
              <a:solidFill>
                <a:schemeClr val="bg1"/>
              </a:solidFill>
            </a:endParaRPr>
          </a:p>
          <a:p>
            <a:r>
              <a:rPr lang="en-US" b="1" dirty="0">
                <a:solidFill>
                  <a:schemeClr val="bg1"/>
                </a:solidFill>
              </a:rPr>
              <a:t>How</a:t>
            </a:r>
            <a:br>
              <a:rPr lang="en-US" dirty="0">
                <a:solidFill>
                  <a:schemeClr val="bg1"/>
                </a:solidFill>
              </a:rPr>
            </a:br>
            <a:r>
              <a:rPr lang="en-US" dirty="0">
                <a:solidFill>
                  <a:schemeClr val="bg1"/>
                </a:solidFill>
              </a:rPr>
              <a:t>Machine learning, statistical analysis, and executive dashboards</a:t>
            </a:r>
          </a:p>
          <a:p>
            <a:endParaRPr lang="en-CA" dirty="0"/>
          </a:p>
        </p:txBody>
      </p:sp>
    </p:spTree>
    <p:extLst>
      <p:ext uri="{BB962C8B-B14F-4D97-AF65-F5344CB8AC3E}">
        <p14:creationId xmlns:p14="http://schemas.microsoft.com/office/powerpoint/2010/main" val="22632158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5AF0B-059A-2D74-4672-5DAFFA6789A2}"/>
            </a:ext>
          </a:extLst>
        </p:cNvPr>
        <p:cNvGrpSpPr/>
        <p:nvPr/>
      </p:nvGrpSpPr>
      <p:grpSpPr>
        <a:xfrm>
          <a:off x="0" y="0"/>
          <a:ext cx="0" cy="0"/>
          <a:chOff x="0" y="0"/>
          <a:chExt cx="0" cy="0"/>
        </a:xfrm>
      </p:grpSpPr>
      <p:pic>
        <p:nvPicPr>
          <p:cNvPr id="7" name="Content Placeholder 6" descr="People's hands">
            <a:extLst>
              <a:ext uri="{FF2B5EF4-FFF2-40B4-BE49-F238E27FC236}">
                <a16:creationId xmlns:a16="http://schemas.microsoft.com/office/drawing/2014/main" id="{E10284AC-33D4-FEAE-0646-26628FF7CB19}"/>
              </a:ext>
            </a:extLst>
          </p:cNvPr>
          <p:cNvPicPr>
            <a:picLocks noGrp="1" noChangeAspect="1"/>
          </p:cNvPicPr>
          <p:nvPr>
            <p:ph sz="half" idx="4294967295"/>
          </p:nvPr>
        </p:nvPicPr>
        <p:blipFill rotWithShape="1">
          <a:blip r:embed="rId3">
            <a:extLst>
              <a:ext uri="{28A0092B-C50C-407E-A947-70E740481C1C}">
                <a14:useLocalDpi xmlns:a14="http://schemas.microsoft.com/office/drawing/2010/main" val="0"/>
              </a:ext>
            </a:extLst>
          </a:blip>
          <a:srcRect/>
          <a:stretch/>
        </p:blipFill>
        <p:spPr>
          <a:xfrm>
            <a:off x="-30884" y="0"/>
            <a:ext cx="12189600" cy="6856650"/>
          </a:xfrm>
        </p:spPr>
      </p:pic>
      <p:sp>
        <p:nvSpPr>
          <p:cNvPr id="8" name="object 3" descr="Blue rectangle">
            <a:extLst>
              <a:ext uri="{FF2B5EF4-FFF2-40B4-BE49-F238E27FC236}">
                <a16:creationId xmlns:a16="http://schemas.microsoft.com/office/drawing/2014/main" id="{68B224C3-8976-BD38-185A-92195E273C44}"/>
              </a:ext>
            </a:extLst>
          </p:cNvPr>
          <p:cNvSpPr/>
          <p:nvPr/>
        </p:nvSpPr>
        <p:spPr>
          <a:xfrm>
            <a:off x="0" y="1449884"/>
            <a:ext cx="12189600" cy="5043948"/>
          </a:xfrm>
          <a:custGeom>
            <a:avLst/>
            <a:gdLst/>
            <a:ahLst/>
            <a:cxnLst/>
            <a:rect l="l" t="t" r="r" b="b"/>
            <a:pathLst>
              <a:path w="12189460" h="6858000">
                <a:moveTo>
                  <a:pt x="0" y="6858000"/>
                </a:moveTo>
                <a:lnTo>
                  <a:pt x="12188952" y="6858000"/>
                </a:lnTo>
                <a:lnTo>
                  <a:pt x="12188952" y="0"/>
                </a:lnTo>
                <a:lnTo>
                  <a:pt x="0" y="0"/>
                </a:lnTo>
                <a:lnTo>
                  <a:pt x="0" y="6858000"/>
                </a:lnTo>
                <a:close/>
              </a:path>
            </a:pathLst>
          </a:custGeom>
          <a:solidFill>
            <a:schemeClr val="tx2">
              <a:alpha val="69999"/>
            </a:schemeClr>
          </a:solidFill>
        </p:spPr>
        <p:txBody>
          <a:bodyPr wrap="square" lIns="0" tIns="0" rIns="0" bIns="0" rtlCol="0"/>
          <a:lstStyle/>
          <a:p>
            <a:pPr lvl="0" eaLnBrk="0" fontAlgn="base" hangingPunct="0">
              <a:spcBef>
                <a:spcPct val="0"/>
              </a:spcBef>
              <a:spcAft>
                <a:spcPct val="0"/>
              </a:spcAft>
              <a:buFontTx/>
              <a:buChar char="•"/>
            </a:pPr>
            <a:endParaRPr lang="en-US" altLang="en-US" b="1" dirty="0">
              <a:solidFill>
                <a:schemeClr val="bg1"/>
              </a:solidFill>
              <a:latin typeface="Arial" panose="020B0604020202020204" pitchFamily="34" charset="0"/>
            </a:endParaRPr>
          </a:p>
          <a:p>
            <a:pPr lvl="0" eaLnBrk="0" fontAlgn="base" hangingPunct="0">
              <a:spcBef>
                <a:spcPct val="0"/>
              </a:spcBef>
              <a:spcAft>
                <a:spcPct val="0"/>
              </a:spcAft>
              <a:buFontTx/>
              <a:buChar char="•"/>
            </a:pPr>
            <a:r>
              <a:rPr lang="en-US" altLang="en-US" b="1" dirty="0">
                <a:solidFill>
                  <a:schemeClr val="bg1"/>
                </a:solidFill>
                <a:latin typeface="Arial" panose="020B0604020202020204" pitchFamily="34" charset="0"/>
              </a:rPr>
              <a:t>Which borrower segments exhibit the highest probability of default?</a:t>
            </a:r>
            <a:br>
              <a:rPr lang="en-US" altLang="en-US" dirty="0">
                <a:solidFill>
                  <a:schemeClr val="bg1"/>
                </a:solidFill>
                <a:latin typeface="Arial" panose="020B0604020202020204" pitchFamily="34" charset="0"/>
              </a:rPr>
            </a:br>
            <a:r>
              <a:rPr lang="en-US" altLang="en-US" dirty="0">
                <a:solidFill>
                  <a:schemeClr val="bg1"/>
                </a:solidFill>
                <a:latin typeface="Arial" panose="020B0604020202020204" pitchFamily="34" charset="0"/>
              </a:rPr>
              <a:t>Identify borrower segments with materially elevated default risk based on observed repayment outcomes.</a:t>
            </a:r>
          </a:p>
          <a:p>
            <a:pPr lvl="0" eaLnBrk="0" fontAlgn="base" hangingPunct="0">
              <a:spcBef>
                <a:spcPct val="0"/>
              </a:spcBef>
              <a:spcAft>
                <a:spcPct val="0"/>
              </a:spcAft>
              <a:buFontTx/>
              <a:buChar char="•"/>
            </a:pPr>
            <a:endParaRPr lang="en-US" altLang="en-US" dirty="0">
              <a:solidFill>
                <a:schemeClr val="bg1"/>
              </a:solidFill>
              <a:latin typeface="Arial" panose="020B0604020202020204" pitchFamily="34" charset="0"/>
            </a:endParaRPr>
          </a:p>
          <a:p>
            <a:pPr lvl="0" eaLnBrk="0" fontAlgn="base" hangingPunct="0">
              <a:spcBef>
                <a:spcPct val="0"/>
              </a:spcBef>
              <a:spcAft>
                <a:spcPct val="0"/>
              </a:spcAft>
              <a:buFontTx/>
              <a:buChar char="•"/>
            </a:pPr>
            <a:r>
              <a:rPr lang="en-US" altLang="en-US" b="1" dirty="0">
                <a:solidFill>
                  <a:schemeClr val="bg1"/>
                </a:solidFill>
                <a:latin typeface="Arial" panose="020B0604020202020204" pitchFamily="34" charset="0"/>
              </a:rPr>
              <a:t>How do leverage and income-to-debt ratios influence default behavior?</a:t>
            </a:r>
            <a:br>
              <a:rPr lang="en-US" altLang="en-US" dirty="0">
                <a:solidFill>
                  <a:schemeClr val="bg1"/>
                </a:solidFill>
                <a:latin typeface="Arial" panose="020B0604020202020204" pitchFamily="34" charset="0"/>
              </a:rPr>
            </a:br>
            <a:r>
              <a:rPr lang="en-US" altLang="en-US" dirty="0">
                <a:solidFill>
                  <a:schemeClr val="bg1"/>
                </a:solidFill>
                <a:latin typeface="Arial" panose="020B0604020202020204" pitchFamily="34" charset="0"/>
              </a:rPr>
              <a:t>Assess the relationship between borrower leverage metrics and observed default rates.</a:t>
            </a:r>
          </a:p>
          <a:p>
            <a:pPr lvl="0" eaLnBrk="0" fontAlgn="base" hangingPunct="0">
              <a:spcBef>
                <a:spcPct val="0"/>
              </a:spcBef>
              <a:spcAft>
                <a:spcPct val="0"/>
              </a:spcAft>
              <a:buFontTx/>
              <a:buChar char="•"/>
            </a:pPr>
            <a:endParaRPr lang="en-US" altLang="en-US" dirty="0">
              <a:solidFill>
                <a:schemeClr val="bg1"/>
              </a:solidFill>
              <a:latin typeface="Arial" panose="020B0604020202020204" pitchFamily="34" charset="0"/>
            </a:endParaRPr>
          </a:p>
          <a:p>
            <a:pPr lvl="0" eaLnBrk="0" fontAlgn="base" hangingPunct="0">
              <a:spcBef>
                <a:spcPct val="0"/>
              </a:spcBef>
              <a:spcAft>
                <a:spcPct val="0"/>
              </a:spcAft>
              <a:buFontTx/>
              <a:buChar char="•"/>
            </a:pPr>
            <a:r>
              <a:rPr lang="en-US" altLang="en-US" b="1" dirty="0">
                <a:solidFill>
                  <a:schemeClr val="bg1"/>
                </a:solidFill>
                <a:latin typeface="Arial" panose="020B0604020202020204" pitchFamily="34" charset="0"/>
              </a:rPr>
              <a:t>Which loan products contribute most to portfolio expected loss?</a:t>
            </a:r>
            <a:br>
              <a:rPr lang="en-US" altLang="en-US" dirty="0">
                <a:solidFill>
                  <a:schemeClr val="bg1"/>
                </a:solidFill>
                <a:latin typeface="Arial" panose="020B0604020202020204" pitchFamily="34" charset="0"/>
              </a:rPr>
            </a:br>
            <a:r>
              <a:rPr lang="en-US" altLang="en-US" dirty="0">
                <a:solidFill>
                  <a:schemeClr val="bg1"/>
                </a:solidFill>
                <a:latin typeface="Arial" panose="020B0604020202020204" pitchFamily="34" charset="0"/>
              </a:rPr>
              <a:t>Evaluate how loan term structure (e.g., 36- vs 60-month loans) interacts with borrower risk to drive loss exposure.</a:t>
            </a:r>
          </a:p>
          <a:p>
            <a:pPr lvl="0" eaLnBrk="0" fontAlgn="base" hangingPunct="0">
              <a:spcBef>
                <a:spcPct val="0"/>
              </a:spcBef>
              <a:spcAft>
                <a:spcPct val="0"/>
              </a:spcAft>
              <a:buFontTx/>
              <a:buChar char="•"/>
            </a:pPr>
            <a:endParaRPr lang="en-US" altLang="en-US" dirty="0">
              <a:solidFill>
                <a:schemeClr val="bg1"/>
              </a:solidFill>
              <a:latin typeface="Arial" panose="020B0604020202020204" pitchFamily="34" charset="0"/>
            </a:endParaRPr>
          </a:p>
          <a:p>
            <a:pPr lvl="0" eaLnBrk="0" fontAlgn="base" hangingPunct="0">
              <a:spcBef>
                <a:spcPct val="0"/>
              </a:spcBef>
              <a:spcAft>
                <a:spcPct val="0"/>
              </a:spcAft>
              <a:buFontTx/>
              <a:buChar char="•"/>
            </a:pPr>
            <a:r>
              <a:rPr lang="en-US" altLang="en-US" b="1" dirty="0">
                <a:solidFill>
                  <a:schemeClr val="bg1"/>
                </a:solidFill>
                <a:latin typeface="Arial" panose="020B0604020202020204" pitchFamily="34" charset="0"/>
              </a:rPr>
              <a:t>How does portfolio risk concentration change under adverse conditions?</a:t>
            </a:r>
            <a:br>
              <a:rPr lang="en-US" altLang="en-US" dirty="0">
                <a:solidFill>
                  <a:schemeClr val="bg1"/>
                </a:solidFill>
                <a:latin typeface="Arial" panose="020B0604020202020204" pitchFamily="34" charset="0"/>
              </a:rPr>
            </a:br>
            <a:r>
              <a:rPr lang="en-US" altLang="en-US" dirty="0">
                <a:solidFill>
                  <a:schemeClr val="bg1"/>
                </a:solidFill>
                <a:latin typeface="Arial" panose="020B0604020202020204" pitchFamily="34" charset="0"/>
              </a:rPr>
              <a:t>Examine how default exposure becomes concentrated within higher-risk borrower segments under stress-like assumptions.</a:t>
            </a:r>
          </a:p>
        </p:txBody>
      </p:sp>
      <p:sp>
        <p:nvSpPr>
          <p:cNvPr id="9" name="Oval 8" descr="Beige oval">
            <a:extLst>
              <a:ext uri="{FF2B5EF4-FFF2-40B4-BE49-F238E27FC236}">
                <a16:creationId xmlns:a16="http://schemas.microsoft.com/office/drawing/2014/main" id="{CA15E15C-3013-F822-6BD5-7D5FA73D64D9}"/>
              </a:ext>
            </a:extLst>
          </p:cNvPr>
          <p:cNvSpPr/>
          <p:nvPr/>
        </p:nvSpPr>
        <p:spPr>
          <a:xfrm>
            <a:off x="11562237" y="6227432"/>
            <a:ext cx="266400" cy="266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EC65BFB-4643-7C04-F7B6-0332CFC94666}"/>
              </a:ext>
            </a:extLst>
          </p:cNvPr>
          <p:cNvSpPr>
            <a:spLocks noGrp="1"/>
          </p:cNvSpPr>
          <p:nvPr>
            <p:ph type="title"/>
          </p:nvPr>
        </p:nvSpPr>
        <p:spPr>
          <a:xfrm>
            <a:off x="806116" y="329956"/>
            <a:ext cx="10515600" cy="1325563"/>
          </a:xfrm>
        </p:spPr>
        <p:txBody>
          <a:bodyPr/>
          <a:lstStyle/>
          <a:p>
            <a:r>
              <a:rPr lang="en-CA" dirty="0">
                <a:solidFill>
                  <a:schemeClr val="tx1"/>
                </a:solidFill>
              </a:rPr>
              <a:t>Business Questions</a:t>
            </a:r>
            <a:endParaRPr lang="en-US" dirty="0">
              <a:solidFill>
                <a:schemeClr val="tx1"/>
              </a:solidFill>
            </a:endParaRPr>
          </a:p>
        </p:txBody>
      </p:sp>
      <p:sp>
        <p:nvSpPr>
          <p:cNvPr id="5" name="Slide Number Placeholder 4">
            <a:extLst>
              <a:ext uri="{FF2B5EF4-FFF2-40B4-BE49-F238E27FC236}">
                <a16:creationId xmlns:a16="http://schemas.microsoft.com/office/drawing/2014/main" id="{894693B4-F70B-5E78-1CB8-BE77AC71C8B6}"/>
              </a:ext>
            </a:extLst>
          </p:cNvPr>
          <p:cNvSpPr>
            <a:spLocks noGrp="1"/>
          </p:cNvSpPr>
          <p:nvPr>
            <p:ph type="sldNum" sz="quarter" idx="12"/>
          </p:nvPr>
        </p:nvSpPr>
        <p:spPr/>
        <p:txBody>
          <a:bodyPr/>
          <a:lstStyle/>
          <a:p>
            <a:fld id="{82EE24B5-652C-4DB5-B7C3-B5BBEC1280B1}" type="slidenum">
              <a:rPr lang="en-US" smtClean="0"/>
              <a:t>4</a:t>
            </a:fld>
            <a:endParaRPr lang="en-US" dirty="0"/>
          </a:p>
        </p:txBody>
      </p:sp>
      <p:sp>
        <p:nvSpPr>
          <p:cNvPr id="11" name="object 5" descr="Beige rectangle">
            <a:extLst>
              <a:ext uri="{FF2B5EF4-FFF2-40B4-BE49-F238E27FC236}">
                <a16:creationId xmlns:a16="http://schemas.microsoft.com/office/drawing/2014/main" id="{4FF2BA11-213D-C3DA-D4A8-0DD3E658A1B6}"/>
              </a:ext>
            </a:extLst>
          </p:cNvPr>
          <p:cNvSpPr/>
          <p:nvPr/>
        </p:nvSpPr>
        <p:spPr>
          <a:xfrm>
            <a:off x="915637" y="1309144"/>
            <a:ext cx="4608000" cy="0"/>
          </a:xfrm>
          <a:custGeom>
            <a:avLst/>
            <a:gdLst/>
            <a:ahLst/>
            <a:cxnLst/>
            <a:rect l="l" t="t" r="r" b="b"/>
            <a:pathLst>
              <a:path w="3931920">
                <a:moveTo>
                  <a:pt x="0" y="0"/>
                </a:moveTo>
                <a:lnTo>
                  <a:pt x="3931920" y="0"/>
                </a:lnTo>
              </a:path>
            </a:pathLst>
          </a:custGeom>
          <a:ln w="54864">
            <a:solidFill>
              <a:schemeClr val="accent1"/>
            </a:solidFill>
          </a:ln>
        </p:spPr>
        <p:txBody>
          <a:bodyPr wrap="square" lIns="0" tIns="0" rIns="0" bIns="0" rtlCol="0"/>
          <a:lstStyle/>
          <a:p>
            <a:endParaRPr lang="en-US" dirty="0"/>
          </a:p>
        </p:txBody>
      </p:sp>
      <p:cxnSp>
        <p:nvCxnSpPr>
          <p:cNvPr id="10" name="Straight Connector 9" descr="Line">
            <a:extLst>
              <a:ext uri="{FF2B5EF4-FFF2-40B4-BE49-F238E27FC236}">
                <a16:creationId xmlns:a16="http://schemas.microsoft.com/office/drawing/2014/main" id="{024777E4-AFE8-9D2D-897A-C2D018F17D32}"/>
              </a:ext>
            </a:extLst>
          </p:cNvPr>
          <p:cNvCxnSpPr/>
          <p:nvPr/>
        </p:nvCxnSpPr>
        <p:spPr>
          <a:xfrm>
            <a:off x="6096000" y="4124378"/>
            <a:ext cx="0" cy="39600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277AA5C-B914-804B-B5A6-ABE08BEFC7BA}"/>
              </a:ext>
            </a:extLst>
          </p:cNvPr>
          <p:cNvSpPr txBox="1"/>
          <p:nvPr/>
        </p:nvSpPr>
        <p:spPr>
          <a:xfrm>
            <a:off x="5766619" y="5810865"/>
            <a:ext cx="5337385" cy="461665"/>
          </a:xfrm>
          <a:prstGeom prst="rect">
            <a:avLst/>
          </a:prstGeom>
          <a:noFill/>
        </p:spPr>
        <p:txBody>
          <a:bodyPr wrap="square" rtlCol="0">
            <a:spAutoFit/>
          </a:bodyPr>
          <a:lstStyle/>
          <a:p>
            <a:r>
              <a:rPr lang="en-US" sz="1200" i="1" dirty="0">
                <a:solidFill>
                  <a:schemeClr val="bg1"/>
                </a:solidFill>
              </a:rPr>
              <a:t>Analysis reflects historical data and directional stress assumptions rather than full macroeconomic simulation.</a:t>
            </a:r>
            <a:endParaRPr lang="en-CA" sz="1200" i="1" dirty="0">
              <a:solidFill>
                <a:schemeClr val="bg1"/>
              </a:solidFill>
            </a:endParaRPr>
          </a:p>
        </p:txBody>
      </p:sp>
    </p:spTree>
    <p:extLst>
      <p:ext uri="{BB962C8B-B14F-4D97-AF65-F5344CB8AC3E}">
        <p14:creationId xmlns:p14="http://schemas.microsoft.com/office/powerpoint/2010/main" val="41605885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4140CF4-2DAA-4239-BB77-274BDD82AB49}"/>
              </a:ext>
            </a:extLst>
          </p:cNvPr>
          <p:cNvSpPr>
            <a:spLocks noGrp="1"/>
          </p:cNvSpPr>
          <p:nvPr>
            <p:ph type="sldNum" sz="quarter" idx="12"/>
          </p:nvPr>
        </p:nvSpPr>
        <p:spPr/>
        <p:txBody>
          <a:bodyPr/>
          <a:lstStyle/>
          <a:p>
            <a:fld id="{82EE24B5-652C-4DB5-B7C3-B5BBEC1280B1}" type="slidenum">
              <a:rPr lang="en-US" smtClean="0"/>
              <a:t>5</a:t>
            </a:fld>
            <a:endParaRPr lang="en-US" dirty="0"/>
          </a:p>
        </p:txBody>
      </p:sp>
      <p:pic>
        <p:nvPicPr>
          <p:cNvPr id="4" name="Picture Placeholder 11" descr="Two men near laptop ">
            <a:extLst>
              <a:ext uri="{FF2B5EF4-FFF2-40B4-BE49-F238E27FC236}">
                <a16:creationId xmlns:a16="http://schemas.microsoft.com/office/drawing/2014/main" id="{509FA566-1699-4388-B44C-C3EE5EC0516B}"/>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flipH="1">
            <a:off x="0" y="2"/>
            <a:ext cx="6256751" cy="6857998"/>
          </a:xfrm>
          <a:prstGeom prst="rect">
            <a:avLst/>
          </a:prstGeom>
        </p:spPr>
      </p:pic>
      <p:sp>
        <p:nvSpPr>
          <p:cNvPr id="5" name="object 3" descr="Beige rectangle">
            <a:extLst>
              <a:ext uri="{FF2B5EF4-FFF2-40B4-BE49-F238E27FC236}">
                <a16:creationId xmlns:a16="http://schemas.microsoft.com/office/drawing/2014/main" id="{857A0168-DBD5-47D4-A751-3B39262D8254}"/>
              </a:ext>
            </a:extLst>
          </p:cNvPr>
          <p:cNvSpPr/>
          <p:nvPr/>
        </p:nvSpPr>
        <p:spPr>
          <a:xfrm>
            <a:off x="8355283" y="836613"/>
            <a:ext cx="3307960" cy="5184775"/>
          </a:xfrm>
          <a:custGeom>
            <a:avLst/>
            <a:gdLst/>
            <a:ahLst/>
            <a:cxnLst/>
            <a:rect l="l" t="t" r="r" b="b"/>
            <a:pathLst>
              <a:path w="4010659" h="333375">
                <a:moveTo>
                  <a:pt x="0" y="333006"/>
                </a:moveTo>
                <a:lnTo>
                  <a:pt x="4010367" y="333006"/>
                </a:lnTo>
                <a:lnTo>
                  <a:pt x="4010367" y="0"/>
                </a:lnTo>
                <a:lnTo>
                  <a:pt x="0" y="0"/>
                </a:lnTo>
                <a:lnTo>
                  <a:pt x="0" y="333006"/>
                </a:lnTo>
                <a:close/>
              </a:path>
            </a:pathLst>
          </a:custGeom>
          <a:solidFill>
            <a:schemeClr val="accent1"/>
          </a:solidFill>
        </p:spPr>
        <p:txBody>
          <a:bodyPr wrap="square" lIns="0" tIns="0" rIns="0" bIns="0" rtlCol="0"/>
          <a:lstStyle/>
          <a:p>
            <a:endParaRPr lang="en-US" dirty="0"/>
          </a:p>
        </p:txBody>
      </p:sp>
      <p:sp>
        <p:nvSpPr>
          <p:cNvPr id="6" name="object 6" descr="Blue rectangle">
            <a:extLst>
              <a:ext uri="{FF2B5EF4-FFF2-40B4-BE49-F238E27FC236}">
                <a16:creationId xmlns:a16="http://schemas.microsoft.com/office/drawing/2014/main" id="{7F009843-AFA3-44E8-B7D5-3F39B363C92E}"/>
              </a:ext>
            </a:extLst>
          </p:cNvPr>
          <p:cNvSpPr/>
          <p:nvPr/>
        </p:nvSpPr>
        <p:spPr>
          <a:xfrm>
            <a:off x="6607038" y="1"/>
            <a:ext cx="5056205" cy="6857999"/>
          </a:xfrm>
          <a:custGeom>
            <a:avLst/>
            <a:gdLst/>
            <a:ahLst/>
            <a:cxnLst/>
            <a:rect l="l" t="t" r="r" b="b"/>
            <a:pathLst>
              <a:path w="6689725" h="3528060">
                <a:moveTo>
                  <a:pt x="0" y="3527996"/>
                </a:moveTo>
                <a:lnTo>
                  <a:pt x="6689648" y="3527996"/>
                </a:lnTo>
                <a:lnTo>
                  <a:pt x="6689648" y="0"/>
                </a:lnTo>
                <a:lnTo>
                  <a:pt x="0" y="0"/>
                </a:lnTo>
                <a:lnTo>
                  <a:pt x="0" y="3527996"/>
                </a:lnTo>
                <a:close/>
              </a:path>
            </a:pathLst>
          </a:custGeom>
          <a:solidFill>
            <a:schemeClr val="accent2"/>
          </a:solidFill>
        </p:spPr>
        <p:txBody>
          <a:bodyPr wrap="square" lIns="0" tIns="0" rIns="0" bIns="0" rtlCol="0"/>
          <a:lstStyle/>
          <a:p>
            <a:endParaRPr lang="en-US" dirty="0"/>
          </a:p>
        </p:txBody>
      </p:sp>
      <p:sp>
        <p:nvSpPr>
          <p:cNvPr id="8" name="Text Placeholder 3">
            <a:extLst>
              <a:ext uri="{FF2B5EF4-FFF2-40B4-BE49-F238E27FC236}">
                <a16:creationId xmlns:a16="http://schemas.microsoft.com/office/drawing/2014/main" id="{FC6730AE-386B-426F-9F29-221DCC5F714D}"/>
              </a:ext>
            </a:extLst>
          </p:cNvPr>
          <p:cNvSpPr txBox="1">
            <a:spLocks/>
          </p:cNvSpPr>
          <p:nvPr/>
        </p:nvSpPr>
        <p:spPr>
          <a:xfrm>
            <a:off x="7472818" y="2860146"/>
            <a:ext cx="2981822" cy="74975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2000" b="1" dirty="0">
              <a:solidFill>
                <a:schemeClr val="bg2">
                  <a:lumMod val="20000"/>
                  <a:lumOff val="80000"/>
                </a:schemeClr>
              </a:solidFill>
            </a:endParaRPr>
          </a:p>
        </p:txBody>
      </p:sp>
      <p:sp>
        <p:nvSpPr>
          <p:cNvPr id="11" name="Text Placeholder 17">
            <a:extLst>
              <a:ext uri="{FF2B5EF4-FFF2-40B4-BE49-F238E27FC236}">
                <a16:creationId xmlns:a16="http://schemas.microsoft.com/office/drawing/2014/main" id="{186A1D66-9F36-434B-9677-0FE61760AB97}"/>
              </a:ext>
            </a:extLst>
          </p:cNvPr>
          <p:cNvSpPr txBox="1">
            <a:spLocks/>
          </p:cNvSpPr>
          <p:nvPr/>
        </p:nvSpPr>
        <p:spPr>
          <a:xfrm>
            <a:off x="7472817" y="3794464"/>
            <a:ext cx="3307960" cy="74018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2000" b="1" dirty="0">
              <a:solidFill>
                <a:schemeClr val="bg2">
                  <a:lumMod val="20000"/>
                  <a:lumOff val="80000"/>
                </a:schemeClr>
              </a:solidFill>
            </a:endParaRPr>
          </a:p>
        </p:txBody>
      </p:sp>
      <p:sp>
        <p:nvSpPr>
          <p:cNvPr id="13" name="Text Placeholder 19">
            <a:extLst>
              <a:ext uri="{FF2B5EF4-FFF2-40B4-BE49-F238E27FC236}">
                <a16:creationId xmlns:a16="http://schemas.microsoft.com/office/drawing/2014/main" id="{8744334E-DF9D-4600-8180-292072510183}"/>
              </a:ext>
            </a:extLst>
          </p:cNvPr>
          <p:cNvSpPr txBox="1">
            <a:spLocks/>
          </p:cNvSpPr>
          <p:nvPr/>
        </p:nvSpPr>
        <p:spPr>
          <a:xfrm>
            <a:off x="7472816" y="4704536"/>
            <a:ext cx="3098931" cy="1092964"/>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2000" b="1" dirty="0">
              <a:solidFill>
                <a:schemeClr val="bg2">
                  <a:lumMod val="20000"/>
                  <a:lumOff val="80000"/>
                </a:schemeClr>
              </a:solidFill>
            </a:endParaRPr>
          </a:p>
        </p:txBody>
      </p:sp>
      <p:sp>
        <p:nvSpPr>
          <p:cNvPr id="2" name="Title 1">
            <a:extLst>
              <a:ext uri="{FF2B5EF4-FFF2-40B4-BE49-F238E27FC236}">
                <a16:creationId xmlns:a16="http://schemas.microsoft.com/office/drawing/2014/main" id="{95668119-9603-4701-8EEC-F2E48B808491}"/>
              </a:ext>
            </a:extLst>
          </p:cNvPr>
          <p:cNvSpPr>
            <a:spLocks noGrp="1"/>
          </p:cNvSpPr>
          <p:nvPr>
            <p:ph type="title"/>
          </p:nvPr>
        </p:nvSpPr>
        <p:spPr>
          <a:xfrm>
            <a:off x="6753114" y="511546"/>
            <a:ext cx="4421229" cy="1325563"/>
          </a:xfrm>
        </p:spPr>
        <p:txBody>
          <a:bodyPr/>
          <a:lstStyle/>
          <a:p>
            <a:r>
              <a:rPr lang="en-US" dirty="0">
                <a:solidFill>
                  <a:schemeClr val="bg1"/>
                </a:solidFill>
              </a:rPr>
              <a:t>CONCEPTUAL MODEL</a:t>
            </a:r>
            <a:endParaRPr lang="en-US" dirty="0"/>
          </a:p>
        </p:txBody>
      </p:sp>
      <p:sp>
        <p:nvSpPr>
          <p:cNvPr id="7" name="TextBox 6">
            <a:extLst>
              <a:ext uri="{FF2B5EF4-FFF2-40B4-BE49-F238E27FC236}">
                <a16:creationId xmlns:a16="http://schemas.microsoft.com/office/drawing/2014/main" id="{4EED8F56-24F8-59F4-4676-B78612022AC0}"/>
              </a:ext>
            </a:extLst>
          </p:cNvPr>
          <p:cNvSpPr txBox="1"/>
          <p:nvPr/>
        </p:nvSpPr>
        <p:spPr>
          <a:xfrm>
            <a:off x="6686450" y="1846793"/>
            <a:ext cx="3372101" cy="3693319"/>
          </a:xfrm>
          <a:prstGeom prst="rect">
            <a:avLst/>
          </a:prstGeom>
          <a:noFill/>
        </p:spPr>
        <p:txBody>
          <a:bodyPr wrap="square" rtlCol="0">
            <a:spAutoFit/>
          </a:bodyPr>
          <a:lstStyle/>
          <a:p>
            <a:r>
              <a:rPr lang="en-CA" dirty="0">
                <a:solidFill>
                  <a:schemeClr val="bg1"/>
                </a:solidFill>
              </a:rPr>
              <a:t>Borrower Attributes</a:t>
            </a:r>
          </a:p>
          <a:p>
            <a:r>
              <a:rPr lang="en-CA" dirty="0">
                <a:solidFill>
                  <a:schemeClr val="bg1"/>
                </a:solidFill>
              </a:rPr>
              <a:t>↓</a:t>
            </a:r>
          </a:p>
          <a:p>
            <a:r>
              <a:rPr lang="en-CA" dirty="0">
                <a:solidFill>
                  <a:schemeClr val="bg1"/>
                </a:solidFill>
              </a:rPr>
              <a:t>Risk Feature Engineering</a:t>
            </a:r>
          </a:p>
          <a:p>
            <a:r>
              <a:rPr lang="en-CA" dirty="0">
                <a:solidFill>
                  <a:schemeClr val="bg1"/>
                </a:solidFill>
              </a:rPr>
              <a:t>↓</a:t>
            </a:r>
          </a:p>
          <a:p>
            <a:r>
              <a:rPr lang="en-CA" dirty="0">
                <a:solidFill>
                  <a:schemeClr val="bg1"/>
                </a:solidFill>
              </a:rPr>
              <a:t>Borrower Segmentation (K-Means)</a:t>
            </a:r>
          </a:p>
          <a:p>
            <a:r>
              <a:rPr lang="en-CA" dirty="0">
                <a:solidFill>
                  <a:schemeClr val="bg1"/>
                </a:solidFill>
              </a:rPr>
              <a:t>↓</a:t>
            </a:r>
          </a:p>
          <a:p>
            <a:r>
              <a:rPr lang="en-CA" dirty="0">
                <a:solidFill>
                  <a:schemeClr val="bg1"/>
                </a:solidFill>
              </a:rPr>
              <a:t>Risk &amp; Pricing Analysis</a:t>
            </a:r>
          </a:p>
          <a:p>
            <a:r>
              <a:rPr lang="en-CA" dirty="0">
                <a:solidFill>
                  <a:schemeClr val="bg1"/>
                </a:solidFill>
              </a:rPr>
              <a:t>↓</a:t>
            </a:r>
          </a:p>
          <a:p>
            <a:r>
              <a:rPr lang="en-CA" dirty="0">
                <a:solidFill>
                  <a:schemeClr val="bg1"/>
                </a:solidFill>
              </a:rPr>
              <a:t>Underwriting Validation</a:t>
            </a:r>
          </a:p>
          <a:p>
            <a:r>
              <a:rPr lang="en-CA" dirty="0">
                <a:solidFill>
                  <a:schemeClr val="bg1"/>
                </a:solidFill>
              </a:rPr>
              <a:t>↓</a:t>
            </a:r>
          </a:p>
          <a:p>
            <a:r>
              <a:rPr lang="en-CA" dirty="0">
                <a:solidFill>
                  <a:schemeClr val="bg1"/>
                </a:solidFill>
              </a:rPr>
              <a:t>Executive Decision Support</a:t>
            </a:r>
          </a:p>
          <a:p>
            <a:endParaRPr lang="en-CA" dirty="0"/>
          </a:p>
        </p:txBody>
      </p:sp>
      <p:sp>
        <p:nvSpPr>
          <p:cNvPr id="15" name="TextBox 14">
            <a:extLst>
              <a:ext uri="{FF2B5EF4-FFF2-40B4-BE49-F238E27FC236}">
                <a16:creationId xmlns:a16="http://schemas.microsoft.com/office/drawing/2014/main" id="{0510CE93-4DAB-4C01-2523-9C4F445554AC}"/>
              </a:ext>
            </a:extLst>
          </p:cNvPr>
          <p:cNvSpPr txBox="1"/>
          <p:nvPr/>
        </p:nvSpPr>
        <p:spPr>
          <a:xfrm>
            <a:off x="6574406" y="5764000"/>
            <a:ext cx="4544151" cy="738664"/>
          </a:xfrm>
          <a:prstGeom prst="rect">
            <a:avLst/>
          </a:prstGeom>
          <a:noFill/>
        </p:spPr>
        <p:txBody>
          <a:bodyPr wrap="square" rtlCol="0">
            <a:spAutoFit/>
          </a:bodyPr>
          <a:lstStyle/>
          <a:p>
            <a:r>
              <a:rPr lang="en-US" sz="1400" dirty="0">
                <a:solidFill>
                  <a:schemeClr val="bg1"/>
                </a:solidFill>
              </a:rPr>
              <a:t>This framework illustrates how raw borrower data is transformed into actionable risk insights for decision-makers.</a:t>
            </a:r>
            <a:endParaRPr lang="en-CA" sz="1400" dirty="0">
              <a:solidFill>
                <a:schemeClr val="bg1"/>
              </a:solidFill>
            </a:endParaRPr>
          </a:p>
        </p:txBody>
      </p:sp>
    </p:spTree>
    <p:extLst>
      <p:ext uri="{BB962C8B-B14F-4D97-AF65-F5344CB8AC3E}">
        <p14:creationId xmlns:p14="http://schemas.microsoft.com/office/powerpoint/2010/main" val="32989643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9ADB42F-AE48-4323-897F-DB5A083BD103}"/>
              </a:ext>
            </a:extLst>
          </p:cNvPr>
          <p:cNvSpPr>
            <a:spLocks noGrp="1"/>
          </p:cNvSpPr>
          <p:nvPr>
            <p:ph type="title"/>
          </p:nvPr>
        </p:nvSpPr>
        <p:spPr/>
        <p:txBody>
          <a:bodyPr/>
          <a:lstStyle/>
          <a:p>
            <a:r>
              <a:rPr lang="en-CA" dirty="0"/>
              <a:t>Data Overview</a:t>
            </a:r>
            <a:endParaRPr lang="en-US" dirty="0"/>
          </a:p>
        </p:txBody>
      </p:sp>
      <p:pic>
        <p:nvPicPr>
          <p:cNvPr id="33" name="Picture Placeholder 32" descr="Handshake">
            <a:extLst>
              <a:ext uri="{FF2B5EF4-FFF2-40B4-BE49-F238E27FC236}">
                <a16:creationId xmlns:a16="http://schemas.microsoft.com/office/drawing/2014/main" id="{2F5DB649-A4D3-4E21-BA31-0C84C9B36031}"/>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tretch/>
        </p:blipFill>
        <p:spPr>
          <a:xfrm>
            <a:off x="838200" y="2386210"/>
            <a:ext cx="10515600" cy="3230167"/>
          </a:xfrm>
        </p:spPr>
      </p:pic>
      <p:sp>
        <p:nvSpPr>
          <p:cNvPr id="8" name="Slide Number Placeholder 7">
            <a:extLst>
              <a:ext uri="{FF2B5EF4-FFF2-40B4-BE49-F238E27FC236}">
                <a16:creationId xmlns:a16="http://schemas.microsoft.com/office/drawing/2014/main" id="{68F7FB6B-EAC9-40F7-9522-61A8D53EFAF9}"/>
              </a:ext>
            </a:extLst>
          </p:cNvPr>
          <p:cNvSpPr>
            <a:spLocks noGrp="1"/>
          </p:cNvSpPr>
          <p:nvPr>
            <p:ph type="sldNum" sz="quarter" idx="12"/>
          </p:nvPr>
        </p:nvSpPr>
        <p:spPr/>
        <p:txBody>
          <a:bodyPr/>
          <a:lstStyle/>
          <a:p>
            <a:fld id="{82EE24B5-652C-4DB5-B7C3-B5BBEC1280B1}" type="slidenum">
              <a:rPr lang="en-US" smtClean="0"/>
              <a:t>6</a:t>
            </a:fld>
            <a:endParaRPr lang="en-US" dirty="0"/>
          </a:p>
        </p:txBody>
      </p:sp>
      <p:sp>
        <p:nvSpPr>
          <p:cNvPr id="12" name="object 3" descr="Blue rectangle">
            <a:extLst>
              <a:ext uri="{FF2B5EF4-FFF2-40B4-BE49-F238E27FC236}">
                <a16:creationId xmlns:a16="http://schemas.microsoft.com/office/drawing/2014/main" id="{CDEEA71D-C3B3-45BB-A776-D17D92A58127}"/>
              </a:ext>
            </a:extLst>
          </p:cNvPr>
          <p:cNvSpPr/>
          <p:nvPr/>
        </p:nvSpPr>
        <p:spPr>
          <a:xfrm>
            <a:off x="559548" y="2381544"/>
            <a:ext cx="10968775" cy="3445838"/>
          </a:xfrm>
          <a:custGeom>
            <a:avLst/>
            <a:gdLst/>
            <a:ahLst/>
            <a:cxnLst/>
            <a:rect l="l" t="t" r="r" b="b"/>
            <a:pathLst>
              <a:path w="12189460" h="6858000">
                <a:moveTo>
                  <a:pt x="0" y="6858000"/>
                </a:moveTo>
                <a:lnTo>
                  <a:pt x="12188952" y="6858000"/>
                </a:lnTo>
                <a:lnTo>
                  <a:pt x="12188952" y="0"/>
                </a:lnTo>
                <a:lnTo>
                  <a:pt x="0" y="0"/>
                </a:lnTo>
                <a:lnTo>
                  <a:pt x="0" y="6858000"/>
                </a:lnTo>
                <a:close/>
              </a:path>
            </a:pathLst>
          </a:custGeom>
          <a:solidFill>
            <a:schemeClr val="tx2">
              <a:alpha val="80000"/>
            </a:schemeClr>
          </a:solidFill>
        </p:spPr>
        <p:txBody>
          <a:bodyPr wrap="square" lIns="0" tIns="0" rIns="0" bIns="0" rtlCol="0"/>
          <a:lstStyle/>
          <a:p>
            <a:endParaRPr lang="en-US" dirty="0"/>
          </a:p>
        </p:txBody>
      </p:sp>
      <p:sp>
        <p:nvSpPr>
          <p:cNvPr id="13" name="Oval 12" descr="Beige oval">
            <a:extLst>
              <a:ext uri="{FF2B5EF4-FFF2-40B4-BE49-F238E27FC236}">
                <a16:creationId xmlns:a16="http://schemas.microsoft.com/office/drawing/2014/main" id="{F336552F-CA64-452F-9BD8-01334388BFF5}"/>
              </a:ext>
            </a:extLst>
          </p:cNvPr>
          <p:cNvSpPr/>
          <p:nvPr/>
        </p:nvSpPr>
        <p:spPr>
          <a:xfrm>
            <a:off x="11562237" y="6227432"/>
            <a:ext cx="266400" cy="266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bject 5" descr="Beige rectangle">
            <a:extLst>
              <a:ext uri="{FF2B5EF4-FFF2-40B4-BE49-F238E27FC236}">
                <a16:creationId xmlns:a16="http://schemas.microsoft.com/office/drawing/2014/main" id="{890F7762-BD37-4D33-9F80-1DA07B5E172E}"/>
              </a:ext>
            </a:extLst>
          </p:cNvPr>
          <p:cNvSpPr/>
          <p:nvPr/>
        </p:nvSpPr>
        <p:spPr>
          <a:xfrm>
            <a:off x="915637" y="1337103"/>
            <a:ext cx="3744000" cy="0"/>
          </a:xfrm>
          <a:custGeom>
            <a:avLst/>
            <a:gdLst/>
            <a:ahLst/>
            <a:cxnLst/>
            <a:rect l="l" t="t" r="r" b="b"/>
            <a:pathLst>
              <a:path w="3931920">
                <a:moveTo>
                  <a:pt x="0" y="0"/>
                </a:moveTo>
                <a:lnTo>
                  <a:pt x="3931920" y="0"/>
                </a:lnTo>
              </a:path>
            </a:pathLst>
          </a:custGeom>
          <a:ln w="54864">
            <a:solidFill>
              <a:schemeClr val="accent1"/>
            </a:solidFill>
          </a:ln>
        </p:spPr>
        <p:txBody>
          <a:bodyPr wrap="square" lIns="0" tIns="0" rIns="0" bIns="0" rtlCol="0"/>
          <a:lstStyle/>
          <a:p>
            <a:endParaRPr lang="en-US" dirty="0"/>
          </a:p>
        </p:txBody>
      </p:sp>
      <p:sp>
        <p:nvSpPr>
          <p:cNvPr id="14" name="Text Placeholder 5">
            <a:extLst>
              <a:ext uri="{FF2B5EF4-FFF2-40B4-BE49-F238E27FC236}">
                <a16:creationId xmlns:a16="http://schemas.microsoft.com/office/drawing/2014/main" id="{A93FB3A3-CCE4-43B1-B396-B8819D20B354}"/>
              </a:ext>
            </a:extLst>
          </p:cNvPr>
          <p:cNvSpPr txBox="1">
            <a:spLocks/>
          </p:cNvSpPr>
          <p:nvPr/>
        </p:nvSpPr>
        <p:spPr>
          <a:xfrm>
            <a:off x="8568793" y="2133184"/>
            <a:ext cx="3429699" cy="823912"/>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lumMod val="75000"/>
                    <a:lumOff val="2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lumMod val="75000"/>
                    <a:lumOff val="2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lumMod val="75000"/>
                    <a:lumOff val="2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lumMod val="75000"/>
                    <a:lumOff val="2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en-US" sz="2000" dirty="0"/>
          </a:p>
        </p:txBody>
      </p:sp>
      <p:sp>
        <p:nvSpPr>
          <p:cNvPr id="15" name="Content Placeholder 6">
            <a:extLst>
              <a:ext uri="{FF2B5EF4-FFF2-40B4-BE49-F238E27FC236}">
                <a16:creationId xmlns:a16="http://schemas.microsoft.com/office/drawing/2014/main" id="{17423A2D-9BA5-4783-9D7D-85F493300696}"/>
              </a:ext>
            </a:extLst>
          </p:cNvPr>
          <p:cNvSpPr txBox="1">
            <a:spLocks/>
          </p:cNvSpPr>
          <p:nvPr/>
        </p:nvSpPr>
        <p:spPr>
          <a:xfrm>
            <a:off x="8552751" y="3436890"/>
            <a:ext cx="3132000" cy="27556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buClr>
                <a:schemeClr val="accent1"/>
              </a:buClr>
            </a:pPr>
            <a:endParaRPr lang="en-US" i="1" dirty="0">
              <a:solidFill>
                <a:srgbClr val="FFFFFF"/>
              </a:solidFill>
              <a:cs typeface="Arial"/>
            </a:endParaRPr>
          </a:p>
        </p:txBody>
      </p:sp>
      <p:sp>
        <p:nvSpPr>
          <p:cNvPr id="19" name="TextBox 18">
            <a:extLst>
              <a:ext uri="{FF2B5EF4-FFF2-40B4-BE49-F238E27FC236}">
                <a16:creationId xmlns:a16="http://schemas.microsoft.com/office/drawing/2014/main" id="{330F3E35-0345-F948-0EB1-9AAD9096CC5C}"/>
              </a:ext>
            </a:extLst>
          </p:cNvPr>
          <p:cNvSpPr txBox="1"/>
          <p:nvPr/>
        </p:nvSpPr>
        <p:spPr>
          <a:xfrm>
            <a:off x="663677" y="2545140"/>
            <a:ext cx="11162283" cy="2585323"/>
          </a:xfrm>
          <a:prstGeom prst="rect">
            <a:avLst/>
          </a:prstGeom>
          <a:noFill/>
        </p:spPr>
        <p:txBody>
          <a:bodyPr wrap="square" rtlCol="0">
            <a:spAutoFit/>
          </a:bodyPr>
          <a:lstStyle/>
          <a:p>
            <a:pPr lvl="0" eaLnBrk="0" fontAlgn="base" hangingPunct="0">
              <a:spcBef>
                <a:spcPct val="0"/>
              </a:spcBef>
              <a:spcAft>
                <a:spcPct val="0"/>
              </a:spcAft>
              <a:buFontTx/>
              <a:buChar char="•"/>
            </a:pPr>
            <a:r>
              <a:rPr lang="en-US" altLang="en-US" dirty="0" err="1">
                <a:solidFill>
                  <a:schemeClr val="bg1"/>
                </a:solidFill>
                <a:latin typeface="Arial" panose="020B0604020202020204" pitchFamily="34" charset="0"/>
              </a:rPr>
              <a:t>LendingClub</a:t>
            </a:r>
            <a:r>
              <a:rPr lang="en-US" altLang="en-US" dirty="0">
                <a:solidFill>
                  <a:schemeClr val="bg1"/>
                </a:solidFill>
                <a:latin typeface="Arial" panose="020B0604020202020204" pitchFamily="34" charset="0"/>
              </a:rPr>
              <a:t> Accepted Loans (2007–2018)</a:t>
            </a:r>
          </a:p>
          <a:p>
            <a:pPr lvl="0" eaLnBrk="0" fontAlgn="base" hangingPunct="0">
              <a:spcBef>
                <a:spcPct val="0"/>
              </a:spcBef>
              <a:spcAft>
                <a:spcPct val="0"/>
              </a:spcAft>
              <a:buFontTx/>
              <a:buChar char="•"/>
            </a:pPr>
            <a:r>
              <a:rPr lang="en-US" i="1" dirty="0">
                <a:solidFill>
                  <a:srgbClr val="0070C0"/>
                </a:solidFill>
                <a:hlinkClick r:id="rId4">
                  <a:extLst>
                    <a:ext uri="{A12FA001-AC4F-418D-AE19-62706E023703}">
                      <ahyp:hlinkClr xmlns:ahyp="http://schemas.microsoft.com/office/drawing/2018/hyperlinkcolor" val="tx"/>
                    </a:ext>
                  </a:extLst>
                </a:hlinkClick>
              </a:rPr>
              <a:t>All Lending Club loan data</a:t>
            </a:r>
            <a:endParaRPr lang="en-US" altLang="en-US" i="1" dirty="0">
              <a:solidFill>
                <a:srgbClr val="0070C0"/>
              </a:solidFill>
              <a:latin typeface="Arial" panose="020B0604020202020204" pitchFamily="34" charset="0"/>
            </a:endParaRPr>
          </a:p>
          <a:p>
            <a:pPr lvl="0" eaLnBrk="0" fontAlgn="base" hangingPunct="0">
              <a:spcBef>
                <a:spcPct val="0"/>
              </a:spcBef>
              <a:spcAft>
                <a:spcPct val="0"/>
              </a:spcAft>
              <a:buFontTx/>
              <a:buChar char="•"/>
            </a:pPr>
            <a:r>
              <a:rPr lang="en-US" altLang="en-US" dirty="0" err="1">
                <a:solidFill>
                  <a:schemeClr val="bg1"/>
                </a:solidFill>
                <a:latin typeface="Arial" panose="020B0604020202020204" pitchFamily="34" charset="0"/>
              </a:rPr>
              <a:t>LendingClub</a:t>
            </a:r>
            <a:r>
              <a:rPr lang="en-US" altLang="en-US" dirty="0">
                <a:solidFill>
                  <a:schemeClr val="bg1"/>
                </a:solidFill>
                <a:latin typeface="Arial" panose="020B0604020202020204" pitchFamily="34" charset="0"/>
              </a:rPr>
              <a:t> Rejected Applications</a:t>
            </a:r>
          </a:p>
          <a:p>
            <a:pPr lvl="0" eaLnBrk="0" fontAlgn="base" hangingPunct="0">
              <a:spcBef>
                <a:spcPct val="0"/>
              </a:spcBef>
              <a:spcAft>
                <a:spcPct val="0"/>
              </a:spcAft>
              <a:buFontTx/>
              <a:buChar char="•"/>
            </a:pPr>
            <a:r>
              <a:rPr lang="en-US" i="1" dirty="0">
                <a:solidFill>
                  <a:srgbClr val="0070C0"/>
                </a:solidFill>
                <a:hlinkClick r:id="rId5">
                  <a:extLst>
                    <a:ext uri="{A12FA001-AC4F-418D-AE19-62706E023703}">
                      <ahyp:hlinkClr xmlns:ahyp="http://schemas.microsoft.com/office/drawing/2018/hyperlinkcolor" val="tx"/>
                    </a:ext>
                  </a:extLst>
                </a:hlinkClick>
              </a:rPr>
              <a:t>All Lending Club loan data</a:t>
            </a:r>
            <a:endParaRPr lang="en-US" i="1" dirty="0">
              <a:solidFill>
                <a:srgbClr val="0070C0"/>
              </a:solidFill>
            </a:endParaRPr>
          </a:p>
          <a:p>
            <a:pPr lvl="0" eaLnBrk="0" fontAlgn="base" hangingPunct="0">
              <a:spcBef>
                <a:spcPct val="0"/>
              </a:spcBef>
              <a:spcAft>
                <a:spcPct val="0"/>
              </a:spcAft>
              <a:buFontTx/>
              <a:buChar char="•"/>
            </a:pPr>
            <a:endParaRPr lang="en-US" altLang="en-US" i="1" dirty="0">
              <a:solidFill>
                <a:srgbClr val="0070C0"/>
              </a:solidFill>
              <a:latin typeface="Arial" panose="020B0604020202020204" pitchFamily="34" charset="0"/>
            </a:endParaRPr>
          </a:p>
          <a:p>
            <a:pPr lvl="0" eaLnBrk="0" fontAlgn="base" hangingPunct="0">
              <a:spcBef>
                <a:spcPct val="0"/>
              </a:spcBef>
              <a:spcAft>
                <a:spcPct val="0"/>
              </a:spcAft>
              <a:buFontTx/>
              <a:buChar char="•"/>
            </a:pPr>
            <a:r>
              <a:rPr lang="en-US" altLang="en-US" dirty="0">
                <a:solidFill>
                  <a:schemeClr val="bg1"/>
                </a:solidFill>
                <a:latin typeface="Arial" panose="020B0604020202020204" pitchFamily="34" charset="0"/>
              </a:rPr>
              <a:t>~1M+ records</a:t>
            </a:r>
          </a:p>
          <a:p>
            <a:pPr lvl="0" eaLnBrk="0" fontAlgn="base" hangingPunct="0">
              <a:spcBef>
                <a:spcPct val="0"/>
              </a:spcBef>
              <a:spcAft>
                <a:spcPct val="0"/>
              </a:spcAft>
              <a:buFontTx/>
              <a:buChar char="•"/>
            </a:pPr>
            <a:endParaRPr lang="en-US" altLang="en-US" dirty="0">
              <a:solidFill>
                <a:schemeClr val="bg1"/>
              </a:solidFill>
              <a:latin typeface="Arial" panose="020B0604020202020204" pitchFamily="34" charset="0"/>
            </a:endParaRPr>
          </a:p>
          <a:p>
            <a:pPr lvl="0" eaLnBrk="0" fontAlgn="base" hangingPunct="0">
              <a:spcBef>
                <a:spcPct val="0"/>
              </a:spcBef>
              <a:spcAft>
                <a:spcPct val="0"/>
              </a:spcAft>
              <a:buFontTx/>
              <a:buChar char="•"/>
            </a:pPr>
            <a:r>
              <a:rPr lang="en-US" altLang="en-US" dirty="0">
                <a:solidFill>
                  <a:schemeClr val="bg1"/>
                </a:solidFill>
                <a:latin typeface="Arial" panose="020B0604020202020204" pitchFamily="34" charset="0"/>
              </a:rPr>
              <a:t>Public, industry-recognized datasets</a:t>
            </a:r>
          </a:p>
          <a:p>
            <a:endParaRPr lang="en-CA" dirty="0"/>
          </a:p>
        </p:txBody>
      </p:sp>
    </p:spTree>
    <p:extLst>
      <p:ext uri="{BB962C8B-B14F-4D97-AF65-F5344CB8AC3E}">
        <p14:creationId xmlns:p14="http://schemas.microsoft.com/office/powerpoint/2010/main" val="33270198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50A71-B91E-D936-C008-C395B259AE4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3299B99-ACEA-CB07-F256-EFB69EA3E81B}"/>
              </a:ext>
            </a:extLst>
          </p:cNvPr>
          <p:cNvSpPr>
            <a:spLocks noGrp="1"/>
          </p:cNvSpPr>
          <p:nvPr>
            <p:ph type="title"/>
          </p:nvPr>
        </p:nvSpPr>
        <p:spPr/>
        <p:txBody>
          <a:bodyPr/>
          <a:lstStyle/>
          <a:p>
            <a:r>
              <a:rPr lang="en-CA" dirty="0"/>
              <a:t>Methodology Overview</a:t>
            </a:r>
            <a:endParaRPr lang="en-US" dirty="0"/>
          </a:p>
        </p:txBody>
      </p:sp>
      <p:pic>
        <p:nvPicPr>
          <p:cNvPr id="33" name="Picture Placeholder 32" descr="Handshake">
            <a:extLst>
              <a:ext uri="{FF2B5EF4-FFF2-40B4-BE49-F238E27FC236}">
                <a16:creationId xmlns:a16="http://schemas.microsoft.com/office/drawing/2014/main" id="{0929FB6D-AE0F-1E16-D11E-98864432C0FA}"/>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tretch/>
        </p:blipFill>
        <p:spPr>
          <a:xfrm>
            <a:off x="838200" y="2386210"/>
            <a:ext cx="10515600" cy="3230167"/>
          </a:xfrm>
        </p:spPr>
      </p:pic>
      <p:sp>
        <p:nvSpPr>
          <p:cNvPr id="8" name="Slide Number Placeholder 7">
            <a:extLst>
              <a:ext uri="{FF2B5EF4-FFF2-40B4-BE49-F238E27FC236}">
                <a16:creationId xmlns:a16="http://schemas.microsoft.com/office/drawing/2014/main" id="{03264E08-327D-7801-E717-026BB12FC3A2}"/>
              </a:ext>
            </a:extLst>
          </p:cNvPr>
          <p:cNvSpPr>
            <a:spLocks noGrp="1"/>
          </p:cNvSpPr>
          <p:nvPr>
            <p:ph type="sldNum" sz="quarter" idx="12"/>
          </p:nvPr>
        </p:nvSpPr>
        <p:spPr/>
        <p:txBody>
          <a:bodyPr/>
          <a:lstStyle/>
          <a:p>
            <a:fld id="{82EE24B5-652C-4DB5-B7C3-B5BBEC1280B1}" type="slidenum">
              <a:rPr lang="en-US" smtClean="0"/>
              <a:t>7</a:t>
            </a:fld>
            <a:endParaRPr lang="en-US" dirty="0"/>
          </a:p>
        </p:txBody>
      </p:sp>
      <p:sp>
        <p:nvSpPr>
          <p:cNvPr id="12" name="object 3" descr="Blue rectangle">
            <a:extLst>
              <a:ext uri="{FF2B5EF4-FFF2-40B4-BE49-F238E27FC236}">
                <a16:creationId xmlns:a16="http://schemas.microsoft.com/office/drawing/2014/main" id="{EA5853CA-6966-10E1-FB30-9F73472556A9}"/>
              </a:ext>
            </a:extLst>
          </p:cNvPr>
          <p:cNvSpPr/>
          <p:nvPr/>
        </p:nvSpPr>
        <p:spPr>
          <a:xfrm>
            <a:off x="559548" y="2381544"/>
            <a:ext cx="10968775" cy="3445838"/>
          </a:xfrm>
          <a:custGeom>
            <a:avLst/>
            <a:gdLst/>
            <a:ahLst/>
            <a:cxnLst/>
            <a:rect l="l" t="t" r="r" b="b"/>
            <a:pathLst>
              <a:path w="12189460" h="6858000">
                <a:moveTo>
                  <a:pt x="0" y="6858000"/>
                </a:moveTo>
                <a:lnTo>
                  <a:pt x="12188952" y="6858000"/>
                </a:lnTo>
                <a:lnTo>
                  <a:pt x="12188952" y="0"/>
                </a:lnTo>
                <a:lnTo>
                  <a:pt x="0" y="0"/>
                </a:lnTo>
                <a:lnTo>
                  <a:pt x="0" y="6858000"/>
                </a:lnTo>
                <a:close/>
              </a:path>
            </a:pathLst>
          </a:custGeom>
          <a:solidFill>
            <a:schemeClr val="tx2">
              <a:alpha val="80000"/>
            </a:schemeClr>
          </a:solidFill>
        </p:spPr>
        <p:txBody>
          <a:bodyPr wrap="square" lIns="0" tIns="0" rIns="0" bIns="0" rtlCol="0"/>
          <a:lstStyle/>
          <a:p>
            <a:endParaRPr lang="en-US" dirty="0"/>
          </a:p>
        </p:txBody>
      </p:sp>
      <p:sp>
        <p:nvSpPr>
          <p:cNvPr id="13" name="Oval 12" descr="Beige oval">
            <a:extLst>
              <a:ext uri="{FF2B5EF4-FFF2-40B4-BE49-F238E27FC236}">
                <a16:creationId xmlns:a16="http://schemas.microsoft.com/office/drawing/2014/main" id="{AD4E8E7C-B8C1-2EE0-ABF8-2DA9D7A0AE9B}"/>
              </a:ext>
            </a:extLst>
          </p:cNvPr>
          <p:cNvSpPr/>
          <p:nvPr/>
        </p:nvSpPr>
        <p:spPr>
          <a:xfrm>
            <a:off x="11562237" y="6227432"/>
            <a:ext cx="266400" cy="266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bject 5" descr="Beige rectangle">
            <a:extLst>
              <a:ext uri="{FF2B5EF4-FFF2-40B4-BE49-F238E27FC236}">
                <a16:creationId xmlns:a16="http://schemas.microsoft.com/office/drawing/2014/main" id="{15FCCC9A-C25E-B5BF-28F3-DB0107E34A02}"/>
              </a:ext>
            </a:extLst>
          </p:cNvPr>
          <p:cNvSpPr/>
          <p:nvPr/>
        </p:nvSpPr>
        <p:spPr>
          <a:xfrm>
            <a:off x="915637" y="1337103"/>
            <a:ext cx="3744000" cy="0"/>
          </a:xfrm>
          <a:custGeom>
            <a:avLst/>
            <a:gdLst/>
            <a:ahLst/>
            <a:cxnLst/>
            <a:rect l="l" t="t" r="r" b="b"/>
            <a:pathLst>
              <a:path w="3931920">
                <a:moveTo>
                  <a:pt x="0" y="0"/>
                </a:moveTo>
                <a:lnTo>
                  <a:pt x="3931920" y="0"/>
                </a:lnTo>
              </a:path>
            </a:pathLst>
          </a:custGeom>
          <a:ln w="54864">
            <a:solidFill>
              <a:schemeClr val="accent1"/>
            </a:solidFill>
          </a:ln>
        </p:spPr>
        <p:txBody>
          <a:bodyPr wrap="square" lIns="0" tIns="0" rIns="0" bIns="0" rtlCol="0"/>
          <a:lstStyle/>
          <a:p>
            <a:endParaRPr lang="en-US" dirty="0"/>
          </a:p>
        </p:txBody>
      </p:sp>
      <p:sp>
        <p:nvSpPr>
          <p:cNvPr id="14" name="Text Placeholder 5">
            <a:extLst>
              <a:ext uri="{FF2B5EF4-FFF2-40B4-BE49-F238E27FC236}">
                <a16:creationId xmlns:a16="http://schemas.microsoft.com/office/drawing/2014/main" id="{DB74B481-79F0-47DC-2263-2BBF3DC11375}"/>
              </a:ext>
            </a:extLst>
          </p:cNvPr>
          <p:cNvSpPr txBox="1">
            <a:spLocks/>
          </p:cNvSpPr>
          <p:nvPr/>
        </p:nvSpPr>
        <p:spPr>
          <a:xfrm>
            <a:off x="8568793" y="2133184"/>
            <a:ext cx="3429699" cy="823912"/>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lumMod val="75000"/>
                    <a:lumOff val="2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lumMod val="75000"/>
                    <a:lumOff val="2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lumMod val="75000"/>
                    <a:lumOff val="2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lumMod val="75000"/>
                    <a:lumOff val="2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en-US" sz="2000" dirty="0"/>
          </a:p>
        </p:txBody>
      </p:sp>
      <p:sp>
        <p:nvSpPr>
          <p:cNvPr id="15" name="Content Placeholder 6">
            <a:extLst>
              <a:ext uri="{FF2B5EF4-FFF2-40B4-BE49-F238E27FC236}">
                <a16:creationId xmlns:a16="http://schemas.microsoft.com/office/drawing/2014/main" id="{0501C4B9-5082-0C45-6CA9-B96B3203EC35}"/>
              </a:ext>
            </a:extLst>
          </p:cNvPr>
          <p:cNvSpPr txBox="1">
            <a:spLocks/>
          </p:cNvSpPr>
          <p:nvPr/>
        </p:nvSpPr>
        <p:spPr>
          <a:xfrm>
            <a:off x="8552751" y="3436890"/>
            <a:ext cx="3132000" cy="27556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buClr>
                <a:schemeClr val="accent1"/>
              </a:buClr>
            </a:pPr>
            <a:endParaRPr lang="en-US" i="1" dirty="0">
              <a:solidFill>
                <a:srgbClr val="FFFFFF"/>
              </a:solidFill>
              <a:cs typeface="Arial"/>
            </a:endParaRPr>
          </a:p>
        </p:txBody>
      </p:sp>
      <p:sp>
        <p:nvSpPr>
          <p:cNvPr id="19" name="TextBox 18">
            <a:extLst>
              <a:ext uri="{FF2B5EF4-FFF2-40B4-BE49-F238E27FC236}">
                <a16:creationId xmlns:a16="http://schemas.microsoft.com/office/drawing/2014/main" id="{6C5A52B2-6AF6-B7F4-0765-1D1CFB601FA7}"/>
              </a:ext>
            </a:extLst>
          </p:cNvPr>
          <p:cNvSpPr txBox="1"/>
          <p:nvPr/>
        </p:nvSpPr>
        <p:spPr>
          <a:xfrm>
            <a:off x="559548" y="2559727"/>
            <a:ext cx="11162283" cy="2862322"/>
          </a:xfrm>
          <a:prstGeom prst="rect">
            <a:avLst/>
          </a:prstGeom>
          <a:noFill/>
        </p:spPr>
        <p:txBody>
          <a:bodyPr wrap="square" rtlCol="0">
            <a:spAutoFit/>
          </a:bodyPr>
          <a:lstStyle/>
          <a:p>
            <a:pPr lvl="0" eaLnBrk="0" fontAlgn="base" hangingPunct="0">
              <a:spcBef>
                <a:spcPct val="0"/>
              </a:spcBef>
              <a:spcAft>
                <a:spcPct val="0"/>
              </a:spcAft>
              <a:buFontTx/>
              <a:buChar char="•"/>
            </a:pPr>
            <a:r>
              <a:rPr lang="en-US" altLang="en-US" dirty="0">
                <a:solidFill>
                  <a:schemeClr val="bg1"/>
                </a:solidFill>
                <a:latin typeface="Arial" panose="020B0604020202020204" pitchFamily="34" charset="0"/>
              </a:rPr>
              <a:t>Data Cleaning &amp; Feature Engineering (Python)</a:t>
            </a:r>
          </a:p>
          <a:p>
            <a:pPr lvl="0" eaLnBrk="0" fontAlgn="base" hangingPunct="0">
              <a:spcBef>
                <a:spcPct val="0"/>
              </a:spcBef>
              <a:spcAft>
                <a:spcPct val="0"/>
              </a:spcAft>
            </a:pPr>
            <a:endParaRPr lang="en-US" altLang="en-US" dirty="0">
              <a:solidFill>
                <a:schemeClr val="bg1"/>
              </a:solidFill>
              <a:latin typeface="Arial" panose="020B0604020202020204" pitchFamily="34" charset="0"/>
            </a:endParaRPr>
          </a:p>
          <a:p>
            <a:pPr lvl="0" eaLnBrk="0" fontAlgn="base" hangingPunct="0">
              <a:spcBef>
                <a:spcPct val="0"/>
              </a:spcBef>
              <a:spcAft>
                <a:spcPct val="0"/>
              </a:spcAft>
              <a:buFontTx/>
              <a:buChar char="•"/>
            </a:pPr>
            <a:r>
              <a:rPr lang="en-US" altLang="en-US" dirty="0">
                <a:solidFill>
                  <a:schemeClr val="bg1"/>
                </a:solidFill>
                <a:latin typeface="Arial" panose="020B0604020202020204" pitchFamily="34" charset="0"/>
              </a:rPr>
              <a:t>Borrower Segmentation (K-Means, PCA)</a:t>
            </a:r>
          </a:p>
          <a:p>
            <a:pPr lvl="0" eaLnBrk="0" fontAlgn="base" hangingPunct="0">
              <a:spcBef>
                <a:spcPct val="0"/>
              </a:spcBef>
              <a:spcAft>
                <a:spcPct val="0"/>
              </a:spcAft>
            </a:pPr>
            <a:endParaRPr lang="en-US" altLang="en-US" dirty="0">
              <a:solidFill>
                <a:schemeClr val="bg1"/>
              </a:solidFill>
              <a:latin typeface="Arial" panose="020B0604020202020204" pitchFamily="34" charset="0"/>
            </a:endParaRPr>
          </a:p>
          <a:p>
            <a:pPr lvl="0" eaLnBrk="0" fontAlgn="base" hangingPunct="0">
              <a:spcBef>
                <a:spcPct val="0"/>
              </a:spcBef>
              <a:spcAft>
                <a:spcPct val="0"/>
              </a:spcAft>
              <a:buFontTx/>
              <a:buChar char="•"/>
            </a:pPr>
            <a:r>
              <a:rPr lang="en-US" altLang="en-US" dirty="0">
                <a:solidFill>
                  <a:schemeClr val="bg1"/>
                </a:solidFill>
                <a:latin typeface="Arial" panose="020B0604020202020204" pitchFamily="34" charset="0"/>
              </a:rPr>
              <a:t>Risk &amp; Pricing Analysis (SQL)</a:t>
            </a:r>
          </a:p>
          <a:p>
            <a:pPr lvl="0" eaLnBrk="0" fontAlgn="base" hangingPunct="0">
              <a:spcBef>
                <a:spcPct val="0"/>
              </a:spcBef>
              <a:spcAft>
                <a:spcPct val="0"/>
              </a:spcAft>
            </a:pPr>
            <a:endParaRPr lang="en-US" altLang="en-US" dirty="0">
              <a:solidFill>
                <a:schemeClr val="bg1"/>
              </a:solidFill>
              <a:latin typeface="Arial" panose="020B0604020202020204" pitchFamily="34" charset="0"/>
            </a:endParaRPr>
          </a:p>
          <a:p>
            <a:pPr lvl="0" eaLnBrk="0" fontAlgn="base" hangingPunct="0">
              <a:spcBef>
                <a:spcPct val="0"/>
              </a:spcBef>
              <a:spcAft>
                <a:spcPct val="0"/>
              </a:spcAft>
              <a:buFontTx/>
              <a:buChar char="•"/>
            </a:pPr>
            <a:r>
              <a:rPr lang="en-US" altLang="en-US" dirty="0">
                <a:solidFill>
                  <a:schemeClr val="bg1"/>
                </a:solidFill>
                <a:latin typeface="Arial" panose="020B0604020202020204" pitchFamily="34" charset="0"/>
              </a:rPr>
              <a:t>Underwriting Validation</a:t>
            </a:r>
          </a:p>
          <a:p>
            <a:pPr lvl="0" eaLnBrk="0" fontAlgn="base" hangingPunct="0">
              <a:spcBef>
                <a:spcPct val="0"/>
              </a:spcBef>
              <a:spcAft>
                <a:spcPct val="0"/>
              </a:spcAft>
            </a:pPr>
            <a:endParaRPr lang="en-US" altLang="en-US" dirty="0">
              <a:solidFill>
                <a:schemeClr val="bg1"/>
              </a:solidFill>
              <a:latin typeface="Arial" panose="020B0604020202020204" pitchFamily="34" charset="0"/>
            </a:endParaRPr>
          </a:p>
          <a:p>
            <a:pPr lvl="0" eaLnBrk="0" fontAlgn="base" hangingPunct="0">
              <a:spcBef>
                <a:spcPct val="0"/>
              </a:spcBef>
              <a:spcAft>
                <a:spcPct val="0"/>
              </a:spcAft>
              <a:buFontTx/>
              <a:buChar char="•"/>
            </a:pPr>
            <a:r>
              <a:rPr lang="en-US" altLang="en-US" dirty="0">
                <a:solidFill>
                  <a:schemeClr val="bg1"/>
                </a:solidFill>
                <a:latin typeface="Arial" panose="020B0604020202020204" pitchFamily="34" charset="0"/>
              </a:rPr>
              <a:t>Executive Reporting (Power BI)</a:t>
            </a:r>
          </a:p>
          <a:p>
            <a:endParaRPr lang="en-CA" dirty="0"/>
          </a:p>
        </p:txBody>
      </p:sp>
    </p:spTree>
    <p:extLst>
      <p:ext uri="{BB962C8B-B14F-4D97-AF65-F5344CB8AC3E}">
        <p14:creationId xmlns:p14="http://schemas.microsoft.com/office/powerpoint/2010/main" val="21659397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C750891-B331-46E3-89A1-0996C3679973}"/>
              </a:ext>
            </a:extLst>
          </p:cNvPr>
          <p:cNvSpPr>
            <a:spLocks noGrp="1"/>
          </p:cNvSpPr>
          <p:nvPr>
            <p:ph type="title"/>
          </p:nvPr>
        </p:nvSpPr>
        <p:spPr/>
        <p:txBody>
          <a:bodyPr/>
          <a:lstStyle/>
          <a:p>
            <a:r>
              <a:rPr lang="en-CA" dirty="0"/>
              <a:t>Borrower Segmentation Results</a:t>
            </a:r>
            <a:endParaRPr lang="en-US" dirty="0"/>
          </a:p>
        </p:txBody>
      </p:sp>
      <p:pic>
        <p:nvPicPr>
          <p:cNvPr id="7" name="Content Placeholder 6" descr="A diagram of a cluster of dots&#10;&#10;AI-generated content may be incorrect.">
            <a:extLst>
              <a:ext uri="{FF2B5EF4-FFF2-40B4-BE49-F238E27FC236}">
                <a16:creationId xmlns:a16="http://schemas.microsoft.com/office/drawing/2014/main" id="{7FC79F46-1E42-A834-49C6-8F898E9F0BB8}"/>
              </a:ext>
            </a:extLst>
          </p:cNvPr>
          <p:cNvPicPr>
            <a:picLocks noGrp="1" noChangeAspect="1"/>
          </p:cNvPicPr>
          <p:nvPr>
            <p:ph idx="1"/>
          </p:nvPr>
        </p:nvPicPr>
        <p:blipFill>
          <a:blip r:embed="rId3"/>
          <a:stretch>
            <a:fillRect/>
          </a:stretch>
        </p:blipFill>
        <p:spPr>
          <a:xfrm>
            <a:off x="1622323" y="1486412"/>
            <a:ext cx="7337442" cy="5782900"/>
          </a:xfrm>
          <a:prstGeom prst="rect">
            <a:avLst/>
          </a:prstGeom>
        </p:spPr>
      </p:pic>
      <p:sp>
        <p:nvSpPr>
          <p:cNvPr id="2" name="Slide Number Placeholder 1">
            <a:extLst>
              <a:ext uri="{FF2B5EF4-FFF2-40B4-BE49-F238E27FC236}">
                <a16:creationId xmlns:a16="http://schemas.microsoft.com/office/drawing/2014/main" id="{6EC5A228-0BB3-460B-97CB-3667DC43DFD4}"/>
              </a:ext>
            </a:extLst>
          </p:cNvPr>
          <p:cNvSpPr>
            <a:spLocks noGrp="1"/>
          </p:cNvSpPr>
          <p:nvPr>
            <p:ph type="sldNum" sz="quarter" idx="12"/>
          </p:nvPr>
        </p:nvSpPr>
        <p:spPr/>
        <p:txBody>
          <a:bodyPr/>
          <a:lstStyle/>
          <a:p>
            <a:fld id="{82EE24B5-652C-4DB5-B7C3-B5BBEC1280B1}" type="slidenum">
              <a:rPr lang="en-US" smtClean="0"/>
              <a:t>8</a:t>
            </a:fld>
            <a:endParaRPr lang="en-US" dirty="0"/>
          </a:p>
        </p:txBody>
      </p:sp>
      <p:sp>
        <p:nvSpPr>
          <p:cNvPr id="6" name="object 18" descr="Beige rectangle">
            <a:extLst>
              <a:ext uri="{FF2B5EF4-FFF2-40B4-BE49-F238E27FC236}">
                <a16:creationId xmlns:a16="http://schemas.microsoft.com/office/drawing/2014/main" id="{31A1F953-41C3-4B9E-9EA3-26087E184E71}"/>
              </a:ext>
            </a:extLst>
          </p:cNvPr>
          <p:cNvSpPr/>
          <p:nvPr/>
        </p:nvSpPr>
        <p:spPr>
          <a:xfrm>
            <a:off x="942535" y="1337304"/>
            <a:ext cx="3708000" cy="0"/>
          </a:xfrm>
          <a:custGeom>
            <a:avLst/>
            <a:gdLst/>
            <a:ahLst/>
            <a:cxnLst/>
            <a:rect l="l" t="t" r="r" b="b"/>
            <a:pathLst>
              <a:path w="3218815">
                <a:moveTo>
                  <a:pt x="0" y="0"/>
                </a:moveTo>
                <a:lnTo>
                  <a:pt x="3218395" y="0"/>
                </a:lnTo>
              </a:path>
            </a:pathLst>
          </a:custGeom>
          <a:ln w="54863">
            <a:solidFill>
              <a:schemeClr val="accent1"/>
            </a:solidFill>
          </a:ln>
        </p:spPr>
        <p:txBody>
          <a:bodyPr wrap="square" lIns="0" tIns="0" rIns="0" bIns="0" rtlCol="0"/>
          <a:lstStyle/>
          <a:p>
            <a:endParaRPr lang="en-US" dirty="0"/>
          </a:p>
        </p:txBody>
      </p:sp>
      <p:sp>
        <p:nvSpPr>
          <p:cNvPr id="12" name="TextBox 11">
            <a:extLst>
              <a:ext uri="{FF2B5EF4-FFF2-40B4-BE49-F238E27FC236}">
                <a16:creationId xmlns:a16="http://schemas.microsoft.com/office/drawing/2014/main" id="{4F0099E1-0C48-A8F3-C86F-E0758CCEAE15}"/>
              </a:ext>
            </a:extLst>
          </p:cNvPr>
          <p:cNvSpPr txBox="1"/>
          <p:nvPr/>
        </p:nvSpPr>
        <p:spPr>
          <a:xfrm>
            <a:off x="9137854" y="5713237"/>
            <a:ext cx="3054146" cy="523220"/>
          </a:xfrm>
          <a:prstGeom prst="rect">
            <a:avLst/>
          </a:prstGeom>
          <a:noFill/>
        </p:spPr>
        <p:txBody>
          <a:bodyPr wrap="square" rtlCol="0">
            <a:spAutoFit/>
          </a:bodyPr>
          <a:lstStyle/>
          <a:p>
            <a:r>
              <a:rPr lang="en-US" sz="1400" b="1" dirty="0"/>
              <a:t>Borrowers separate into distinct, interpretable risk segments.</a:t>
            </a:r>
            <a:endParaRPr lang="en-CA" sz="1400" b="1" dirty="0"/>
          </a:p>
        </p:txBody>
      </p:sp>
    </p:spTree>
    <p:extLst>
      <p:ext uri="{BB962C8B-B14F-4D97-AF65-F5344CB8AC3E}">
        <p14:creationId xmlns:p14="http://schemas.microsoft.com/office/powerpoint/2010/main" val="16177335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13363-2D20-13E0-13C0-2B4F0EB345B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BE0489B-0C83-722B-EC92-54A5E8F5133A}"/>
              </a:ext>
            </a:extLst>
          </p:cNvPr>
          <p:cNvSpPr>
            <a:spLocks noGrp="1"/>
          </p:cNvSpPr>
          <p:nvPr>
            <p:ph type="title"/>
          </p:nvPr>
        </p:nvSpPr>
        <p:spPr/>
        <p:txBody>
          <a:bodyPr/>
          <a:lstStyle/>
          <a:p>
            <a:r>
              <a:rPr lang="en-CA" dirty="0"/>
              <a:t>Risk vs Pricing Insight</a:t>
            </a:r>
            <a:endParaRPr lang="en-US" dirty="0"/>
          </a:p>
        </p:txBody>
      </p:sp>
      <p:sp>
        <p:nvSpPr>
          <p:cNvPr id="2" name="Slide Number Placeholder 1">
            <a:extLst>
              <a:ext uri="{FF2B5EF4-FFF2-40B4-BE49-F238E27FC236}">
                <a16:creationId xmlns:a16="http://schemas.microsoft.com/office/drawing/2014/main" id="{A50015DC-B7E7-FA9C-C839-5534A222172F}"/>
              </a:ext>
            </a:extLst>
          </p:cNvPr>
          <p:cNvSpPr>
            <a:spLocks noGrp="1"/>
          </p:cNvSpPr>
          <p:nvPr>
            <p:ph type="sldNum" sz="quarter" idx="12"/>
          </p:nvPr>
        </p:nvSpPr>
        <p:spPr/>
        <p:txBody>
          <a:bodyPr/>
          <a:lstStyle/>
          <a:p>
            <a:fld id="{82EE24B5-652C-4DB5-B7C3-B5BBEC1280B1}" type="slidenum">
              <a:rPr lang="en-US" smtClean="0"/>
              <a:t>9</a:t>
            </a:fld>
            <a:endParaRPr lang="en-US" dirty="0"/>
          </a:p>
        </p:txBody>
      </p:sp>
      <p:sp>
        <p:nvSpPr>
          <p:cNvPr id="6" name="object 18" descr="Beige rectangle">
            <a:extLst>
              <a:ext uri="{FF2B5EF4-FFF2-40B4-BE49-F238E27FC236}">
                <a16:creationId xmlns:a16="http://schemas.microsoft.com/office/drawing/2014/main" id="{81D91D2D-115B-3687-7C74-82AB66B8C7E3}"/>
              </a:ext>
            </a:extLst>
          </p:cNvPr>
          <p:cNvSpPr/>
          <p:nvPr/>
        </p:nvSpPr>
        <p:spPr>
          <a:xfrm>
            <a:off x="942535" y="1337304"/>
            <a:ext cx="3708000" cy="0"/>
          </a:xfrm>
          <a:custGeom>
            <a:avLst/>
            <a:gdLst/>
            <a:ahLst/>
            <a:cxnLst/>
            <a:rect l="l" t="t" r="r" b="b"/>
            <a:pathLst>
              <a:path w="3218815">
                <a:moveTo>
                  <a:pt x="0" y="0"/>
                </a:moveTo>
                <a:lnTo>
                  <a:pt x="3218395" y="0"/>
                </a:lnTo>
              </a:path>
            </a:pathLst>
          </a:custGeom>
          <a:ln w="54863">
            <a:solidFill>
              <a:schemeClr val="accent1"/>
            </a:solidFill>
          </a:ln>
        </p:spPr>
        <p:txBody>
          <a:bodyPr wrap="square" lIns="0" tIns="0" rIns="0" bIns="0" rtlCol="0"/>
          <a:lstStyle/>
          <a:p>
            <a:endParaRPr lang="en-US" dirty="0"/>
          </a:p>
        </p:txBody>
      </p:sp>
      <p:sp>
        <p:nvSpPr>
          <p:cNvPr id="12" name="TextBox 11">
            <a:extLst>
              <a:ext uri="{FF2B5EF4-FFF2-40B4-BE49-F238E27FC236}">
                <a16:creationId xmlns:a16="http://schemas.microsoft.com/office/drawing/2014/main" id="{799BCA1D-1A80-0E8E-4873-3D307B057464}"/>
              </a:ext>
            </a:extLst>
          </p:cNvPr>
          <p:cNvSpPr txBox="1"/>
          <p:nvPr/>
        </p:nvSpPr>
        <p:spPr>
          <a:xfrm>
            <a:off x="9137854" y="5713237"/>
            <a:ext cx="3054146" cy="738664"/>
          </a:xfrm>
          <a:prstGeom prst="rect">
            <a:avLst/>
          </a:prstGeom>
          <a:noFill/>
        </p:spPr>
        <p:txBody>
          <a:bodyPr wrap="square" rtlCol="0">
            <a:spAutoFit/>
          </a:bodyPr>
          <a:lstStyle/>
          <a:p>
            <a:r>
              <a:rPr lang="en-US" sz="1400" b="1" dirty="0"/>
              <a:t>Pricing increases with risk but not proportionally, especially in the highest-risk segment</a:t>
            </a:r>
            <a:endParaRPr lang="en-CA" sz="1400" b="1" dirty="0"/>
          </a:p>
        </p:txBody>
      </p:sp>
      <p:pic>
        <p:nvPicPr>
          <p:cNvPr id="9" name="Content Placeholder 8" descr="A graph with colorful circles and numbers&#10;&#10;AI-generated content may be incorrect.">
            <a:extLst>
              <a:ext uri="{FF2B5EF4-FFF2-40B4-BE49-F238E27FC236}">
                <a16:creationId xmlns:a16="http://schemas.microsoft.com/office/drawing/2014/main" id="{8C8C8631-3726-DB99-476F-503206E95C21}"/>
              </a:ext>
            </a:extLst>
          </p:cNvPr>
          <p:cNvPicPr>
            <a:picLocks noGrp="1" noChangeAspect="1"/>
          </p:cNvPicPr>
          <p:nvPr>
            <p:ph idx="1"/>
          </p:nvPr>
        </p:nvPicPr>
        <p:blipFill>
          <a:blip r:embed="rId3"/>
          <a:stretch>
            <a:fillRect/>
          </a:stretch>
        </p:blipFill>
        <p:spPr>
          <a:xfrm>
            <a:off x="942535" y="1523461"/>
            <a:ext cx="6448865" cy="5334539"/>
          </a:xfrm>
          <a:prstGeom prst="rect">
            <a:avLst/>
          </a:prstGeom>
        </p:spPr>
      </p:pic>
    </p:spTree>
    <p:extLst>
      <p:ext uri="{BB962C8B-B14F-4D97-AF65-F5344CB8AC3E}">
        <p14:creationId xmlns:p14="http://schemas.microsoft.com/office/powerpoint/2010/main" val="9278237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AA471-6028-7C96-CE94-9F3693C9567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1FD1172-32CF-C309-FF2C-81E49FAEB9D4}"/>
              </a:ext>
            </a:extLst>
          </p:cNvPr>
          <p:cNvSpPr>
            <a:spLocks noGrp="1"/>
          </p:cNvSpPr>
          <p:nvPr>
            <p:ph type="title"/>
          </p:nvPr>
        </p:nvSpPr>
        <p:spPr/>
        <p:txBody>
          <a:bodyPr/>
          <a:lstStyle/>
          <a:p>
            <a:r>
              <a:rPr lang="en-CA" dirty="0"/>
              <a:t>Portfolio Exposure</a:t>
            </a:r>
            <a:endParaRPr lang="en-US" dirty="0"/>
          </a:p>
        </p:txBody>
      </p:sp>
      <p:sp>
        <p:nvSpPr>
          <p:cNvPr id="2" name="Slide Number Placeholder 1">
            <a:extLst>
              <a:ext uri="{FF2B5EF4-FFF2-40B4-BE49-F238E27FC236}">
                <a16:creationId xmlns:a16="http://schemas.microsoft.com/office/drawing/2014/main" id="{7EE85D4B-0D67-3074-3FB8-F977575458E4}"/>
              </a:ext>
            </a:extLst>
          </p:cNvPr>
          <p:cNvSpPr>
            <a:spLocks noGrp="1"/>
          </p:cNvSpPr>
          <p:nvPr>
            <p:ph type="sldNum" sz="quarter" idx="12"/>
          </p:nvPr>
        </p:nvSpPr>
        <p:spPr/>
        <p:txBody>
          <a:bodyPr/>
          <a:lstStyle/>
          <a:p>
            <a:fld id="{82EE24B5-652C-4DB5-B7C3-B5BBEC1280B1}" type="slidenum">
              <a:rPr lang="en-US" smtClean="0"/>
              <a:t>10</a:t>
            </a:fld>
            <a:endParaRPr lang="en-US" dirty="0"/>
          </a:p>
        </p:txBody>
      </p:sp>
      <p:sp>
        <p:nvSpPr>
          <p:cNvPr id="6" name="object 18" descr="Beige rectangle">
            <a:extLst>
              <a:ext uri="{FF2B5EF4-FFF2-40B4-BE49-F238E27FC236}">
                <a16:creationId xmlns:a16="http://schemas.microsoft.com/office/drawing/2014/main" id="{1BE289E4-436B-EDE7-1FA5-8ACB9FBDECE0}"/>
              </a:ext>
            </a:extLst>
          </p:cNvPr>
          <p:cNvSpPr/>
          <p:nvPr/>
        </p:nvSpPr>
        <p:spPr>
          <a:xfrm>
            <a:off x="942535" y="1337304"/>
            <a:ext cx="3708000" cy="0"/>
          </a:xfrm>
          <a:custGeom>
            <a:avLst/>
            <a:gdLst/>
            <a:ahLst/>
            <a:cxnLst/>
            <a:rect l="l" t="t" r="r" b="b"/>
            <a:pathLst>
              <a:path w="3218815">
                <a:moveTo>
                  <a:pt x="0" y="0"/>
                </a:moveTo>
                <a:lnTo>
                  <a:pt x="3218395" y="0"/>
                </a:lnTo>
              </a:path>
            </a:pathLst>
          </a:custGeom>
          <a:ln w="54863">
            <a:solidFill>
              <a:schemeClr val="accent1"/>
            </a:solidFill>
          </a:ln>
        </p:spPr>
        <p:txBody>
          <a:bodyPr wrap="square" lIns="0" tIns="0" rIns="0" bIns="0" rtlCol="0"/>
          <a:lstStyle/>
          <a:p>
            <a:endParaRPr lang="en-US" dirty="0"/>
          </a:p>
        </p:txBody>
      </p:sp>
      <p:sp>
        <p:nvSpPr>
          <p:cNvPr id="12" name="TextBox 11">
            <a:extLst>
              <a:ext uri="{FF2B5EF4-FFF2-40B4-BE49-F238E27FC236}">
                <a16:creationId xmlns:a16="http://schemas.microsoft.com/office/drawing/2014/main" id="{FF9DA17C-617B-1D2A-14D8-3BFDB725E3DD}"/>
              </a:ext>
            </a:extLst>
          </p:cNvPr>
          <p:cNvSpPr txBox="1"/>
          <p:nvPr/>
        </p:nvSpPr>
        <p:spPr>
          <a:xfrm>
            <a:off x="8524568" y="5713237"/>
            <a:ext cx="3667432" cy="523220"/>
          </a:xfrm>
          <a:prstGeom prst="rect">
            <a:avLst/>
          </a:prstGeom>
          <a:noFill/>
        </p:spPr>
        <p:txBody>
          <a:bodyPr wrap="square" rtlCol="0">
            <a:spAutoFit/>
          </a:bodyPr>
          <a:lstStyle/>
          <a:p>
            <a:r>
              <a:rPr lang="en-US" sz="1400" b="1" dirty="0"/>
              <a:t>A significant share of exposure resides in moderate-to-high risk segments</a:t>
            </a:r>
            <a:endParaRPr lang="en-CA" sz="1400" b="1" dirty="0"/>
          </a:p>
        </p:txBody>
      </p:sp>
      <p:pic>
        <p:nvPicPr>
          <p:cNvPr id="8" name="Content Placeholder 7" descr="A graph of a financial loan&#10;&#10;AI-generated content may be incorrect.">
            <a:extLst>
              <a:ext uri="{FF2B5EF4-FFF2-40B4-BE49-F238E27FC236}">
                <a16:creationId xmlns:a16="http://schemas.microsoft.com/office/drawing/2014/main" id="{31910F9E-DF7B-C742-4DF8-7F6B06E0599C}"/>
              </a:ext>
            </a:extLst>
          </p:cNvPr>
          <p:cNvPicPr>
            <a:picLocks noGrp="1" noChangeAspect="1"/>
          </p:cNvPicPr>
          <p:nvPr>
            <p:ph idx="1"/>
          </p:nvPr>
        </p:nvPicPr>
        <p:blipFill>
          <a:blip r:embed="rId3"/>
          <a:stretch>
            <a:fillRect/>
          </a:stretch>
        </p:blipFill>
        <p:spPr>
          <a:xfrm>
            <a:off x="858838" y="1690687"/>
            <a:ext cx="5851678" cy="4581547"/>
          </a:xfrm>
          <a:prstGeom prst="rect">
            <a:avLst/>
          </a:prstGeom>
        </p:spPr>
      </p:pic>
    </p:spTree>
    <p:extLst>
      <p:ext uri="{BB962C8B-B14F-4D97-AF65-F5344CB8AC3E}">
        <p14:creationId xmlns:p14="http://schemas.microsoft.com/office/powerpoint/2010/main" val="17409108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EEAAF-5A25-83D5-E049-27E1A6D6B10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87581CB-0CAD-9B0B-E86A-2685A1DCD954}"/>
              </a:ext>
            </a:extLst>
          </p:cNvPr>
          <p:cNvSpPr>
            <a:spLocks noGrp="1"/>
          </p:cNvSpPr>
          <p:nvPr>
            <p:ph type="title"/>
          </p:nvPr>
        </p:nvSpPr>
        <p:spPr/>
        <p:txBody>
          <a:bodyPr/>
          <a:lstStyle/>
          <a:p>
            <a:r>
              <a:rPr lang="en-CA" dirty="0"/>
              <a:t>Underwriting Validation</a:t>
            </a:r>
            <a:endParaRPr lang="en-US" dirty="0"/>
          </a:p>
        </p:txBody>
      </p:sp>
      <p:sp>
        <p:nvSpPr>
          <p:cNvPr id="2" name="Slide Number Placeholder 1">
            <a:extLst>
              <a:ext uri="{FF2B5EF4-FFF2-40B4-BE49-F238E27FC236}">
                <a16:creationId xmlns:a16="http://schemas.microsoft.com/office/drawing/2014/main" id="{B83D80FC-E972-7901-9276-873939C0F2A3}"/>
              </a:ext>
            </a:extLst>
          </p:cNvPr>
          <p:cNvSpPr>
            <a:spLocks noGrp="1"/>
          </p:cNvSpPr>
          <p:nvPr>
            <p:ph type="sldNum" sz="quarter" idx="12"/>
          </p:nvPr>
        </p:nvSpPr>
        <p:spPr/>
        <p:txBody>
          <a:bodyPr/>
          <a:lstStyle/>
          <a:p>
            <a:fld id="{82EE24B5-652C-4DB5-B7C3-B5BBEC1280B1}" type="slidenum">
              <a:rPr lang="en-US" smtClean="0"/>
              <a:t>11</a:t>
            </a:fld>
            <a:endParaRPr lang="en-US" dirty="0"/>
          </a:p>
        </p:txBody>
      </p:sp>
      <p:sp>
        <p:nvSpPr>
          <p:cNvPr id="6" name="object 18" descr="Beige rectangle">
            <a:extLst>
              <a:ext uri="{FF2B5EF4-FFF2-40B4-BE49-F238E27FC236}">
                <a16:creationId xmlns:a16="http://schemas.microsoft.com/office/drawing/2014/main" id="{0CA37DCA-38B5-EAD0-F454-E50E22AB6ADB}"/>
              </a:ext>
            </a:extLst>
          </p:cNvPr>
          <p:cNvSpPr/>
          <p:nvPr/>
        </p:nvSpPr>
        <p:spPr>
          <a:xfrm>
            <a:off x="942535" y="1337304"/>
            <a:ext cx="3708000" cy="0"/>
          </a:xfrm>
          <a:custGeom>
            <a:avLst/>
            <a:gdLst/>
            <a:ahLst/>
            <a:cxnLst/>
            <a:rect l="l" t="t" r="r" b="b"/>
            <a:pathLst>
              <a:path w="3218815">
                <a:moveTo>
                  <a:pt x="0" y="0"/>
                </a:moveTo>
                <a:lnTo>
                  <a:pt x="3218395" y="0"/>
                </a:lnTo>
              </a:path>
            </a:pathLst>
          </a:custGeom>
          <a:ln w="54863">
            <a:solidFill>
              <a:schemeClr val="accent1"/>
            </a:solidFill>
          </a:ln>
        </p:spPr>
        <p:txBody>
          <a:bodyPr wrap="square" lIns="0" tIns="0" rIns="0" bIns="0" rtlCol="0"/>
          <a:lstStyle/>
          <a:p>
            <a:endParaRPr lang="en-US" dirty="0"/>
          </a:p>
        </p:txBody>
      </p:sp>
      <p:sp>
        <p:nvSpPr>
          <p:cNvPr id="12" name="TextBox 11">
            <a:extLst>
              <a:ext uri="{FF2B5EF4-FFF2-40B4-BE49-F238E27FC236}">
                <a16:creationId xmlns:a16="http://schemas.microsoft.com/office/drawing/2014/main" id="{F0FAFD76-9539-D656-9FF6-788F110ADE90}"/>
              </a:ext>
            </a:extLst>
          </p:cNvPr>
          <p:cNvSpPr txBox="1"/>
          <p:nvPr/>
        </p:nvSpPr>
        <p:spPr>
          <a:xfrm>
            <a:off x="6577781" y="4939589"/>
            <a:ext cx="5248179" cy="1169551"/>
          </a:xfrm>
          <a:prstGeom prst="rect">
            <a:avLst/>
          </a:prstGeom>
          <a:noFill/>
        </p:spPr>
        <p:txBody>
          <a:bodyPr wrap="square" rtlCol="0">
            <a:spAutoFit/>
          </a:bodyPr>
          <a:lstStyle/>
          <a:p>
            <a:r>
              <a:rPr lang="en-US" sz="1400" dirty="0"/>
              <a:t>Rejected applicants exhibit weaker employment stability compared to accepted borrowers, validating the effectiveness of underwriting decisions. Certain financial ratios are unavailable for rejected applicants due to early-stage screening, reflecting real-world credit workflows.</a:t>
            </a:r>
            <a:endParaRPr lang="en-CA" sz="1400" b="1" dirty="0"/>
          </a:p>
        </p:txBody>
      </p:sp>
      <p:pic>
        <p:nvPicPr>
          <p:cNvPr id="9" name="Content Placeholder 8" descr="A graph with blue squares&#10;&#10;AI-generated content may be incorrect.">
            <a:extLst>
              <a:ext uri="{FF2B5EF4-FFF2-40B4-BE49-F238E27FC236}">
                <a16:creationId xmlns:a16="http://schemas.microsoft.com/office/drawing/2014/main" id="{5CE78833-EC6B-ACD3-18D1-5FFA82ECF761}"/>
              </a:ext>
            </a:extLst>
          </p:cNvPr>
          <p:cNvPicPr>
            <a:picLocks noGrp="1" noChangeAspect="1"/>
          </p:cNvPicPr>
          <p:nvPr>
            <p:ph idx="1"/>
          </p:nvPr>
        </p:nvPicPr>
        <p:blipFill>
          <a:blip r:embed="rId3"/>
          <a:stretch>
            <a:fillRect/>
          </a:stretch>
        </p:blipFill>
        <p:spPr>
          <a:xfrm>
            <a:off x="838200" y="2038545"/>
            <a:ext cx="4586902" cy="2780909"/>
          </a:xfrm>
          <a:prstGeom prst="rect">
            <a:avLst/>
          </a:prstGeom>
        </p:spPr>
      </p:pic>
    </p:spTree>
    <p:extLst>
      <p:ext uri="{BB962C8B-B14F-4D97-AF65-F5344CB8AC3E}">
        <p14:creationId xmlns:p14="http://schemas.microsoft.com/office/powerpoint/2010/main" val="29658511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6" descr="Man talks by phone">
            <a:extLst>
              <a:ext uri="{FF2B5EF4-FFF2-40B4-BE49-F238E27FC236}">
                <a16:creationId xmlns:a16="http://schemas.microsoft.com/office/drawing/2014/main" id="{EA4A3639-F9B9-4B3D-896B-128B8F77FA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1999" cy="6857999"/>
          </a:xfrm>
          <a:prstGeom prst="rect">
            <a:avLst/>
          </a:prstGeom>
        </p:spPr>
      </p:pic>
      <p:sp>
        <p:nvSpPr>
          <p:cNvPr id="5" name="object 3" descr="Blue rectangle">
            <a:extLst>
              <a:ext uri="{FF2B5EF4-FFF2-40B4-BE49-F238E27FC236}">
                <a16:creationId xmlns:a16="http://schemas.microsoft.com/office/drawing/2014/main" id="{3544D2CA-9A07-47BD-B1E4-88366F5FCD45}"/>
              </a:ext>
            </a:extLst>
          </p:cNvPr>
          <p:cNvSpPr/>
          <p:nvPr/>
        </p:nvSpPr>
        <p:spPr>
          <a:xfrm>
            <a:off x="1200" y="185341"/>
            <a:ext cx="12190800" cy="6858000"/>
          </a:xfrm>
          <a:custGeom>
            <a:avLst/>
            <a:gdLst/>
            <a:ahLst/>
            <a:cxnLst/>
            <a:rect l="l" t="t" r="r" b="b"/>
            <a:pathLst>
              <a:path w="12189460" h="6858000">
                <a:moveTo>
                  <a:pt x="0" y="6858000"/>
                </a:moveTo>
                <a:lnTo>
                  <a:pt x="12188952" y="6858000"/>
                </a:lnTo>
                <a:lnTo>
                  <a:pt x="12188952" y="0"/>
                </a:lnTo>
                <a:lnTo>
                  <a:pt x="0" y="0"/>
                </a:lnTo>
                <a:lnTo>
                  <a:pt x="0" y="6858000"/>
                </a:lnTo>
                <a:close/>
              </a:path>
            </a:pathLst>
          </a:custGeom>
          <a:solidFill>
            <a:schemeClr val="tx2">
              <a:alpha val="69999"/>
            </a:schemeClr>
          </a:solidFill>
        </p:spPr>
        <p:txBody>
          <a:bodyPr wrap="square" lIns="0" tIns="0" rIns="0" bIns="0" rtlCol="0"/>
          <a:lstStyle/>
          <a:p>
            <a:endParaRPr lang="en-US" dirty="0"/>
          </a:p>
        </p:txBody>
      </p:sp>
      <p:sp>
        <p:nvSpPr>
          <p:cNvPr id="6" name="Oval 5" descr="Beige oval">
            <a:extLst>
              <a:ext uri="{FF2B5EF4-FFF2-40B4-BE49-F238E27FC236}">
                <a16:creationId xmlns:a16="http://schemas.microsoft.com/office/drawing/2014/main" id="{7F1F7E6E-09DB-407E-9D0A-1AACE7719624}"/>
              </a:ext>
            </a:extLst>
          </p:cNvPr>
          <p:cNvSpPr/>
          <p:nvPr/>
        </p:nvSpPr>
        <p:spPr>
          <a:xfrm>
            <a:off x="11562237" y="6227432"/>
            <a:ext cx="266400" cy="266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60AF24A-ACB5-4319-9371-B0D71908A725}"/>
              </a:ext>
            </a:extLst>
          </p:cNvPr>
          <p:cNvSpPr>
            <a:spLocks noGrp="1"/>
          </p:cNvSpPr>
          <p:nvPr>
            <p:ph type="title"/>
          </p:nvPr>
        </p:nvSpPr>
        <p:spPr>
          <a:xfrm>
            <a:off x="838200" y="365125"/>
            <a:ext cx="4323735" cy="651040"/>
          </a:xfrm>
        </p:spPr>
        <p:txBody>
          <a:bodyPr>
            <a:normAutofit/>
          </a:bodyPr>
          <a:lstStyle/>
          <a:p>
            <a:r>
              <a:rPr lang="en-US" sz="1800" dirty="0">
                <a:solidFill>
                  <a:schemeClr val="bg1"/>
                </a:solidFill>
              </a:rPr>
              <a:t>Business Questions &amp; Key Findings</a:t>
            </a:r>
          </a:p>
        </p:txBody>
      </p:sp>
      <p:sp>
        <p:nvSpPr>
          <p:cNvPr id="3" name="Slide Number Placeholder 2">
            <a:extLst>
              <a:ext uri="{FF2B5EF4-FFF2-40B4-BE49-F238E27FC236}">
                <a16:creationId xmlns:a16="http://schemas.microsoft.com/office/drawing/2014/main" id="{549181BA-BE91-4062-B6BE-B8C10EBD587B}"/>
              </a:ext>
            </a:extLst>
          </p:cNvPr>
          <p:cNvSpPr>
            <a:spLocks noGrp="1"/>
          </p:cNvSpPr>
          <p:nvPr>
            <p:ph type="sldNum" sz="quarter" idx="12"/>
          </p:nvPr>
        </p:nvSpPr>
        <p:spPr/>
        <p:txBody>
          <a:bodyPr/>
          <a:lstStyle/>
          <a:p>
            <a:fld id="{82EE24B5-652C-4DB5-B7C3-B5BBEC1280B1}" type="slidenum">
              <a:rPr lang="en-US" smtClean="0"/>
              <a:t>12</a:t>
            </a:fld>
            <a:endParaRPr lang="en-US" dirty="0"/>
          </a:p>
        </p:txBody>
      </p:sp>
      <p:sp>
        <p:nvSpPr>
          <p:cNvPr id="9" name="object 18" descr="Beige rectangle">
            <a:extLst>
              <a:ext uri="{FF2B5EF4-FFF2-40B4-BE49-F238E27FC236}">
                <a16:creationId xmlns:a16="http://schemas.microsoft.com/office/drawing/2014/main" id="{2D844B0B-BA7B-4E53-BCA1-628F65C6A4CA}"/>
              </a:ext>
            </a:extLst>
          </p:cNvPr>
          <p:cNvSpPr/>
          <p:nvPr/>
        </p:nvSpPr>
        <p:spPr>
          <a:xfrm flipV="1">
            <a:off x="838199" y="798068"/>
            <a:ext cx="3366000" cy="45719"/>
          </a:xfrm>
          <a:custGeom>
            <a:avLst/>
            <a:gdLst/>
            <a:ahLst/>
            <a:cxnLst/>
            <a:rect l="l" t="t" r="r" b="b"/>
            <a:pathLst>
              <a:path w="3218815">
                <a:moveTo>
                  <a:pt x="0" y="0"/>
                </a:moveTo>
                <a:lnTo>
                  <a:pt x="3218395" y="0"/>
                </a:lnTo>
              </a:path>
            </a:pathLst>
          </a:custGeom>
          <a:ln w="54863">
            <a:solidFill>
              <a:schemeClr val="accent1"/>
            </a:solidFill>
          </a:ln>
        </p:spPr>
        <p:txBody>
          <a:bodyPr wrap="square" lIns="0" tIns="0" rIns="0" bIns="0" rtlCol="0"/>
          <a:lstStyle/>
          <a:p>
            <a:endParaRPr lang="en-US" dirty="0"/>
          </a:p>
        </p:txBody>
      </p:sp>
      <p:sp>
        <p:nvSpPr>
          <p:cNvPr id="19" name="Rectangle 1">
            <a:extLst>
              <a:ext uri="{FF2B5EF4-FFF2-40B4-BE49-F238E27FC236}">
                <a16:creationId xmlns:a16="http://schemas.microsoft.com/office/drawing/2014/main" id="{5530F741-4E15-DEBA-9630-A7D8B6018D2D}"/>
              </a:ext>
            </a:extLst>
          </p:cNvPr>
          <p:cNvSpPr>
            <a:spLocks noGrp="1" noChangeArrowheads="1"/>
          </p:cNvSpPr>
          <p:nvPr>
            <p:ph idx="1"/>
          </p:nvPr>
        </p:nvSpPr>
        <p:spPr bwMode="auto">
          <a:xfrm>
            <a:off x="300431" y="1333003"/>
            <a:ext cx="8769827" cy="5162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mj-lt"/>
              <a:buAutoNum type="arabicPeriod"/>
            </a:pPr>
            <a:r>
              <a:rPr lang="en-US" sz="1800" b="1" dirty="0">
                <a:solidFill>
                  <a:schemeClr val="bg1"/>
                </a:solidFill>
              </a:rPr>
              <a:t> Which borrower segments exhibit the highest probability of default?</a:t>
            </a:r>
          </a:p>
          <a:p>
            <a:pPr marL="0" indent="0">
              <a:buNone/>
            </a:pPr>
            <a:r>
              <a:rPr lang="en-US" dirty="0">
                <a:solidFill>
                  <a:schemeClr val="bg1"/>
                </a:solidFill>
              </a:rPr>
              <a:t>Borrowers in the highest-risk K-Means cluster exhibit materially higher default rates, characterized by higher interest rates, elevated leverage, and weaker income profiles..</a:t>
            </a:r>
          </a:p>
          <a:p>
            <a:pPr marL="0" indent="0">
              <a:buNone/>
            </a:pPr>
            <a:endParaRPr lang="en-US" sz="1800" dirty="0">
              <a:solidFill>
                <a:schemeClr val="bg1"/>
              </a:solidFill>
            </a:endParaRPr>
          </a:p>
          <a:p>
            <a:pPr marL="0" indent="0">
              <a:buNone/>
            </a:pPr>
            <a:r>
              <a:rPr lang="en-US" sz="1800" b="1" dirty="0">
                <a:solidFill>
                  <a:schemeClr val="bg1"/>
                </a:solidFill>
              </a:rPr>
              <a:t>2. How do utilization and income-to-debt ratios influence default risk?</a:t>
            </a:r>
          </a:p>
          <a:p>
            <a:pPr marL="0" indent="0">
              <a:buNone/>
            </a:pPr>
            <a:r>
              <a:rPr lang="en-US" dirty="0">
                <a:solidFill>
                  <a:schemeClr val="bg1"/>
                </a:solidFill>
              </a:rPr>
              <a:t>Higher debt-to-income ratios are strongly associated with increased default risk, confirming leverage as a primary driver of borrower credit risk.</a:t>
            </a:r>
            <a:br>
              <a:rPr lang="en-US" sz="1800" dirty="0">
                <a:solidFill>
                  <a:schemeClr val="bg1"/>
                </a:solidFill>
              </a:rPr>
            </a:br>
            <a:endParaRPr lang="en-US" sz="1800" dirty="0">
              <a:solidFill>
                <a:schemeClr val="bg1"/>
              </a:solidFill>
            </a:endParaRPr>
          </a:p>
          <a:p>
            <a:pPr marL="0" indent="0">
              <a:buNone/>
            </a:pPr>
            <a:r>
              <a:rPr lang="en-US" sz="1800" b="1" dirty="0">
                <a:solidFill>
                  <a:schemeClr val="bg1"/>
                </a:solidFill>
              </a:rPr>
              <a:t>3.  Which loan products contribute the most to expected loss?</a:t>
            </a:r>
          </a:p>
          <a:p>
            <a:pPr marL="0" indent="0">
              <a:buNone/>
            </a:pPr>
            <a:r>
              <a:rPr lang="en-US" dirty="0">
                <a:solidFill>
                  <a:schemeClr val="bg1"/>
                </a:solidFill>
              </a:rPr>
              <a:t>Longer-term (60-month) loan products contribute disproportionately to expected loss due to significantly higher default rates and concentration within higher-risk borrower segments, despite higher pricing.</a:t>
            </a:r>
            <a:br>
              <a:rPr lang="en-US" sz="1800" dirty="0">
                <a:solidFill>
                  <a:schemeClr val="bg1"/>
                </a:solidFill>
              </a:rPr>
            </a:br>
            <a:endParaRPr lang="en-US" sz="1800" dirty="0">
              <a:solidFill>
                <a:schemeClr val="bg1"/>
              </a:solidFill>
            </a:endParaRPr>
          </a:p>
          <a:p>
            <a:pPr marL="0" indent="0">
              <a:buNone/>
            </a:pPr>
            <a:r>
              <a:rPr lang="en-US" sz="1800" b="1" dirty="0">
                <a:solidFill>
                  <a:schemeClr val="bg1"/>
                </a:solidFill>
              </a:rPr>
              <a:t>4. How does portfolio risk change under economic stress scenarios?</a:t>
            </a:r>
          </a:p>
          <a:p>
            <a:pPr marL="0" indent="0">
              <a:buNone/>
            </a:pPr>
            <a:r>
              <a:rPr lang="en-US" dirty="0">
                <a:solidFill>
                  <a:schemeClr val="bg1"/>
                </a:solidFill>
              </a:rPr>
              <a:t>Under adverse conditions, portfolio risk becomes increasingly concentrated in high-risk borrower segments, amplifying default exposure and underscoring the need for risk-based pricing and tighter underwriting controls.</a:t>
            </a:r>
          </a:p>
        </p:txBody>
      </p:sp>
    </p:spTree>
    <p:extLst>
      <p:ext uri="{BB962C8B-B14F-4D97-AF65-F5344CB8AC3E}">
        <p14:creationId xmlns:p14="http://schemas.microsoft.com/office/powerpoint/2010/main" val="36447040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descr="Two men look at a plan">
            <a:extLst>
              <a:ext uri="{FF2B5EF4-FFF2-40B4-BE49-F238E27FC236}">
                <a16:creationId xmlns:a16="http://schemas.microsoft.com/office/drawing/2014/main" id="{97D2A81D-F7D1-4144-9EC5-03531DC5260D}"/>
              </a:ext>
            </a:extLst>
          </p:cNvPr>
          <p:cNvPicPr>
            <a:picLocks noGrp="1" noChangeAspect="1"/>
          </p:cNvPicPr>
          <p:nvPr>
            <p:ph type="pic" idx="1"/>
          </p:nvPr>
        </p:nvPicPr>
        <p:blipFill>
          <a:blip r:embed="rId3">
            <a:extLst>
              <a:ext uri="{28A0092B-C50C-407E-A947-70E740481C1C}">
                <a14:useLocalDpi xmlns:a14="http://schemas.microsoft.com/office/drawing/2010/main" val="0"/>
              </a:ext>
            </a:extLst>
          </a:blip>
          <a:stretch>
            <a:fillRect/>
          </a:stretch>
        </p:blipFill>
        <p:spPr>
          <a:xfrm>
            <a:off x="912813" y="1"/>
            <a:ext cx="11277598" cy="6857999"/>
          </a:xfrm>
        </p:spPr>
      </p:pic>
      <p:sp>
        <p:nvSpPr>
          <p:cNvPr id="16" name="object 3" descr="Beige rectangle">
            <a:extLst>
              <a:ext uri="{FF2B5EF4-FFF2-40B4-BE49-F238E27FC236}">
                <a16:creationId xmlns:a16="http://schemas.microsoft.com/office/drawing/2014/main" id="{C6CF32E2-A869-4259-A659-5EEE6BDA3B59}"/>
              </a:ext>
            </a:extLst>
          </p:cNvPr>
          <p:cNvSpPr/>
          <p:nvPr/>
        </p:nvSpPr>
        <p:spPr>
          <a:xfrm>
            <a:off x="803336" y="616609"/>
            <a:ext cx="4051368" cy="5913017"/>
          </a:xfrm>
          <a:custGeom>
            <a:avLst/>
            <a:gdLst/>
            <a:ahLst/>
            <a:cxnLst/>
            <a:rect l="l" t="t" r="r" b="b"/>
            <a:pathLst>
              <a:path w="4010659" h="333375">
                <a:moveTo>
                  <a:pt x="0" y="333006"/>
                </a:moveTo>
                <a:lnTo>
                  <a:pt x="4010367" y="333006"/>
                </a:lnTo>
                <a:lnTo>
                  <a:pt x="4010367" y="0"/>
                </a:lnTo>
                <a:lnTo>
                  <a:pt x="0" y="0"/>
                </a:lnTo>
                <a:lnTo>
                  <a:pt x="0" y="333006"/>
                </a:lnTo>
                <a:close/>
              </a:path>
            </a:pathLst>
          </a:custGeom>
          <a:solidFill>
            <a:schemeClr val="accent1"/>
          </a:solidFill>
        </p:spPr>
        <p:txBody>
          <a:bodyPr wrap="square" lIns="0" tIns="0" rIns="0" bIns="0" rtlCol="0"/>
          <a:lstStyle/>
          <a:p>
            <a:endParaRPr lang="en-US" dirty="0"/>
          </a:p>
        </p:txBody>
      </p:sp>
      <p:sp>
        <p:nvSpPr>
          <p:cNvPr id="14" name="Oval 13" descr="Beige oval">
            <a:extLst>
              <a:ext uri="{FF2B5EF4-FFF2-40B4-BE49-F238E27FC236}">
                <a16:creationId xmlns:a16="http://schemas.microsoft.com/office/drawing/2014/main" id="{B8809DE3-0F1D-442A-8935-B40AD580864B}"/>
              </a:ext>
            </a:extLst>
          </p:cNvPr>
          <p:cNvSpPr/>
          <p:nvPr/>
        </p:nvSpPr>
        <p:spPr>
          <a:xfrm>
            <a:off x="11562237" y="6227432"/>
            <a:ext cx="266400" cy="266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bject 6" descr="Blue rectangle">
            <a:extLst>
              <a:ext uri="{FF2B5EF4-FFF2-40B4-BE49-F238E27FC236}">
                <a16:creationId xmlns:a16="http://schemas.microsoft.com/office/drawing/2014/main" id="{882E2F92-EB16-4B55-B49A-3C6AB7B2BF30}"/>
              </a:ext>
            </a:extLst>
          </p:cNvPr>
          <p:cNvSpPr/>
          <p:nvPr/>
        </p:nvSpPr>
        <p:spPr>
          <a:xfrm>
            <a:off x="894311" y="836612"/>
            <a:ext cx="5184775" cy="5184775"/>
          </a:xfrm>
          <a:custGeom>
            <a:avLst/>
            <a:gdLst/>
            <a:ahLst/>
            <a:cxnLst/>
            <a:rect l="l" t="t" r="r" b="b"/>
            <a:pathLst>
              <a:path w="6689725" h="3528060">
                <a:moveTo>
                  <a:pt x="0" y="3527996"/>
                </a:moveTo>
                <a:lnTo>
                  <a:pt x="6689648" y="3527996"/>
                </a:lnTo>
                <a:lnTo>
                  <a:pt x="6689648" y="0"/>
                </a:lnTo>
                <a:lnTo>
                  <a:pt x="0" y="0"/>
                </a:lnTo>
                <a:lnTo>
                  <a:pt x="0" y="3527996"/>
                </a:lnTo>
                <a:close/>
              </a:path>
            </a:pathLst>
          </a:custGeom>
          <a:solidFill>
            <a:schemeClr val="accent2"/>
          </a:solidFill>
        </p:spPr>
        <p:txBody>
          <a:bodyPr wrap="square" lIns="0" tIns="0" rIns="0" bIns="0" rtlCol="0"/>
          <a:lstStyle/>
          <a:p>
            <a:endParaRPr lang="en-US" dirty="0"/>
          </a:p>
        </p:txBody>
      </p:sp>
      <p:sp>
        <p:nvSpPr>
          <p:cNvPr id="3" name="Title 2">
            <a:extLst>
              <a:ext uri="{FF2B5EF4-FFF2-40B4-BE49-F238E27FC236}">
                <a16:creationId xmlns:a16="http://schemas.microsoft.com/office/drawing/2014/main" id="{302303BC-9A39-470F-8733-A268BC16B299}"/>
              </a:ext>
            </a:extLst>
          </p:cNvPr>
          <p:cNvSpPr>
            <a:spLocks noGrp="1"/>
          </p:cNvSpPr>
          <p:nvPr>
            <p:ph type="title"/>
          </p:nvPr>
        </p:nvSpPr>
        <p:spPr>
          <a:xfrm>
            <a:off x="1379723" y="1547533"/>
            <a:ext cx="4125662" cy="847733"/>
          </a:xfrm>
        </p:spPr>
        <p:txBody>
          <a:bodyPr>
            <a:normAutofit fontScale="90000"/>
          </a:bodyPr>
          <a:lstStyle/>
          <a:p>
            <a:r>
              <a:rPr lang="en-CA" sz="2800" dirty="0">
                <a:solidFill>
                  <a:schemeClr val="bg1"/>
                </a:solidFill>
              </a:rPr>
              <a:t>Limitations &amp; Governance</a:t>
            </a:r>
            <a:endParaRPr lang="en-US" sz="3000" dirty="0">
              <a:solidFill>
                <a:schemeClr val="bg1"/>
              </a:solidFill>
            </a:endParaRPr>
          </a:p>
        </p:txBody>
      </p:sp>
      <p:sp>
        <p:nvSpPr>
          <p:cNvPr id="5" name="Slide Number Placeholder 4">
            <a:extLst>
              <a:ext uri="{FF2B5EF4-FFF2-40B4-BE49-F238E27FC236}">
                <a16:creationId xmlns:a16="http://schemas.microsoft.com/office/drawing/2014/main" id="{77C2D5CA-E2DA-4224-B2BC-C872D2EF6596}"/>
              </a:ext>
            </a:extLst>
          </p:cNvPr>
          <p:cNvSpPr>
            <a:spLocks noGrp="1"/>
          </p:cNvSpPr>
          <p:nvPr>
            <p:ph type="sldNum" sz="quarter" idx="12"/>
          </p:nvPr>
        </p:nvSpPr>
        <p:spPr/>
        <p:txBody>
          <a:bodyPr/>
          <a:lstStyle/>
          <a:p>
            <a:fld id="{82EE24B5-652C-4DB5-B7C3-B5BBEC1280B1}" type="slidenum">
              <a:rPr lang="en-US" smtClean="0"/>
              <a:t>13</a:t>
            </a:fld>
            <a:endParaRPr lang="en-US" dirty="0"/>
          </a:p>
        </p:txBody>
      </p:sp>
      <p:sp>
        <p:nvSpPr>
          <p:cNvPr id="15" name="object 27" descr="Beige rectangle">
            <a:extLst>
              <a:ext uri="{FF2B5EF4-FFF2-40B4-BE49-F238E27FC236}">
                <a16:creationId xmlns:a16="http://schemas.microsoft.com/office/drawing/2014/main" id="{C5B67D68-F2A3-48A2-B2A0-C9DF8BA55D80}"/>
              </a:ext>
            </a:extLst>
          </p:cNvPr>
          <p:cNvSpPr/>
          <p:nvPr/>
        </p:nvSpPr>
        <p:spPr>
          <a:xfrm flipV="1">
            <a:off x="1473385" y="2395266"/>
            <a:ext cx="4032000" cy="75489"/>
          </a:xfrm>
          <a:custGeom>
            <a:avLst/>
            <a:gdLst/>
            <a:ahLst/>
            <a:cxnLst/>
            <a:rect l="l" t="t" r="r" b="b"/>
            <a:pathLst>
              <a:path w="2501265">
                <a:moveTo>
                  <a:pt x="0" y="0"/>
                </a:moveTo>
                <a:lnTo>
                  <a:pt x="2500883" y="0"/>
                </a:lnTo>
              </a:path>
            </a:pathLst>
          </a:custGeom>
          <a:ln w="54863">
            <a:solidFill>
              <a:schemeClr val="accent1"/>
            </a:solidFill>
          </a:ln>
        </p:spPr>
        <p:txBody>
          <a:bodyPr wrap="square" lIns="0" tIns="0" rIns="0" bIns="0" rtlCol="0"/>
          <a:lstStyle/>
          <a:p>
            <a:endParaRPr lang="en-US" dirty="0"/>
          </a:p>
        </p:txBody>
      </p:sp>
      <p:sp>
        <p:nvSpPr>
          <p:cNvPr id="11" name="Rectangle 1">
            <a:extLst>
              <a:ext uri="{FF2B5EF4-FFF2-40B4-BE49-F238E27FC236}">
                <a16:creationId xmlns:a16="http://schemas.microsoft.com/office/drawing/2014/main" id="{B684F90B-E1DB-99E9-914B-5A2C924D4D88}"/>
              </a:ext>
            </a:extLst>
          </p:cNvPr>
          <p:cNvSpPr>
            <a:spLocks noGrp="1" noChangeArrowheads="1"/>
          </p:cNvSpPr>
          <p:nvPr>
            <p:ph type="body" sz="half" idx="2"/>
          </p:nvPr>
        </p:nvSpPr>
        <p:spPr bwMode="auto">
          <a:xfrm>
            <a:off x="1583530" y="2813021"/>
            <a:ext cx="3718047"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Bef>
                <a:spcPct val="0"/>
              </a:spcBef>
              <a:spcAft>
                <a:spcPct val="0"/>
              </a:spcAft>
              <a:buFontTx/>
              <a:buChar char="•"/>
            </a:pPr>
            <a:r>
              <a:rPr lang="en-US" altLang="en-US" sz="1800" dirty="0">
                <a:solidFill>
                  <a:schemeClr val="bg1"/>
                </a:solidFill>
                <a:latin typeface="Arial" panose="020B0604020202020204" pitchFamily="34" charset="0"/>
              </a:rPr>
              <a:t>Rejected applicants lack full financial ratios</a:t>
            </a:r>
          </a:p>
          <a:p>
            <a:pPr lvl="0" eaLnBrk="0" fontAlgn="base" hangingPunct="0">
              <a:lnSpc>
                <a:spcPct val="100000"/>
              </a:lnSpc>
              <a:spcBef>
                <a:spcPct val="0"/>
              </a:spcBef>
              <a:spcAft>
                <a:spcPct val="0"/>
              </a:spcAft>
              <a:buFontTx/>
              <a:buChar char="•"/>
            </a:pPr>
            <a:endParaRPr lang="en-US" altLang="en-US" sz="1800" dirty="0">
              <a:solidFill>
                <a:schemeClr val="bg1"/>
              </a:solidFill>
              <a:latin typeface="Arial" panose="020B0604020202020204" pitchFamily="34" charset="0"/>
            </a:endParaRPr>
          </a:p>
          <a:p>
            <a:pPr lvl="0" eaLnBrk="0" fontAlgn="base" hangingPunct="0">
              <a:lnSpc>
                <a:spcPct val="100000"/>
              </a:lnSpc>
              <a:spcBef>
                <a:spcPct val="0"/>
              </a:spcBef>
              <a:spcAft>
                <a:spcPct val="0"/>
              </a:spcAft>
              <a:buFontTx/>
              <a:buChar char="•"/>
            </a:pPr>
            <a:r>
              <a:rPr lang="en-US" altLang="en-US" sz="1800" dirty="0">
                <a:solidFill>
                  <a:schemeClr val="bg1"/>
                </a:solidFill>
                <a:latin typeface="Arial" panose="020B0604020202020204" pitchFamily="34" charset="0"/>
              </a:rPr>
              <a:t>Analysis reflects historical conditions</a:t>
            </a:r>
          </a:p>
          <a:p>
            <a:pPr lvl="0" eaLnBrk="0" fontAlgn="base" hangingPunct="0">
              <a:lnSpc>
                <a:spcPct val="100000"/>
              </a:lnSpc>
              <a:spcBef>
                <a:spcPct val="0"/>
              </a:spcBef>
              <a:spcAft>
                <a:spcPct val="0"/>
              </a:spcAft>
              <a:buFontTx/>
              <a:buChar char="•"/>
            </a:pPr>
            <a:endParaRPr lang="en-US" altLang="en-US" sz="1800" dirty="0">
              <a:solidFill>
                <a:schemeClr val="bg1"/>
              </a:solidFill>
              <a:latin typeface="Arial" panose="020B0604020202020204" pitchFamily="34" charset="0"/>
            </a:endParaRPr>
          </a:p>
          <a:p>
            <a:pPr lvl="0" eaLnBrk="0" fontAlgn="base" hangingPunct="0">
              <a:lnSpc>
                <a:spcPct val="100000"/>
              </a:lnSpc>
              <a:spcBef>
                <a:spcPct val="0"/>
              </a:spcBef>
              <a:spcAft>
                <a:spcPct val="0"/>
              </a:spcAft>
              <a:buFontTx/>
              <a:buChar char="•"/>
            </a:pPr>
            <a:r>
              <a:rPr lang="en-US" altLang="en-US" sz="1800" dirty="0">
                <a:solidFill>
                  <a:schemeClr val="bg1"/>
                </a:solidFill>
                <a:latin typeface="Arial" panose="020B0604020202020204" pitchFamily="34" charset="0"/>
              </a:rPr>
              <a:t>No causal inference implied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240399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54379-12DC-488A-96E2-264D244A381B}"/>
              </a:ext>
            </a:extLst>
          </p:cNvPr>
          <p:cNvSpPr>
            <a:spLocks noGrp="1"/>
          </p:cNvSpPr>
          <p:nvPr>
            <p:ph type="title"/>
          </p:nvPr>
        </p:nvSpPr>
        <p:spPr>
          <a:xfrm>
            <a:off x="650186" y="188912"/>
            <a:ext cx="3932237" cy="1600200"/>
          </a:xfrm>
        </p:spPr>
        <p:txBody>
          <a:bodyPr/>
          <a:lstStyle/>
          <a:p>
            <a:r>
              <a:rPr lang="en-CA" dirty="0"/>
              <a:t>Conclusion</a:t>
            </a:r>
            <a:endParaRPr lang="en-US" dirty="0"/>
          </a:p>
        </p:txBody>
      </p:sp>
      <p:pic>
        <p:nvPicPr>
          <p:cNvPr id="16" name="Picture Placeholder 15" descr="Group of people">
            <a:extLst>
              <a:ext uri="{FF2B5EF4-FFF2-40B4-BE49-F238E27FC236}">
                <a16:creationId xmlns:a16="http://schemas.microsoft.com/office/drawing/2014/main" id="{48FA199D-A4E2-45BF-978A-675A900780A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p:blipFill>
        <p:spPr>
          <a:xfrm>
            <a:off x="7526581" y="2580405"/>
            <a:ext cx="4377288" cy="1988421"/>
          </a:xfrm>
        </p:spPr>
      </p:pic>
      <p:sp>
        <p:nvSpPr>
          <p:cNvPr id="3" name="Text Placeholder 2">
            <a:extLst>
              <a:ext uri="{FF2B5EF4-FFF2-40B4-BE49-F238E27FC236}">
                <a16:creationId xmlns:a16="http://schemas.microsoft.com/office/drawing/2014/main" id="{18397F9A-0355-4091-BDD7-5C578348C1FB}"/>
              </a:ext>
            </a:extLst>
          </p:cNvPr>
          <p:cNvSpPr>
            <a:spLocks noGrp="1"/>
          </p:cNvSpPr>
          <p:nvPr>
            <p:ph type="body" sz="half" idx="2"/>
          </p:nvPr>
        </p:nvSpPr>
        <p:spPr/>
        <p:txBody>
          <a:bodyPr>
            <a:normAutofit/>
          </a:bodyPr>
          <a:lstStyle/>
          <a:p>
            <a:pPr>
              <a:lnSpc>
                <a:spcPct val="110000"/>
              </a:lnSpc>
              <a:spcBef>
                <a:spcPts val="400"/>
              </a:spcBef>
            </a:pPr>
            <a:r>
              <a:rPr lang="en-US" sz="2200" b="1" dirty="0">
                <a:solidFill>
                  <a:schemeClr val="bg1"/>
                </a:solidFill>
                <a:latin typeface="+mj-lt"/>
              </a:rPr>
              <a:t>Heading 1</a:t>
            </a:r>
          </a:p>
          <a:p>
            <a:pPr>
              <a:spcBef>
                <a:spcPts val="400"/>
              </a:spcBef>
            </a:pPr>
            <a:r>
              <a:rPr lang="en-US" sz="1500" i="1" spc="-15" dirty="0">
                <a:solidFill>
                  <a:schemeClr val="bg2">
                    <a:lumMod val="20000"/>
                    <a:lumOff val="80000"/>
                  </a:schemeClr>
                </a:solidFill>
                <a:cs typeface="Arial"/>
              </a:rPr>
              <a:t>Lorem ipsum dolor sit amet, consectetur adipiscing elit. Etiam aliquet eu mi quis lacinia.  Ut fermentum a magna ut eleifend. </a:t>
            </a:r>
          </a:p>
        </p:txBody>
      </p:sp>
      <p:sp>
        <p:nvSpPr>
          <p:cNvPr id="4" name="Slide Number Placeholder 3">
            <a:extLst>
              <a:ext uri="{FF2B5EF4-FFF2-40B4-BE49-F238E27FC236}">
                <a16:creationId xmlns:a16="http://schemas.microsoft.com/office/drawing/2014/main" id="{1330DBC9-EEFC-416D-BFAD-DB6D1A9E8CB2}"/>
              </a:ext>
            </a:extLst>
          </p:cNvPr>
          <p:cNvSpPr>
            <a:spLocks noGrp="1"/>
          </p:cNvSpPr>
          <p:nvPr>
            <p:ph type="sldNum" sz="quarter" idx="12"/>
          </p:nvPr>
        </p:nvSpPr>
        <p:spPr/>
        <p:txBody>
          <a:bodyPr/>
          <a:lstStyle/>
          <a:p>
            <a:fld id="{82EE24B5-652C-4DB5-B7C3-B5BBEC1280B1}" type="slidenum">
              <a:rPr lang="en-US" smtClean="0"/>
              <a:t>14</a:t>
            </a:fld>
            <a:endParaRPr lang="en-US" dirty="0"/>
          </a:p>
        </p:txBody>
      </p:sp>
      <p:pic>
        <p:nvPicPr>
          <p:cNvPr id="11" name="Picture Placeholder 14" descr="Check icon">
            <a:extLst>
              <a:ext uri="{FF2B5EF4-FFF2-40B4-BE49-F238E27FC236}">
                <a16:creationId xmlns:a16="http://schemas.microsoft.com/office/drawing/2014/main" id="{380A2BFD-1794-4338-8BAC-66A30B88D033}"/>
              </a:ext>
            </a:extLst>
          </p:cNvPr>
          <p:cNvPicPr>
            <a:picLocks noGrp="1" noChangeAspect="1"/>
          </p:cNvPicPr>
          <p:nvPr>
            <p:ph type="pic" sz="quarter" idx="4294967295"/>
          </p:nvPr>
        </p:nvPicPr>
        <p:blipFill>
          <a:blip r:embed="rId4">
            <a:extLst>
              <a:ext uri="{28A0092B-C50C-407E-A947-70E740481C1C}">
                <a14:useLocalDpi xmlns:a14="http://schemas.microsoft.com/office/drawing/2010/main" val="0"/>
              </a:ext>
            </a:extLst>
          </a:blip>
          <a:srcRect/>
          <a:stretch>
            <a:fillRect/>
          </a:stretch>
        </p:blipFill>
        <p:spPr>
          <a:xfrm>
            <a:off x="11615738" y="1714500"/>
            <a:ext cx="576262" cy="574675"/>
          </a:xfrm>
        </p:spPr>
      </p:pic>
      <p:pic>
        <p:nvPicPr>
          <p:cNvPr id="12" name="Picture Placeholder 16" descr="Check icon">
            <a:extLst>
              <a:ext uri="{FF2B5EF4-FFF2-40B4-BE49-F238E27FC236}">
                <a16:creationId xmlns:a16="http://schemas.microsoft.com/office/drawing/2014/main" id="{AC1F4E71-E6F8-490B-A9E9-61DC2025EBEE}"/>
              </a:ext>
            </a:extLst>
          </p:cNvPr>
          <p:cNvPicPr>
            <a:picLocks noGrp="1" noChangeAspect="1"/>
          </p:cNvPicPr>
          <p:nvPr>
            <p:ph type="pic" sz="quarter" idx="4294967295"/>
          </p:nvPr>
        </p:nvPicPr>
        <p:blipFill>
          <a:blip r:embed="rId4">
            <a:extLst>
              <a:ext uri="{28A0092B-C50C-407E-A947-70E740481C1C}">
                <a14:useLocalDpi xmlns:a14="http://schemas.microsoft.com/office/drawing/2010/main" val="0"/>
              </a:ext>
            </a:extLst>
          </a:blip>
          <a:srcRect/>
          <a:stretch>
            <a:fillRect/>
          </a:stretch>
        </p:blipFill>
        <p:spPr>
          <a:xfrm>
            <a:off x="11615738" y="2947988"/>
            <a:ext cx="576262" cy="576262"/>
          </a:xfrm>
        </p:spPr>
      </p:pic>
      <p:pic>
        <p:nvPicPr>
          <p:cNvPr id="13" name="Picture Placeholder 18" descr="Check icon">
            <a:extLst>
              <a:ext uri="{FF2B5EF4-FFF2-40B4-BE49-F238E27FC236}">
                <a16:creationId xmlns:a16="http://schemas.microsoft.com/office/drawing/2014/main" id="{138322BF-F85B-4C19-9968-C0582151091B}"/>
              </a:ext>
            </a:extLst>
          </p:cNvPr>
          <p:cNvPicPr>
            <a:picLocks noGrp="1" noChangeAspect="1"/>
          </p:cNvPicPr>
          <p:nvPr>
            <p:ph type="pic" sz="quarter" idx="4294967295"/>
          </p:nvPr>
        </p:nvPicPr>
        <p:blipFill>
          <a:blip r:embed="rId4">
            <a:extLst>
              <a:ext uri="{28A0092B-C50C-407E-A947-70E740481C1C}">
                <a14:useLocalDpi xmlns:a14="http://schemas.microsoft.com/office/drawing/2010/main" val="0"/>
              </a:ext>
            </a:extLst>
          </a:blip>
          <a:srcRect/>
          <a:stretch>
            <a:fillRect/>
          </a:stretch>
        </p:blipFill>
        <p:spPr>
          <a:xfrm>
            <a:off x="11615738" y="4557713"/>
            <a:ext cx="576262" cy="576262"/>
          </a:xfrm>
        </p:spPr>
      </p:pic>
      <p:sp>
        <p:nvSpPr>
          <p:cNvPr id="14" name="object 13" descr="Beige rectangle">
            <a:extLst>
              <a:ext uri="{FF2B5EF4-FFF2-40B4-BE49-F238E27FC236}">
                <a16:creationId xmlns:a16="http://schemas.microsoft.com/office/drawing/2014/main" id="{FEBB8673-0A72-4C5C-8239-7EF600504010}"/>
              </a:ext>
            </a:extLst>
          </p:cNvPr>
          <p:cNvSpPr/>
          <p:nvPr/>
        </p:nvSpPr>
        <p:spPr>
          <a:xfrm>
            <a:off x="428960" y="1789112"/>
            <a:ext cx="3096000" cy="0"/>
          </a:xfrm>
          <a:custGeom>
            <a:avLst/>
            <a:gdLst/>
            <a:ahLst/>
            <a:cxnLst/>
            <a:rect l="l" t="t" r="r" b="b"/>
            <a:pathLst>
              <a:path w="2694304">
                <a:moveTo>
                  <a:pt x="0" y="0"/>
                </a:moveTo>
                <a:lnTo>
                  <a:pt x="2694127" y="0"/>
                </a:lnTo>
              </a:path>
            </a:pathLst>
          </a:custGeom>
          <a:ln w="54863">
            <a:solidFill>
              <a:schemeClr val="accent1"/>
            </a:solidFill>
          </a:ln>
        </p:spPr>
        <p:txBody>
          <a:bodyPr wrap="square" lIns="0" tIns="0" rIns="0" bIns="0" rtlCol="0"/>
          <a:lstStyle/>
          <a:p>
            <a:endParaRPr lang="en-US" dirty="0"/>
          </a:p>
        </p:txBody>
      </p:sp>
      <p:sp>
        <p:nvSpPr>
          <p:cNvPr id="5" name="TextBox 4">
            <a:extLst>
              <a:ext uri="{FF2B5EF4-FFF2-40B4-BE49-F238E27FC236}">
                <a16:creationId xmlns:a16="http://schemas.microsoft.com/office/drawing/2014/main" id="{A96FABA1-46C4-E9AB-02E8-B085EC1FEE02}"/>
              </a:ext>
            </a:extLst>
          </p:cNvPr>
          <p:cNvSpPr txBox="1"/>
          <p:nvPr/>
        </p:nvSpPr>
        <p:spPr>
          <a:xfrm>
            <a:off x="358931" y="1986833"/>
            <a:ext cx="6605044" cy="4770537"/>
          </a:xfrm>
          <a:prstGeom prst="rect">
            <a:avLst/>
          </a:prstGeom>
          <a:noFill/>
        </p:spPr>
        <p:txBody>
          <a:bodyPr wrap="square" rtlCol="0">
            <a:spAutoFit/>
          </a:bodyPr>
          <a:lstStyle/>
          <a:p>
            <a:r>
              <a:rPr lang="en-US" sz="1600" dirty="0"/>
              <a:t>This project demonstrates how borrower segmentation and integrated analytics can enhance credit risk understanding and decision-making across the lending lifecycle. By combining machine learning–driven segmentation, risk and pricing analysis, and underwriting validation, the analysis shows that default risk is concentrated within specific borrower segments rather than evenly distributed across the portfolio.</a:t>
            </a:r>
          </a:p>
          <a:p>
            <a:endParaRPr lang="en-US" sz="1600" dirty="0"/>
          </a:p>
          <a:p>
            <a:r>
              <a:rPr lang="en-US" sz="1600" dirty="0"/>
              <a:t>The findings indicate that while loan pricing generally increases with risk, it does not always scale proportionally, particularly in higher-risk segments, highlighting opportunities for refined risk-based pricing and enhanced portfolio monitoring. Underwriting validation further confirms that approval decisions are directionally effective, as rejected applicants exhibit weaker employment stability consistent with prudent credit screening practices.</a:t>
            </a:r>
          </a:p>
          <a:p>
            <a:endParaRPr lang="en-US" sz="1600" dirty="0"/>
          </a:p>
          <a:p>
            <a:r>
              <a:rPr lang="en-US" sz="1600" dirty="0"/>
              <a:t>Overall, this framework illustrates how end-to-end analytics can support more transparent, data-driven credit decisions and provide a scalable foundation for improving risk management, pricing strategy, and underwriting governance.</a:t>
            </a:r>
          </a:p>
        </p:txBody>
      </p:sp>
    </p:spTree>
    <p:extLst>
      <p:ext uri="{BB962C8B-B14F-4D97-AF65-F5344CB8AC3E}">
        <p14:creationId xmlns:p14="http://schemas.microsoft.com/office/powerpoint/2010/main" val="2096756271"/>
      </p:ext>
    </p:extLst>
  </p:cSld>
  <p:clrMapOvr>
    <a:masterClrMapping/>
  </p:clrMapOvr>
</p:sld>
</file>

<file path=ppt/theme/theme1.xml><?xml version="1.0" encoding="utf-8"?>
<a:theme xmlns:a="http://schemas.openxmlformats.org/drawingml/2006/main" name="Office Theme">
  <a:themeElements>
    <a:clrScheme name="Custom 30">
      <a:dk1>
        <a:sysClr val="windowText" lastClr="000000"/>
      </a:dk1>
      <a:lt1>
        <a:sysClr val="window" lastClr="FFFFFF"/>
      </a:lt1>
      <a:dk2>
        <a:srgbClr val="00292E"/>
      </a:dk2>
      <a:lt2>
        <a:srgbClr val="64B2C1"/>
      </a:lt2>
      <a:accent1>
        <a:srgbClr val="F0CDA1"/>
      </a:accent1>
      <a:accent2>
        <a:srgbClr val="107082"/>
      </a:accent2>
      <a:accent3>
        <a:srgbClr val="054854"/>
      </a:accent3>
      <a:accent4>
        <a:srgbClr val="00AEEF"/>
      </a:accent4>
      <a:accent5>
        <a:srgbClr val="F99927"/>
      </a:accent5>
      <a:accent6>
        <a:srgbClr val="EC7216"/>
      </a:accent6>
      <a:hlink>
        <a:srgbClr val="000000"/>
      </a:hlink>
      <a:folHlink>
        <a:srgbClr val="000000"/>
      </a:folHlink>
    </a:clrScheme>
    <a:fontScheme name="Custom 24">
      <a:majorFont>
        <a:latin typeface="Gill Sans MT"/>
        <a:ea typeface=""/>
        <a:cs typeface=""/>
      </a:majorFont>
      <a:minorFont>
        <a:latin typeface="Arial "/>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M45022061_Professional services marketing plan_SL_V1" id="{B214D568-CC3C-4109-877A-D7A12976D35F}" vid="{D425069E-A49A-4A86-9A62-1864F0635A9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A2DDA16B-F3AC-4A5B-9F5F-6F5A8F47A9E6}">
  <ds:schemaRefs>
    <ds:schemaRef ds:uri="http://schemas.microsoft.com/sharepoint/v3/contenttype/forms"/>
  </ds:schemaRefs>
</ds:datastoreItem>
</file>

<file path=customXml/itemProps2.xml><?xml version="1.0" encoding="utf-8"?>
<ds:datastoreItem xmlns:ds="http://schemas.openxmlformats.org/officeDocument/2006/customXml" ds:itemID="{A426FE2C-7640-4BF0-9D68-FDFD4151FD5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C118CE8-9293-4220-BA3B-5D353B13ABC9}">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Professional services marketing plan</Template>
  <TotalTime>2387</TotalTime>
  <Words>865</Words>
  <Application>Microsoft Office PowerPoint</Application>
  <PresentationFormat>Widescreen</PresentationFormat>
  <Paragraphs>121</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Arial </vt:lpstr>
      <vt:lpstr>Calibri</vt:lpstr>
      <vt:lpstr>Gill Sans MT</vt:lpstr>
      <vt:lpstr>Office Theme</vt:lpstr>
      <vt:lpstr>Consumer Credit Risk &amp; Borrower Segmentation Analysis End-to-End Credit Risk Analytics Using Python, SQL &amp; Power BI</vt:lpstr>
      <vt:lpstr>INTRODUCTION</vt:lpstr>
      <vt:lpstr>Business Context (5W1H )</vt:lpstr>
      <vt:lpstr>Business Questions</vt:lpstr>
      <vt:lpstr>CONCEPTUAL MODEL</vt:lpstr>
      <vt:lpstr>Data Overview</vt:lpstr>
      <vt:lpstr>Methodology Overview</vt:lpstr>
      <vt:lpstr>Borrower Segmentation Results</vt:lpstr>
      <vt:lpstr>Risk vs Pricing Insight</vt:lpstr>
      <vt:lpstr>Portfolio Exposure</vt:lpstr>
      <vt:lpstr>Underwriting Validation</vt:lpstr>
      <vt:lpstr>Business Questions &amp; Key Findings</vt:lpstr>
      <vt:lpstr>Limitations &amp; Governance</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Adebukola Aina</dc:creator>
  <cp:lastModifiedBy>Adebukola Aina</cp:lastModifiedBy>
  <cp:revision>3</cp:revision>
  <dcterms:created xsi:type="dcterms:W3CDTF">2025-12-31T05:20:40Z</dcterms:created>
  <dcterms:modified xsi:type="dcterms:W3CDTF">2026-01-01T21:08:39Z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